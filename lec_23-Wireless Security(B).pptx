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9144000"/>
  <p:notesSz cx="6858000" cy="9144000"/>
  <p:embeddedFontLst>
    <p:embeddedFont>
      <p:font typeface="Arial Black"/>
      <p:regular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5" roundtripDataSignature="AMtx7mi4vb9aZevaBHMo936YsSP0lWHVp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ArialBlack-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9" name="Google Shape;99;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 name="Google Shape;100;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 name="Google Shape;106;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https://www.mathsisfun.com/physics/waves-radio-microwave.html</a:t>
            </a:r>
            <a:endParaRPr/>
          </a:p>
        </p:txBody>
      </p:sp>
      <p:sp>
        <p:nvSpPr>
          <p:cNvPr id="107" name="Google Shape;107;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 name="Google Shape;113;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b="1" lang="en-US"/>
              <a:t>bee</a:t>
            </a:r>
            <a:r>
              <a:rPr lang="en-US"/>
              <a:t>·kn</a:t>
            </a:r>
            <a:endParaRPr sz="1200"/>
          </a:p>
          <a:p>
            <a:pPr indent="0" lvl="0" marL="0" marR="0" rtl="0" algn="l">
              <a:lnSpc>
                <a:spcPct val="100000"/>
              </a:lnSpc>
              <a:spcBef>
                <a:spcPts val="0"/>
              </a:spcBef>
              <a:spcAft>
                <a:spcPts val="0"/>
              </a:spcAft>
              <a:buClr>
                <a:schemeClr val="dk1"/>
              </a:buClr>
              <a:buSzPts val="1200"/>
              <a:buFont typeface="Calibri"/>
              <a:buNone/>
            </a:pPr>
            <a:r>
              <a:rPr lang="en-US" sz="1200"/>
              <a:t>Beaconing: </a:t>
            </a:r>
            <a:r>
              <a:rPr lang="en-US"/>
              <a:t>In a Wi-Fi </a:t>
            </a:r>
            <a:r>
              <a:rPr b="1" lang="en-US"/>
              <a:t>network</a:t>
            </a:r>
            <a:r>
              <a:rPr lang="en-US"/>
              <a:t>, the continuous transmission of small packets (beacons) that advertise the presence of the base station</a:t>
            </a:r>
            <a:endParaRPr/>
          </a:p>
          <a:p>
            <a:pPr indent="0" lvl="0" marL="0" marR="0" rtl="0" algn="l">
              <a:lnSpc>
                <a:spcPct val="100000"/>
              </a:lnSpc>
              <a:spcBef>
                <a:spcPts val="0"/>
              </a:spcBef>
              <a:spcAft>
                <a:spcPts val="0"/>
              </a:spcAft>
              <a:buClr>
                <a:schemeClr val="dk1"/>
              </a:buClr>
              <a:buSzPts val="1200"/>
              <a:buFont typeface="Calibri"/>
              <a:buNone/>
            </a:pPr>
            <a:r>
              <a:rPr i="1" lang="en-US"/>
              <a:t>Wardriving</a:t>
            </a:r>
            <a:r>
              <a:rPr lang="en-US"/>
              <a:t> is the act of searching for </a:t>
            </a:r>
            <a:r>
              <a:rPr i="1" lang="en-US"/>
              <a:t>Wi-Fi</a:t>
            </a:r>
            <a:r>
              <a:rPr lang="en-US"/>
              <a:t> networks from a moving vehicle.</a:t>
            </a:r>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When wardriving, people may search for WiFi networks by driving around in a moving vehicle, often using a GPS device to record the location of any wireless networks they find. They then upload this data to specific websites that process the information to create digital maps of the networks in the neighborhood. </a:t>
            </a:r>
            <a:endParaRPr/>
          </a:p>
        </p:txBody>
      </p:sp>
      <p:sp>
        <p:nvSpPr>
          <p:cNvPr id="114" name="Google Shape;114;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 name="Google Shape;120;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21" name="Google Shape;121;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 name="Google Shape;128;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29" name="Google Shape;129;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pruh·mi·skyoo·uhs: </a:t>
            </a:r>
            <a:r>
              <a:rPr lang="en-US" sz="1200">
                <a:solidFill>
                  <a:schemeClr val="dk1"/>
                </a:solidFill>
                <a:latin typeface="Calibri"/>
                <a:ea typeface="Calibri"/>
                <a:cs typeface="Calibri"/>
                <a:sym typeface="Calibri"/>
              </a:rPr>
              <a:t>In networking terms, a computer having its network interface card set to “promiscuous mode” receives all packets on the same network segment. In “normal mode,” a network card accepts only packets addressed to its MAC Address.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pruh·</a:t>
            </a:r>
            <a:r>
              <a:rPr b="1" lang="en-US"/>
              <a:t>mi</a:t>
            </a:r>
            <a:r>
              <a:rPr lang="en-US"/>
              <a:t>·skyoo·uhs</a:t>
            </a:r>
            <a:endParaRPr/>
          </a:p>
          <a:p>
            <a:pPr indent="0" lvl="0" marL="0" rtl="0" algn="l">
              <a:spcBef>
                <a:spcPts val="0"/>
              </a:spcBef>
              <a:spcAft>
                <a:spcPts val="0"/>
              </a:spcAft>
              <a:buNone/>
            </a:pPr>
            <a:r>
              <a:rPr lang="en-US"/>
              <a:t>In an Ethernet local area network ( LAN), </a:t>
            </a:r>
            <a:r>
              <a:rPr i="1" lang="en-US"/>
              <a:t>promiscuous mode</a:t>
            </a:r>
            <a:r>
              <a:rPr lang="en-US"/>
              <a:t> is a </a:t>
            </a:r>
            <a:r>
              <a:rPr i="1" lang="en-US"/>
              <a:t>mode</a:t>
            </a:r>
            <a:r>
              <a:rPr lang="en-US"/>
              <a:t> of operation in which every data packet transmitted can be received and read by a network adapter</a:t>
            </a:r>
            <a:endParaRPr/>
          </a:p>
        </p:txBody>
      </p:sp>
      <p:sp>
        <p:nvSpPr>
          <p:cNvPr id="137" name="Google Shape;137;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Rowg</a:t>
            </a:r>
            <a:endParaRPr/>
          </a:p>
          <a:p>
            <a:pPr indent="0" lvl="0" marL="0" rtl="0" algn="l">
              <a:spcBef>
                <a:spcPts val="0"/>
              </a:spcBef>
              <a:spcAft>
                <a:spcPts val="0"/>
              </a:spcAft>
              <a:buNone/>
            </a:pPr>
            <a:r>
              <a:rPr lang="en-US"/>
              <a:t>A </a:t>
            </a:r>
            <a:r>
              <a:rPr i="1" lang="en-US"/>
              <a:t>rogue access point</a:t>
            </a:r>
            <a:r>
              <a:rPr lang="en-US"/>
              <a:t> is an access point installed on a network without the network owner's permission.</a:t>
            </a:r>
            <a:endParaRPr/>
          </a:p>
        </p:txBody>
      </p:sp>
      <p:sp>
        <p:nvSpPr>
          <p:cNvPr id="144" name="Google Shape;144;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51" name="Google Shape;151;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8" name="Google Shape;158;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An </a:t>
            </a:r>
            <a:r>
              <a:rPr i="1" lang="en-US"/>
              <a:t>evil twin</a:t>
            </a:r>
            <a:r>
              <a:rPr lang="en-US"/>
              <a:t> attack is a hack attack in which a hacker sets up a fake Wi-Fi network that looks like a legitimate </a:t>
            </a:r>
            <a:r>
              <a:rPr i="1" lang="en-US"/>
              <a:t>access point</a:t>
            </a:r>
            <a:r>
              <a:rPr lang="en-US"/>
              <a:t> to steal victims' sensitive information.</a:t>
            </a:r>
            <a:endParaRPr/>
          </a:p>
        </p:txBody>
      </p:sp>
      <p:sp>
        <p:nvSpPr>
          <p:cNvPr id="159" name="Google Shape;159;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 name="Google Shape;165;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a:t>Monitor mode</a:t>
            </a:r>
            <a:r>
              <a:rPr lang="en-US"/>
              <a:t>, or RFMON (Radio Frequency </a:t>
            </a:r>
            <a:r>
              <a:rPr b="1" lang="en-US"/>
              <a:t>MONitor</a:t>
            </a:r>
            <a:r>
              <a:rPr lang="en-US"/>
              <a:t>) </a:t>
            </a:r>
            <a:r>
              <a:rPr b="1" lang="en-US"/>
              <a:t>mode</a:t>
            </a:r>
            <a:r>
              <a:rPr lang="en-US"/>
              <a:t>, allows a computer with a </a:t>
            </a:r>
            <a:r>
              <a:rPr b="1" lang="en-US"/>
              <a:t>wireless network</a:t>
            </a:r>
            <a:r>
              <a:rPr lang="en-US"/>
              <a:t> interface controller (WNIC) to </a:t>
            </a:r>
            <a:r>
              <a:rPr b="1" lang="en-US"/>
              <a:t>monitor</a:t>
            </a:r>
            <a:r>
              <a:rPr lang="en-US"/>
              <a:t> all traffic received on a wireless channel</a:t>
            </a:r>
            <a:endParaRPr/>
          </a:p>
        </p:txBody>
      </p:sp>
      <p:sp>
        <p:nvSpPr>
          <p:cNvPr id="166" name="Google Shape;166;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a:t>Monitor mode</a:t>
            </a:r>
            <a:r>
              <a:rPr lang="en-US"/>
              <a:t>, or RFMON (Radio Frequency </a:t>
            </a:r>
            <a:r>
              <a:rPr b="1" lang="en-US"/>
              <a:t>MONitor</a:t>
            </a:r>
            <a:r>
              <a:rPr lang="en-US"/>
              <a:t>) </a:t>
            </a:r>
            <a:r>
              <a:rPr b="1" lang="en-US"/>
              <a:t>mode</a:t>
            </a:r>
            <a:r>
              <a:rPr lang="en-US"/>
              <a:t>, allows a computer with a </a:t>
            </a:r>
            <a:r>
              <a:rPr b="1" lang="en-US"/>
              <a:t>wireless network</a:t>
            </a:r>
            <a:r>
              <a:rPr lang="en-US"/>
              <a:t> interface controller (WNIC) to </a:t>
            </a:r>
            <a:r>
              <a:rPr b="1" lang="en-US"/>
              <a:t>monitor</a:t>
            </a:r>
            <a:r>
              <a:rPr lang="en-US"/>
              <a:t> all traffic received on a wireless channel</a:t>
            </a:r>
            <a:endParaRPr/>
          </a:p>
        </p:txBody>
      </p:sp>
      <p:sp>
        <p:nvSpPr>
          <p:cNvPr id="173" name="Google Shape;173;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80" name="Google Shape;180;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6" name="Google Shape;186;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87" name="Google Shape;187;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4" name="Google Shape;194;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95" name="Google Shape;195;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 name="Google Shape;201;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02" name="Google Shape;202;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09" name="Google Shape;209;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 name="Google Shape;215;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16" name="Google Shape;216;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6" name="Shape 16"/>
        <p:cNvGrpSpPr/>
        <p:nvPr/>
      </p:nvGrpSpPr>
      <p:grpSpPr>
        <a:xfrm>
          <a:off x="0" y="0"/>
          <a:ext cx="0" cy="0"/>
          <a:chOff x="0" y="0"/>
          <a:chExt cx="0" cy="0"/>
        </a:xfrm>
      </p:grpSpPr>
      <p:sp>
        <p:nvSpPr>
          <p:cNvPr id="17" name="Google Shape;17;p20"/>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F497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0"/>
          <p:cNvSpPr txBox="1"/>
          <p:nvPr>
            <p:ph idx="1" type="body"/>
          </p:nvPr>
        </p:nvSpPr>
        <p:spPr>
          <a:xfrm>
            <a:off x="152400" y="1600200"/>
            <a:ext cx="8839200" cy="46482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 name="Google Shape;19;p20"/>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20" name="Google Shape;20;p20"/>
          <p:cNvSpPr txBox="1"/>
          <p:nvPr>
            <p:ph idx="2" type="body"/>
          </p:nvPr>
        </p:nvSpPr>
        <p:spPr>
          <a:xfrm>
            <a:off x="152400" y="6400800"/>
            <a:ext cx="1676400" cy="457200"/>
          </a:xfrm>
          <a:prstGeom prst="rect">
            <a:avLst/>
          </a:prstGeom>
          <a:noFill/>
          <a:ln>
            <a:noFill/>
          </a:ln>
        </p:spPr>
        <p:txBody>
          <a:bodyPr anchorCtr="0" anchor="t" bIns="45700" lIns="91425" spcFirstLastPara="1" rIns="91425" wrap="square" tIns="45700">
            <a:normAutofit/>
          </a:bodyPr>
          <a:lstStyle>
            <a:lvl1pPr indent="-228600" lvl="0" marL="457200" algn="l">
              <a:spcBef>
                <a:spcPts val="240"/>
              </a:spcBef>
              <a:spcAft>
                <a:spcPts val="0"/>
              </a:spcAft>
              <a:buSzPts val="1200"/>
              <a:buNone/>
              <a:defRPr sz="1200"/>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1" name="Google Shape;21;p20"/>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2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type="obj">
  <p:cSld name="OBJECT">
    <p:spTree>
      <p:nvGrpSpPr>
        <p:cNvPr id="22" name="Shape 22"/>
        <p:cNvGrpSpPr/>
        <p:nvPr/>
      </p:nvGrpSpPr>
      <p:grpSpPr>
        <a:xfrm>
          <a:off x="0" y="0"/>
          <a:ext cx="0" cy="0"/>
          <a:chOff x="0" y="0"/>
          <a:chExt cx="0" cy="0"/>
        </a:xfrm>
      </p:grpSpPr>
      <p:sp>
        <p:nvSpPr>
          <p:cNvPr id="23" name="Google Shape;23;p21"/>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F497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21"/>
          <p:cNvSpPr txBox="1"/>
          <p:nvPr>
            <p:ph idx="1" type="body"/>
          </p:nvPr>
        </p:nvSpPr>
        <p:spPr>
          <a:xfrm>
            <a:off x="152400" y="1600200"/>
            <a:ext cx="8839200" cy="46482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5" name="Google Shape;25;p21"/>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6" name="Google Shape;26;p21"/>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1"/>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b="1" i="0" sz="1200" u="none" cap="none" strike="noStrike">
                <a:solidFill>
                  <a:srgbClr val="EEEBCA"/>
                </a:solidFill>
                <a:latin typeface="Calibri"/>
                <a:ea typeface="Calibri"/>
                <a:cs typeface="Calibri"/>
                <a:sym typeface="Calibri"/>
              </a:defRPr>
            </a:lvl1pPr>
            <a:lvl2pPr indent="0" lvl="1" marL="0" algn="ctr">
              <a:spcBef>
                <a:spcPts val="0"/>
              </a:spcBef>
              <a:buNone/>
              <a:defRPr b="1" i="0" sz="1200" u="none" cap="none" strike="noStrike">
                <a:solidFill>
                  <a:srgbClr val="EEEBCA"/>
                </a:solidFill>
                <a:latin typeface="Calibri"/>
                <a:ea typeface="Calibri"/>
                <a:cs typeface="Calibri"/>
                <a:sym typeface="Calibri"/>
              </a:defRPr>
            </a:lvl2pPr>
            <a:lvl3pPr indent="0" lvl="2" marL="0" algn="ctr">
              <a:spcBef>
                <a:spcPts val="0"/>
              </a:spcBef>
              <a:buNone/>
              <a:defRPr b="1" i="0" sz="1200" u="none" cap="none" strike="noStrike">
                <a:solidFill>
                  <a:srgbClr val="EEEBCA"/>
                </a:solidFill>
                <a:latin typeface="Calibri"/>
                <a:ea typeface="Calibri"/>
                <a:cs typeface="Calibri"/>
                <a:sym typeface="Calibri"/>
              </a:defRPr>
            </a:lvl3pPr>
            <a:lvl4pPr indent="0" lvl="3" marL="0" algn="ctr">
              <a:spcBef>
                <a:spcPts val="0"/>
              </a:spcBef>
              <a:buNone/>
              <a:defRPr b="1" i="0" sz="1200" u="none" cap="none" strike="noStrike">
                <a:solidFill>
                  <a:srgbClr val="EEEBCA"/>
                </a:solidFill>
                <a:latin typeface="Calibri"/>
                <a:ea typeface="Calibri"/>
                <a:cs typeface="Calibri"/>
                <a:sym typeface="Calibri"/>
              </a:defRPr>
            </a:lvl4pPr>
            <a:lvl5pPr indent="0" lvl="4" marL="0" algn="ctr">
              <a:spcBef>
                <a:spcPts val="0"/>
              </a:spcBef>
              <a:buNone/>
              <a:defRPr b="1" i="0" sz="1200" u="none" cap="none" strike="noStrike">
                <a:solidFill>
                  <a:srgbClr val="EEEBCA"/>
                </a:solidFill>
                <a:latin typeface="Calibri"/>
                <a:ea typeface="Calibri"/>
                <a:cs typeface="Calibri"/>
                <a:sym typeface="Calibri"/>
              </a:defRPr>
            </a:lvl5pPr>
            <a:lvl6pPr indent="0" lvl="5" marL="0" algn="ctr">
              <a:spcBef>
                <a:spcPts val="0"/>
              </a:spcBef>
              <a:buNone/>
              <a:defRPr b="1" i="0" sz="1200" u="none" cap="none" strike="noStrike">
                <a:solidFill>
                  <a:srgbClr val="EEEBCA"/>
                </a:solidFill>
                <a:latin typeface="Calibri"/>
                <a:ea typeface="Calibri"/>
                <a:cs typeface="Calibri"/>
                <a:sym typeface="Calibri"/>
              </a:defRPr>
            </a:lvl6pPr>
            <a:lvl7pPr indent="0" lvl="6" marL="0" algn="ctr">
              <a:spcBef>
                <a:spcPts val="0"/>
              </a:spcBef>
              <a:buNone/>
              <a:defRPr b="1" i="0" sz="1200" u="none" cap="none" strike="noStrike">
                <a:solidFill>
                  <a:srgbClr val="EEEBCA"/>
                </a:solidFill>
                <a:latin typeface="Calibri"/>
                <a:ea typeface="Calibri"/>
                <a:cs typeface="Calibri"/>
                <a:sym typeface="Calibri"/>
              </a:defRPr>
            </a:lvl7pPr>
            <a:lvl8pPr indent="0" lvl="7" marL="0" algn="ctr">
              <a:spcBef>
                <a:spcPts val="0"/>
              </a:spcBef>
              <a:buNone/>
              <a:defRPr b="1" i="0" sz="1200" u="none" cap="none" strike="noStrike">
                <a:solidFill>
                  <a:srgbClr val="EEEBCA"/>
                </a:solidFill>
                <a:latin typeface="Calibri"/>
                <a:ea typeface="Calibri"/>
                <a:cs typeface="Calibri"/>
                <a:sym typeface="Calibri"/>
              </a:defRPr>
            </a:lvl8pPr>
            <a:lvl9pPr indent="0" lvl="8" marL="0" algn="ctr">
              <a:spcBef>
                <a:spcPts val="0"/>
              </a:spcBef>
              <a:buNone/>
              <a:defRPr b="1" i="0" sz="1200" u="none" cap="none" strike="noStrike">
                <a:solidFill>
                  <a:srgbClr val="EEEBCA"/>
                </a:solidFill>
                <a:latin typeface="Calibri"/>
                <a:ea typeface="Calibri"/>
                <a:cs typeface="Calibri"/>
                <a:sym typeface="Calibri"/>
              </a:defRPr>
            </a:lvl9pPr>
          </a:lstStyle>
          <a:p>
            <a:pPr indent="0" lvl="0" marL="0" rtl="0" algn="ctr">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8" name="Shape 28"/>
        <p:cNvGrpSpPr/>
        <p:nvPr/>
      </p:nvGrpSpPr>
      <p:grpSpPr>
        <a:xfrm>
          <a:off x="0" y="0"/>
          <a:ext cx="0" cy="0"/>
          <a:chOff x="0" y="0"/>
          <a:chExt cx="0" cy="0"/>
        </a:xfrm>
      </p:grpSpPr>
      <p:sp>
        <p:nvSpPr>
          <p:cNvPr id="29" name="Google Shape;29;p22"/>
          <p:cNvSpPr txBox="1"/>
          <p:nvPr/>
        </p:nvSpPr>
        <p:spPr>
          <a:xfrm>
            <a:off x="1219200" y="5486400"/>
            <a:ext cx="3581400" cy="685800"/>
          </a:xfrm>
          <a:prstGeom prst="rect">
            <a:avLst/>
          </a:prstGeom>
          <a:noFill/>
          <a:ln>
            <a:noFill/>
          </a:ln>
        </p:spPr>
        <p:txBody>
          <a:bodyPr anchorCtr="0" anchor="ctr" bIns="45700" lIns="91425" spcFirstLastPara="1" rIns="91425" wrap="square" tIns="45700">
            <a:normAutofit lnSpcReduction="10000"/>
          </a:bodyPr>
          <a:lstStyle/>
          <a:p>
            <a:pPr indent="0" lvl="0" marL="0" marR="0" rtl="0" algn="ctr">
              <a:lnSpc>
                <a:spcPct val="100000"/>
              </a:lnSpc>
              <a:spcBef>
                <a:spcPts val="0"/>
              </a:spcBef>
              <a:spcAft>
                <a:spcPts val="0"/>
              </a:spcAft>
              <a:buClr>
                <a:schemeClr val="dk1"/>
              </a:buClr>
              <a:buSzPts val="2000"/>
              <a:buFont typeface="Arial Black"/>
              <a:buNone/>
            </a:pPr>
            <a:r>
              <a:rPr b="0" i="0" lang="en-US" sz="2000" u="none" cap="none" strike="noStrike">
                <a:solidFill>
                  <a:schemeClr val="dk1"/>
                </a:solidFill>
                <a:latin typeface="Arial Black"/>
                <a:ea typeface="Arial Black"/>
                <a:cs typeface="Arial Black"/>
                <a:sym typeface="Arial Black"/>
              </a:rPr>
              <a:t>Your Interactive Guide to the Digital World</a:t>
            </a:r>
            <a:endParaRPr/>
          </a:p>
        </p:txBody>
      </p:sp>
      <p:sp>
        <p:nvSpPr>
          <p:cNvPr id="30" name="Google Shape;30;p22"/>
          <p:cNvSpPr/>
          <p:nvPr/>
        </p:nvSpPr>
        <p:spPr>
          <a:xfrm>
            <a:off x="0" y="4267200"/>
            <a:ext cx="4876800"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200" u="none" cap="none" strike="noStrike">
                <a:solidFill>
                  <a:schemeClr val="dk1"/>
                </a:solidFill>
                <a:latin typeface="Arial Black"/>
                <a:ea typeface="Arial Black"/>
                <a:cs typeface="Arial Black"/>
                <a:sym typeface="Arial Black"/>
              </a:rPr>
              <a:t>Discovering </a:t>
            </a:r>
            <a:br>
              <a:rPr b="0" i="0" lang="en-US" sz="3200" u="none" cap="none" strike="noStrike">
                <a:solidFill>
                  <a:schemeClr val="dk1"/>
                </a:solidFill>
                <a:latin typeface="Arial Black"/>
                <a:ea typeface="Arial Black"/>
                <a:cs typeface="Arial Black"/>
                <a:sym typeface="Arial Black"/>
              </a:rPr>
            </a:br>
            <a:r>
              <a:rPr b="0" i="0" lang="en-US" sz="3200" u="none" cap="none" strike="noStrike">
                <a:solidFill>
                  <a:schemeClr val="dk1"/>
                </a:solidFill>
                <a:latin typeface="Arial Black"/>
                <a:ea typeface="Arial Black"/>
                <a:cs typeface="Arial Black"/>
                <a:sym typeface="Arial Black"/>
              </a:rPr>
              <a:t>	Computers 2012</a:t>
            </a:r>
            <a:endParaRPr/>
          </a:p>
        </p:txBody>
      </p:sp>
      <p:pic>
        <p:nvPicPr>
          <p:cNvPr id="31" name="Google Shape;31;p22"/>
          <p:cNvPicPr preferRelativeResize="0"/>
          <p:nvPr/>
        </p:nvPicPr>
        <p:blipFill rotWithShape="1">
          <a:blip r:embed="rId2">
            <a:alphaModFix/>
          </a:blip>
          <a:srcRect b="0" l="0" r="0" t="0"/>
          <a:stretch/>
        </p:blipFill>
        <p:spPr>
          <a:xfrm>
            <a:off x="5186606" y="3276600"/>
            <a:ext cx="3957394" cy="3581400"/>
          </a:xfrm>
          <a:prstGeom prst="rect">
            <a:avLst/>
          </a:prstGeom>
          <a:noFill/>
          <a:ln>
            <a:noFill/>
          </a:ln>
        </p:spPr>
      </p:pic>
      <p:pic>
        <p:nvPicPr>
          <p:cNvPr id="32" name="Google Shape;32;p22"/>
          <p:cNvPicPr preferRelativeResize="0"/>
          <p:nvPr/>
        </p:nvPicPr>
        <p:blipFill rotWithShape="1">
          <a:blip r:embed="rId3">
            <a:alphaModFix/>
          </a:blip>
          <a:srcRect b="0" l="0" r="0" t="0"/>
          <a:stretch/>
        </p:blipFill>
        <p:spPr>
          <a:xfrm>
            <a:off x="0" y="0"/>
            <a:ext cx="9144000" cy="3235890"/>
          </a:xfrm>
          <a:prstGeom prst="rect">
            <a:avLst/>
          </a:prstGeom>
          <a:noFill/>
          <a:ln>
            <a:noFill/>
          </a:ln>
          <a:effectLst>
            <a:outerShdw blurRad="292100" rotWithShape="0" algn="tl" dir="2700000" dist="139700">
              <a:srgbClr val="333333">
                <a:alpha val="64705"/>
              </a:srgbClr>
            </a:outerShdw>
          </a:effectLst>
        </p:spPr>
      </p:pic>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2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5F497A"/>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SzPts val="2000"/>
              <a:buNone/>
              <a:defRPr sz="2000">
                <a:solidFill>
                  <a:srgbClr val="888888"/>
                </a:solidFill>
              </a:defRPr>
            </a:lvl1pPr>
            <a:lvl2pPr indent="-228600" lvl="1" marL="914400" algn="l">
              <a:spcBef>
                <a:spcPts val="360"/>
              </a:spcBef>
              <a:spcAft>
                <a:spcPts val="0"/>
              </a:spcAft>
              <a:buSzPts val="1800"/>
              <a:buNone/>
              <a:defRPr sz="1800">
                <a:solidFill>
                  <a:srgbClr val="888888"/>
                </a:solidFill>
              </a:defRPr>
            </a:lvl2pPr>
            <a:lvl3pPr indent="-228600" lvl="2" marL="1371600" algn="l">
              <a:spcBef>
                <a:spcPts val="320"/>
              </a:spcBef>
              <a:spcAft>
                <a:spcPts val="0"/>
              </a:spcAft>
              <a:buSzPts val="1600"/>
              <a:buNone/>
              <a:defRPr sz="1600">
                <a:solidFill>
                  <a:srgbClr val="888888"/>
                </a:solidFill>
              </a:defRPr>
            </a:lvl3pPr>
            <a:lvl4pPr indent="-228600" lvl="3" marL="1828800" algn="l">
              <a:spcBef>
                <a:spcPts val="280"/>
              </a:spcBef>
              <a:spcAft>
                <a:spcPts val="0"/>
              </a:spcAft>
              <a:buSzPts val="1400"/>
              <a:buNone/>
              <a:defRPr sz="1400">
                <a:solidFill>
                  <a:srgbClr val="888888"/>
                </a:solidFill>
              </a:defRPr>
            </a:lvl4pPr>
            <a:lvl5pPr indent="-228600" lvl="4" marL="2286000" algn="l">
              <a:spcBef>
                <a:spcPts val="280"/>
              </a:spcBef>
              <a:spcAft>
                <a:spcPts val="0"/>
              </a:spcAft>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6" name="Google Shape;36;p23"/>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7" name="Google Shape;37;p23"/>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3"/>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9" name="Shape 39"/>
        <p:cNvGrpSpPr/>
        <p:nvPr/>
      </p:nvGrpSpPr>
      <p:grpSpPr>
        <a:xfrm>
          <a:off x="0" y="0"/>
          <a:ext cx="0" cy="0"/>
          <a:chOff x="0" y="0"/>
          <a:chExt cx="0" cy="0"/>
        </a:xfrm>
      </p:grpSpPr>
      <p:sp>
        <p:nvSpPr>
          <p:cNvPr id="40" name="Google Shape;40;p24"/>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F497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2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SzPts val="2800"/>
              <a:buChar char="•"/>
              <a:defRPr sz="2800"/>
            </a:lvl1pPr>
            <a:lvl2pPr indent="-381000" lvl="1" marL="914400" algn="l">
              <a:spcBef>
                <a:spcPts val="480"/>
              </a:spcBef>
              <a:spcAft>
                <a:spcPts val="0"/>
              </a:spcAft>
              <a:buSzPts val="2400"/>
              <a:buChar char="–"/>
              <a:defRPr sz="2400"/>
            </a:lvl2pPr>
            <a:lvl3pPr indent="-355600" lvl="2" marL="1371600" algn="l">
              <a:spcBef>
                <a:spcPts val="400"/>
              </a:spcBef>
              <a:spcAft>
                <a:spcPts val="0"/>
              </a:spcAft>
              <a:buSzPts val="20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2" name="Google Shape;42;p2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SzPts val="2800"/>
              <a:buChar char="•"/>
              <a:defRPr sz="2800"/>
            </a:lvl1pPr>
            <a:lvl2pPr indent="-381000" lvl="1" marL="914400" algn="l">
              <a:spcBef>
                <a:spcPts val="480"/>
              </a:spcBef>
              <a:spcAft>
                <a:spcPts val="0"/>
              </a:spcAft>
              <a:buSzPts val="2400"/>
              <a:buChar char="–"/>
              <a:defRPr sz="2400"/>
            </a:lvl2pPr>
            <a:lvl3pPr indent="-355600" lvl="2" marL="1371600" algn="l">
              <a:spcBef>
                <a:spcPts val="400"/>
              </a:spcBef>
              <a:spcAft>
                <a:spcPts val="0"/>
              </a:spcAft>
              <a:buSzPts val="20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3" name="Google Shape;43;p24"/>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4"/>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45" name="Google Shape;45;p24"/>
          <p:cNvSpPr txBox="1"/>
          <p:nvPr>
            <p:ph idx="3" type="body"/>
          </p:nvPr>
        </p:nvSpPr>
        <p:spPr>
          <a:xfrm>
            <a:off x="152400" y="6400800"/>
            <a:ext cx="1676400" cy="304800"/>
          </a:xfrm>
          <a:prstGeom prst="rect">
            <a:avLst/>
          </a:prstGeom>
          <a:noFill/>
          <a:ln>
            <a:noFill/>
          </a:ln>
        </p:spPr>
        <p:txBody>
          <a:bodyPr anchorCtr="0" anchor="t" bIns="45700" lIns="91425" spcFirstLastPara="1" rIns="91425" wrap="square" tIns="45700">
            <a:normAutofit/>
          </a:bodyPr>
          <a:lstStyle>
            <a:lvl1pPr indent="-228600" lvl="0" marL="457200" algn="l">
              <a:spcBef>
                <a:spcPts val="240"/>
              </a:spcBef>
              <a:spcAft>
                <a:spcPts val="0"/>
              </a:spcAft>
              <a:buSzPts val="1200"/>
              <a:buNone/>
              <a:defRPr sz="1200"/>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46" name="Shape 46"/>
        <p:cNvGrpSpPr/>
        <p:nvPr/>
      </p:nvGrpSpPr>
      <p:grpSpPr>
        <a:xfrm>
          <a:off x="0" y="0"/>
          <a:ext cx="0" cy="0"/>
          <a:chOff x="0" y="0"/>
          <a:chExt cx="0" cy="0"/>
        </a:xfrm>
      </p:grpSpPr>
      <p:sp>
        <p:nvSpPr>
          <p:cNvPr id="47" name="Google Shape;47;p25"/>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F497A"/>
              </a:buClr>
              <a:buSzPts val="4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2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SzPts val="2400"/>
              <a:buNone/>
              <a:defRPr b="1" sz="2400"/>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2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SzPts val="2400"/>
              <a:buChar char="•"/>
              <a:defRPr sz="2400"/>
            </a:lvl1pPr>
            <a:lvl2pPr indent="-355600" lvl="1" marL="914400" algn="l">
              <a:spcBef>
                <a:spcPts val="400"/>
              </a:spcBef>
              <a:spcAft>
                <a:spcPts val="0"/>
              </a:spcAft>
              <a:buSzPts val="2000"/>
              <a:buChar char="–"/>
              <a:defRPr sz="2000"/>
            </a:lvl2pPr>
            <a:lvl3pPr indent="-342900" lvl="2" marL="1371600" algn="l">
              <a:spcBef>
                <a:spcPts val="360"/>
              </a:spcBef>
              <a:spcAft>
                <a:spcPts val="0"/>
              </a:spcAft>
              <a:buSzPts val="180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2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SzPts val="2400"/>
              <a:buNone/>
              <a:defRPr b="1" sz="2400"/>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1" name="Google Shape;51;p2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SzPts val="2400"/>
              <a:buChar char="•"/>
              <a:defRPr sz="2400"/>
            </a:lvl1pPr>
            <a:lvl2pPr indent="-355600" lvl="1" marL="914400" algn="l">
              <a:spcBef>
                <a:spcPts val="400"/>
              </a:spcBef>
              <a:spcAft>
                <a:spcPts val="0"/>
              </a:spcAft>
              <a:buSzPts val="2000"/>
              <a:buChar char="–"/>
              <a:defRPr sz="2000"/>
            </a:lvl2pPr>
            <a:lvl3pPr indent="-342900" lvl="2" marL="1371600" algn="l">
              <a:spcBef>
                <a:spcPts val="360"/>
              </a:spcBef>
              <a:spcAft>
                <a:spcPts val="0"/>
              </a:spcAft>
              <a:buSzPts val="180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2" name="Google Shape;52;p25"/>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5"/>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54" name="Google Shape;54;p25"/>
          <p:cNvSpPr txBox="1"/>
          <p:nvPr>
            <p:ph idx="5" type="body"/>
          </p:nvPr>
        </p:nvSpPr>
        <p:spPr>
          <a:xfrm>
            <a:off x="152400" y="6400800"/>
            <a:ext cx="1676400" cy="304800"/>
          </a:xfrm>
          <a:prstGeom prst="rect">
            <a:avLst/>
          </a:prstGeom>
          <a:noFill/>
          <a:ln>
            <a:noFill/>
          </a:ln>
        </p:spPr>
        <p:txBody>
          <a:bodyPr anchorCtr="0" anchor="t" bIns="45700" lIns="91425" spcFirstLastPara="1" rIns="91425" wrap="square" tIns="45700">
            <a:normAutofit/>
          </a:bodyPr>
          <a:lstStyle>
            <a:lvl1pPr indent="-228600" lvl="0" marL="457200" algn="l">
              <a:spcBef>
                <a:spcPts val="240"/>
              </a:spcBef>
              <a:spcAft>
                <a:spcPts val="0"/>
              </a:spcAft>
              <a:buSzPts val="1200"/>
              <a:buNone/>
              <a:defRPr sz="1200"/>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26"/>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F497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26"/>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8" name="Google Shape;58;p26"/>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6"/>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27"/>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27"/>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7"/>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2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5F497A"/>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2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SzPts val="3200"/>
              <a:buChar char="•"/>
              <a:defRPr sz="3200"/>
            </a:lvl1pPr>
            <a:lvl2pPr indent="-406400" lvl="1" marL="914400" algn="l">
              <a:spcBef>
                <a:spcPts val="560"/>
              </a:spcBef>
              <a:spcAft>
                <a:spcPts val="0"/>
              </a:spcAft>
              <a:buSzPts val="2800"/>
              <a:buChar char="–"/>
              <a:defRPr sz="2800"/>
            </a:lvl2pPr>
            <a:lvl3pPr indent="-381000" lvl="2" marL="1371600" algn="l">
              <a:spcBef>
                <a:spcPts val="480"/>
              </a:spcBef>
              <a:spcAft>
                <a:spcPts val="0"/>
              </a:spcAft>
              <a:buSzPts val="2400"/>
              <a:buChar char="•"/>
              <a:defRPr sz="2400"/>
            </a:lvl3pPr>
            <a:lvl4pPr indent="-355600" lvl="3" marL="1828800" algn="l">
              <a:spcBef>
                <a:spcPts val="400"/>
              </a:spcBef>
              <a:spcAft>
                <a:spcPts val="0"/>
              </a:spcAft>
              <a:buSzPts val="2000"/>
              <a:buChar char="–"/>
              <a:defRPr sz="2000"/>
            </a:lvl4pPr>
            <a:lvl5pPr indent="-355600" lvl="4" marL="2286000" algn="l">
              <a:spcBef>
                <a:spcPts val="400"/>
              </a:spcBef>
              <a:spcAft>
                <a:spcPts val="0"/>
              </a:spcAft>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7" name="Google Shape;67;p2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SzPts val="1400"/>
              <a:buNone/>
              <a:defRPr sz="1400"/>
            </a:lvl1pPr>
            <a:lvl2pPr indent="-228600" lvl="1" marL="914400" algn="l">
              <a:spcBef>
                <a:spcPts val="240"/>
              </a:spcBef>
              <a:spcAft>
                <a:spcPts val="0"/>
              </a:spcAft>
              <a:buSzPts val="1200"/>
              <a:buNone/>
              <a:defRPr sz="1200"/>
            </a:lvl2pPr>
            <a:lvl3pPr indent="-228600" lvl="2" marL="1371600" algn="l">
              <a:spcBef>
                <a:spcPts val="200"/>
              </a:spcBef>
              <a:spcAft>
                <a:spcPts val="0"/>
              </a:spcAft>
              <a:buSzPts val="10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8" name="Google Shape;68;p28"/>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9" name="Google Shape;69;p28"/>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8"/>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2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5F497A"/>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29"/>
          <p:cNvSpPr/>
          <p:nvPr>
            <p:ph idx="2" type="pic"/>
          </p:nvPr>
        </p:nvSpPr>
        <p:spPr>
          <a:xfrm>
            <a:off x="1792288" y="612775"/>
            <a:ext cx="5486400" cy="4114800"/>
          </a:xfrm>
          <a:prstGeom prst="rect">
            <a:avLst/>
          </a:prstGeom>
          <a:noFill/>
          <a:ln>
            <a:noFill/>
          </a:ln>
        </p:spPr>
      </p:sp>
      <p:sp>
        <p:nvSpPr>
          <p:cNvPr id="74" name="Google Shape;74;p2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SzPts val="1400"/>
              <a:buNone/>
              <a:defRPr sz="1400"/>
            </a:lvl1pPr>
            <a:lvl2pPr indent="-228600" lvl="1" marL="914400" algn="l">
              <a:spcBef>
                <a:spcPts val="240"/>
              </a:spcBef>
              <a:spcAft>
                <a:spcPts val="0"/>
              </a:spcAft>
              <a:buSzPts val="1200"/>
              <a:buNone/>
              <a:defRPr sz="1200"/>
            </a:lvl2pPr>
            <a:lvl3pPr indent="-228600" lvl="2" marL="1371600" algn="l">
              <a:spcBef>
                <a:spcPts val="200"/>
              </a:spcBef>
              <a:spcAft>
                <a:spcPts val="0"/>
              </a:spcAft>
              <a:buSzPts val="10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5" name="Google Shape;75;p29"/>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6" name="Google Shape;76;p29"/>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9"/>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30"/>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F497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0"/>
          <p:cNvSpPr txBox="1"/>
          <p:nvPr>
            <p:ph idx="1" type="body"/>
          </p:nvPr>
        </p:nvSpPr>
        <p:spPr>
          <a:xfrm rot="5400000">
            <a:off x="2247900" y="-495300"/>
            <a:ext cx="4648200" cy="88392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30"/>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2" name="Google Shape;82;p30"/>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0"/>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3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F497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3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7" name="Google Shape;87;p31"/>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 name="Google Shape;88;p31"/>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31"/>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5DFEC"/>
            </a:gs>
            <a:gs pos="64999">
              <a:srgbClr val="F0EBD5"/>
            </a:gs>
            <a:gs pos="100000">
              <a:srgbClr val="D1C39F"/>
            </a:gs>
          </a:gsLst>
          <a:path path="circle">
            <a:fillToRect b="0%" l="100%" r="0%" t="100%"/>
          </a:path>
          <a:tileRect b="-100%" l="0%" r="-100%" t="0%"/>
        </a:gradFill>
      </p:bgPr>
    </p:bg>
    <p:spTree>
      <p:nvGrpSpPr>
        <p:cNvPr id="9" name="Shape 9"/>
        <p:cNvGrpSpPr/>
        <p:nvPr/>
      </p:nvGrpSpPr>
      <p:grpSpPr>
        <a:xfrm>
          <a:off x="0" y="0"/>
          <a:ext cx="0" cy="0"/>
          <a:chOff x="0" y="0"/>
          <a:chExt cx="0" cy="0"/>
        </a:xfrm>
      </p:grpSpPr>
      <p:sp>
        <p:nvSpPr>
          <p:cNvPr id="10" name="Google Shape;10;p19"/>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rgbClr val="5F497A"/>
              </a:buClr>
              <a:buSzPts val="4000"/>
              <a:buFont typeface="Calibri"/>
              <a:buNone/>
              <a:defRPr b="1" i="0" sz="4000" u="none" cap="none" strike="noStrike">
                <a:solidFill>
                  <a:srgbClr val="5F497A"/>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9"/>
          <p:cNvSpPr txBox="1"/>
          <p:nvPr>
            <p:ph idx="1" type="body"/>
          </p:nvPr>
        </p:nvSpPr>
        <p:spPr>
          <a:xfrm>
            <a:off x="152400" y="1600200"/>
            <a:ext cx="8839200" cy="4648200"/>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rgbClr val="5F497A"/>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rgbClr val="5F497A"/>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rgbClr val="5F497A"/>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rgbClr val="5F497A"/>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rgbClr val="5F497A"/>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9"/>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9"/>
          <p:cNvSpPr/>
          <p:nvPr/>
        </p:nvSpPr>
        <p:spPr>
          <a:xfrm>
            <a:off x="0" y="1219200"/>
            <a:ext cx="9144000" cy="457200"/>
          </a:xfrm>
          <a:prstGeom prst="rect">
            <a:avLst/>
          </a:prstGeom>
          <a:gradFill>
            <a:gsLst>
              <a:gs pos="0">
                <a:srgbClr val="DB7531"/>
              </a:gs>
              <a:gs pos="64999">
                <a:srgbClr val="F0EBD5"/>
              </a:gs>
              <a:gs pos="100000">
                <a:srgbClr val="D1C39F"/>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 name="Google Shape;14;p19"/>
          <p:cNvSpPr/>
          <p:nvPr/>
        </p:nvSpPr>
        <p:spPr>
          <a:xfrm>
            <a:off x="8534400" y="6248400"/>
            <a:ext cx="609600" cy="609600"/>
          </a:xfrm>
          <a:prstGeom prst="rect">
            <a:avLst/>
          </a:prstGeom>
          <a:solidFill>
            <a:srgbClr val="DB7531"/>
          </a:solidFill>
          <a:ln>
            <a:noFill/>
          </a:ln>
          <a:effectLst>
            <a:outerShdw blurRad="76200" kx="1200000" rotWithShape="0" algn="br" sy="230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 name="Google Shape;15;p19"/>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b="1" i="0" sz="1200" u="none" cap="none" strike="noStrike">
                <a:solidFill>
                  <a:srgbClr val="EEEBCA"/>
                </a:solidFill>
                <a:latin typeface="Calibri"/>
                <a:ea typeface="Calibri"/>
                <a:cs typeface="Calibri"/>
                <a:sym typeface="Calibri"/>
              </a:defRPr>
            </a:lvl1pPr>
            <a:lvl2pPr indent="0" lvl="1" marL="0" marR="0" rtl="0" algn="ctr">
              <a:spcBef>
                <a:spcPts val="0"/>
              </a:spcBef>
              <a:buNone/>
              <a:defRPr b="1" i="0" sz="1200" u="none" cap="none" strike="noStrike">
                <a:solidFill>
                  <a:srgbClr val="EEEBCA"/>
                </a:solidFill>
                <a:latin typeface="Calibri"/>
                <a:ea typeface="Calibri"/>
                <a:cs typeface="Calibri"/>
                <a:sym typeface="Calibri"/>
              </a:defRPr>
            </a:lvl2pPr>
            <a:lvl3pPr indent="0" lvl="2" marL="0" marR="0" rtl="0" algn="ctr">
              <a:spcBef>
                <a:spcPts val="0"/>
              </a:spcBef>
              <a:buNone/>
              <a:defRPr b="1" i="0" sz="1200" u="none" cap="none" strike="noStrike">
                <a:solidFill>
                  <a:srgbClr val="EEEBCA"/>
                </a:solidFill>
                <a:latin typeface="Calibri"/>
                <a:ea typeface="Calibri"/>
                <a:cs typeface="Calibri"/>
                <a:sym typeface="Calibri"/>
              </a:defRPr>
            </a:lvl3pPr>
            <a:lvl4pPr indent="0" lvl="3" marL="0" marR="0" rtl="0" algn="ctr">
              <a:spcBef>
                <a:spcPts val="0"/>
              </a:spcBef>
              <a:buNone/>
              <a:defRPr b="1" i="0" sz="1200" u="none" cap="none" strike="noStrike">
                <a:solidFill>
                  <a:srgbClr val="EEEBCA"/>
                </a:solidFill>
                <a:latin typeface="Calibri"/>
                <a:ea typeface="Calibri"/>
                <a:cs typeface="Calibri"/>
                <a:sym typeface="Calibri"/>
              </a:defRPr>
            </a:lvl4pPr>
            <a:lvl5pPr indent="0" lvl="4" marL="0" marR="0" rtl="0" algn="ctr">
              <a:spcBef>
                <a:spcPts val="0"/>
              </a:spcBef>
              <a:buNone/>
              <a:defRPr b="1" i="0" sz="1200" u="none" cap="none" strike="noStrike">
                <a:solidFill>
                  <a:srgbClr val="EEEBCA"/>
                </a:solidFill>
                <a:latin typeface="Calibri"/>
                <a:ea typeface="Calibri"/>
                <a:cs typeface="Calibri"/>
                <a:sym typeface="Calibri"/>
              </a:defRPr>
            </a:lvl5pPr>
            <a:lvl6pPr indent="0" lvl="5" marL="0" marR="0" rtl="0" algn="ctr">
              <a:spcBef>
                <a:spcPts val="0"/>
              </a:spcBef>
              <a:buNone/>
              <a:defRPr b="1" i="0" sz="1200" u="none" cap="none" strike="noStrike">
                <a:solidFill>
                  <a:srgbClr val="EEEBCA"/>
                </a:solidFill>
                <a:latin typeface="Calibri"/>
                <a:ea typeface="Calibri"/>
                <a:cs typeface="Calibri"/>
                <a:sym typeface="Calibri"/>
              </a:defRPr>
            </a:lvl6pPr>
            <a:lvl7pPr indent="0" lvl="6" marL="0" marR="0" rtl="0" algn="ctr">
              <a:spcBef>
                <a:spcPts val="0"/>
              </a:spcBef>
              <a:buNone/>
              <a:defRPr b="1" i="0" sz="1200" u="none" cap="none" strike="noStrike">
                <a:solidFill>
                  <a:srgbClr val="EEEBCA"/>
                </a:solidFill>
                <a:latin typeface="Calibri"/>
                <a:ea typeface="Calibri"/>
                <a:cs typeface="Calibri"/>
                <a:sym typeface="Calibri"/>
              </a:defRPr>
            </a:lvl7pPr>
            <a:lvl8pPr indent="0" lvl="7" marL="0" marR="0" rtl="0" algn="ctr">
              <a:spcBef>
                <a:spcPts val="0"/>
              </a:spcBef>
              <a:buNone/>
              <a:defRPr b="1" i="0" sz="1200" u="none" cap="none" strike="noStrike">
                <a:solidFill>
                  <a:srgbClr val="EEEBCA"/>
                </a:solidFill>
                <a:latin typeface="Calibri"/>
                <a:ea typeface="Calibri"/>
                <a:cs typeface="Calibri"/>
                <a:sym typeface="Calibri"/>
              </a:defRPr>
            </a:lvl8pPr>
            <a:lvl9pPr indent="0" lvl="8" marL="0" marR="0" rtl="0" algn="ctr">
              <a:spcBef>
                <a:spcPts val="0"/>
              </a:spcBef>
              <a:buNone/>
              <a:defRPr b="1" i="0" sz="1200" u="none" cap="none" strike="noStrike">
                <a:solidFill>
                  <a:srgbClr val="EEEBCA"/>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fade/>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F497A"/>
              </a:buClr>
              <a:buSzPts val="2400"/>
              <a:buFont typeface="Calibri"/>
              <a:buNone/>
            </a:pPr>
            <a:r>
              <a:rPr lang="en-US" sz="2400"/>
              <a:t>Wireless Security</a:t>
            </a:r>
            <a:endParaRPr/>
          </a:p>
        </p:txBody>
      </p:sp>
      <p:sp>
        <p:nvSpPr>
          <p:cNvPr id="95" name="Google Shape;95;p1"/>
          <p:cNvSpPr txBox="1"/>
          <p:nvPr>
            <p:ph idx="1" type="body"/>
          </p:nvPr>
        </p:nvSpPr>
        <p:spPr>
          <a:xfrm>
            <a:off x="152400" y="1524000"/>
            <a:ext cx="8839200" cy="37338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3200"/>
              <a:buNone/>
            </a:pPr>
            <a:r>
              <a:t/>
            </a:r>
            <a:endParaRPr/>
          </a:p>
          <a:p>
            <a:pPr indent="0" lvl="0" marL="0" rtl="0" algn="ctr">
              <a:spcBef>
                <a:spcPts val="800"/>
              </a:spcBef>
              <a:spcAft>
                <a:spcPts val="0"/>
              </a:spcAft>
              <a:buSzPts val="4000"/>
              <a:buNone/>
            </a:pPr>
            <a:r>
              <a:t/>
            </a:r>
            <a:endParaRPr b="1" sz="4000">
              <a:solidFill>
                <a:srgbClr val="5F497A"/>
              </a:solidFill>
              <a:latin typeface="Calibri"/>
              <a:ea typeface="Calibri"/>
              <a:cs typeface="Calibri"/>
              <a:sym typeface="Calibri"/>
            </a:endParaRPr>
          </a:p>
          <a:p>
            <a:pPr indent="0" lvl="0" marL="0" rtl="0" algn="ctr">
              <a:spcBef>
                <a:spcPts val="880"/>
              </a:spcBef>
              <a:spcAft>
                <a:spcPts val="0"/>
              </a:spcAft>
              <a:buSzPts val="4400"/>
              <a:buNone/>
            </a:pPr>
            <a:r>
              <a:rPr b="1" lang="en-US" sz="4400">
                <a:solidFill>
                  <a:srgbClr val="5F497A"/>
                </a:solidFill>
                <a:latin typeface="Calibri"/>
                <a:ea typeface="Calibri"/>
                <a:cs typeface="Calibri"/>
                <a:sym typeface="Calibri"/>
              </a:rPr>
              <a:t>Information Security</a:t>
            </a:r>
            <a:endParaRPr b="1" sz="2000">
              <a:solidFill>
                <a:srgbClr val="5F497A"/>
              </a:solidFill>
              <a:latin typeface="Calibri"/>
              <a:ea typeface="Calibri"/>
              <a:cs typeface="Calibri"/>
              <a:sym typeface="Calibri"/>
            </a:endParaRPr>
          </a:p>
        </p:txBody>
      </p:sp>
      <p:sp>
        <p:nvSpPr>
          <p:cNvPr id="96" name="Google Shape;96;p1"/>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
          <p:cNvSpPr txBox="1"/>
          <p:nvPr>
            <p:ph type="title"/>
          </p:nvPr>
        </p:nvSpPr>
        <p:spPr>
          <a:xfrm>
            <a:off x="134155" y="228600"/>
            <a:ext cx="8145462"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Wireless Security</a:t>
            </a:r>
            <a:endParaRPr sz="3600"/>
          </a:p>
        </p:txBody>
      </p:sp>
      <p:sp>
        <p:nvSpPr>
          <p:cNvPr id="103" name="Google Shape;103;p2"/>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800"/>
              <a:buChar char="•"/>
            </a:pPr>
            <a:r>
              <a:rPr lang="en-US" sz="2800"/>
              <a:t>Wireless Security</a:t>
            </a:r>
            <a:endParaRPr/>
          </a:p>
          <a:p>
            <a:pPr indent="-285750" lvl="1" marL="742950" rtl="0" algn="l">
              <a:spcBef>
                <a:spcPts val="480"/>
              </a:spcBef>
              <a:spcAft>
                <a:spcPts val="0"/>
              </a:spcAft>
              <a:buSzPts val="2400"/>
              <a:buChar char="–"/>
            </a:pPr>
            <a:r>
              <a:rPr lang="en-US" sz="2400"/>
              <a:t>Wireless Network</a:t>
            </a:r>
            <a:endParaRPr/>
          </a:p>
          <a:p>
            <a:pPr indent="-285750" lvl="1" marL="742950" rtl="0" algn="l">
              <a:spcBef>
                <a:spcPts val="480"/>
              </a:spcBef>
              <a:spcAft>
                <a:spcPts val="0"/>
              </a:spcAft>
              <a:buSzPts val="2400"/>
              <a:buChar char="–"/>
            </a:pPr>
            <a:r>
              <a:rPr lang="en-US" sz="2400"/>
              <a:t>Wireless Attacks: Bluetooth</a:t>
            </a:r>
            <a:endParaRPr/>
          </a:p>
          <a:p>
            <a:pPr indent="-285750" lvl="1" marL="742950" rtl="0" algn="l">
              <a:spcBef>
                <a:spcPts val="480"/>
              </a:spcBef>
              <a:spcAft>
                <a:spcPts val="0"/>
              </a:spcAft>
              <a:buSzPts val="2400"/>
              <a:buChar char="–"/>
            </a:pPr>
            <a:r>
              <a:rPr lang="en-US" sz="2400"/>
              <a:t>IEEE 802.11 Wireless Standard</a:t>
            </a:r>
            <a:endParaRPr/>
          </a:p>
          <a:p>
            <a:pPr indent="-285750" lvl="1" marL="742950" rtl="0" algn="l">
              <a:spcBef>
                <a:spcPts val="480"/>
              </a:spcBef>
              <a:spcAft>
                <a:spcPts val="0"/>
              </a:spcAft>
              <a:buSzPts val="2400"/>
              <a:buChar char="–"/>
            </a:pPr>
            <a:r>
              <a:rPr lang="en-US" sz="2400"/>
              <a:t>Wireless Network Modes</a:t>
            </a:r>
            <a:endParaRPr/>
          </a:p>
          <a:p>
            <a:pPr indent="-285750" lvl="1" marL="742950" rtl="0" algn="l">
              <a:spcBef>
                <a:spcPts val="480"/>
              </a:spcBef>
              <a:spcAft>
                <a:spcPts val="0"/>
              </a:spcAft>
              <a:buSzPts val="2400"/>
              <a:buChar char="–"/>
            </a:pPr>
            <a:r>
              <a:rPr lang="en-US" sz="2400"/>
              <a:t>Wireless Security Overview</a:t>
            </a:r>
            <a:endParaRPr/>
          </a:p>
          <a:p>
            <a:pPr indent="-285750" lvl="1" marL="742950" rtl="0" algn="l">
              <a:spcBef>
                <a:spcPts val="480"/>
              </a:spcBef>
              <a:spcAft>
                <a:spcPts val="0"/>
              </a:spcAft>
              <a:buSzPts val="2400"/>
              <a:buChar char="–"/>
            </a:pPr>
            <a:r>
              <a:rPr lang="en-US" sz="2400"/>
              <a:t>Wireless Networking Components</a:t>
            </a:r>
            <a:endParaRPr/>
          </a:p>
          <a:p>
            <a:pPr indent="-285750" lvl="1" marL="742950" rtl="0" algn="l">
              <a:spcBef>
                <a:spcPts val="480"/>
              </a:spcBef>
              <a:spcAft>
                <a:spcPts val="0"/>
              </a:spcAft>
              <a:buSzPts val="2400"/>
              <a:buChar char="–"/>
            </a:pPr>
            <a:r>
              <a:rPr lang="en-US" sz="2400"/>
              <a:t>Wireless LAN Attacks</a:t>
            </a:r>
            <a:endParaRPr/>
          </a:p>
          <a:p>
            <a:pPr indent="-285750" lvl="1" marL="742950" rtl="0" algn="l">
              <a:spcBef>
                <a:spcPts val="480"/>
              </a:spcBef>
              <a:spcAft>
                <a:spcPts val="0"/>
              </a:spcAft>
              <a:buSzPts val="2400"/>
              <a:buChar char="–"/>
            </a:pPr>
            <a:r>
              <a:rPr lang="en-US" sz="2400"/>
              <a:t>Six Modes of Wireless NICs</a:t>
            </a:r>
            <a:endParaRPr/>
          </a:p>
          <a:p>
            <a:pPr indent="-285750" lvl="1" marL="742950" rtl="0" algn="l">
              <a:spcBef>
                <a:spcPts val="480"/>
              </a:spcBef>
              <a:spcAft>
                <a:spcPts val="0"/>
              </a:spcAft>
              <a:buSzPts val="2400"/>
              <a:buChar char="–"/>
            </a:pPr>
            <a:r>
              <a:rPr lang="en-US" sz="2400"/>
              <a:t>Securing Wireless Networks</a:t>
            </a:r>
            <a:endParaRPr/>
          </a:p>
          <a:p>
            <a:pPr indent="-133350" lvl="1" marL="742950" rtl="0" algn="l">
              <a:spcBef>
                <a:spcPts val="480"/>
              </a:spcBef>
              <a:spcAft>
                <a:spcPts val="0"/>
              </a:spcAft>
              <a:buSzPts val="2400"/>
              <a:buNone/>
            </a:pPr>
            <a:r>
              <a:t/>
            </a:r>
            <a:endParaRPr sz="2400"/>
          </a:p>
          <a:p>
            <a:pPr indent="-133350" lvl="1" marL="742950" rtl="0" algn="l">
              <a:spcBef>
                <a:spcPts val="480"/>
              </a:spcBef>
              <a:spcAft>
                <a:spcPts val="0"/>
              </a:spcAft>
              <a:buSzPts val="2400"/>
              <a:buNone/>
            </a:pPr>
            <a:r>
              <a:t/>
            </a:r>
            <a:endParaRPr sz="2400"/>
          </a:p>
          <a:p>
            <a:pPr indent="-133350" lvl="1" marL="742950" rtl="0" algn="l">
              <a:spcBef>
                <a:spcPts val="480"/>
              </a:spcBef>
              <a:spcAft>
                <a:spcPts val="0"/>
              </a:spcAft>
              <a:buSzPts val="2400"/>
              <a:buNone/>
            </a:pPr>
            <a:r>
              <a:t/>
            </a:r>
            <a:endParaRPr sz="2400"/>
          </a:p>
          <a:p>
            <a:pPr indent="-133350" lvl="1" marL="742950" rtl="0" algn="l">
              <a:spcBef>
                <a:spcPts val="480"/>
              </a:spcBef>
              <a:spcAft>
                <a:spcPts val="0"/>
              </a:spcAft>
              <a:buSzPts val="2400"/>
              <a:buNone/>
            </a:pPr>
            <a:r>
              <a:t/>
            </a:r>
            <a:endParaRPr sz="2400"/>
          </a:p>
          <a:p>
            <a:pPr indent="-133350" lvl="1" marL="742950" rtl="0" algn="l">
              <a:spcBef>
                <a:spcPts val="480"/>
              </a:spcBef>
              <a:spcAft>
                <a:spcPts val="0"/>
              </a:spcAft>
              <a:buSzPts val="2400"/>
              <a:buNone/>
            </a:pPr>
            <a:r>
              <a:t/>
            </a:r>
            <a:endParaRPr sz="2400"/>
          </a:p>
          <a:p>
            <a:pPr indent="0" lvl="1" marL="457200" rtl="0" algn="l">
              <a:spcBef>
                <a:spcPts val="480"/>
              </a:spcBef>
              <a:spcAft>
                <a:spcPts val="0"/>
              </a:spcAft>
              <a:buSzPts val="2400"/>
              <a:buNone/>
            </a:pPr>
            <a:r>
              <a:t/>
            </a:r>
            <a:endParaRPr sz="2400"/>
          </a:p>
          <a:p>
            <a:pPr indent="-133350" lvl="1" marL="742950" rtl="0" algn="l">
              <a:spcBef>
                <a:spcPts val="480"/>
              </a:spcBef>
              <a:spcAft>
                <a:spcPts val="0"/>
              </a:spcAft>
              <a:buSzPts val="2400"/>
              <a:buNone/>
            </a:pPr>
            <a:r>
              <a:t/>
            </a:r>
            <a:endParaRPr sz="2400"/>
          </a:p>
          <a:p>
            <a:pPr indent="-133350" lvl="1" marL="742950" rtl="0" algn="l">
              <a:spcBef>
                <a:spcPts val="480"/>
              </a:spcBef>
              <a:spcAft>
                <a:spcPts val="0"/>
              </a:spcAft>
              <a:buSzPts val="2400"/>
              <a:buNone/>
            </a:pPr>
            <a:r>
              <a:t/>
            </a:r>
            <a:endParaRPr sz="2400"/>
          </a:p>
          <a:p>
            <a:pPr indent="-133350" lvl="1" marL="742950" rtl="0" algn="l">
              <a:spcBef>
                <a:spcPts val="480"/>
              </a:spcBef>
              <a:spcAft>
                <a:spcPts val="0"/>
              </a:spcAft>
              <a:buSzPts val="2400"/>
              <a:buNone/>
            </a:pPr>
            <a:r>
              <a:t/>
            </a:r>
            <a:endParaRPr sz="2400"/>
          </a:p>
          <a:p>
            <a:pPr indent="-133350" lvl="1" marL="742950" rtl="0" algn="l">
              <a:spcBef>
                <a:spcPts val="480"/>
              </a:spcBef>
              <a:spcAft>
                <a:spcPts val="0"/>
              </a:spcAft>
              <a:buSzPts val="2400"/>
              <a:buNone/>
            </a:pPr>
            <a:r>
              <a:t/>
            </a:r>
            <a:endParaRPr sz="2400"/>
          </a:p>
          <a:p>
            <a:pPr indent="-133350" lvl="1" marL="742950" rtl="0" algn="l">
              <a:spcBef>
                <a:spcPts val="480"/>
              </a:spcBef>
              <a:spcAft>
                <a:spcPts val="0"/>
              </a:spcAft>
              <a:buSzPts val="2400"/>
              <a:buNone/>
            </a:pPr>
            <a:r>
              <a:t/>
            </a:r>
            <a:endParaRPr sz="2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16" st="1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17" st="1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18" st="1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19" st="1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20" st="2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3"/>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F497A"/>
              </a:buClr>
              <a:buSzPts val="3600"/>
              <a:buFont typeface="Calibri"/>
              <a:buNone/>
            </a:pPr>
            <a:r>
              <a:rPr lang="en-US" sz="3600"/>
              <a:t>Wireless Security</a:t>
            </a:r>
            <a:endParaRPr sz="3600"/>
          </a:p>
        </p:txBody>
      </p:sp>
      <p:sp>
        <p:nvSpPr>
          <p:cNvPr id="110" name="Google Shape;110;p3"/>
          <p:cNvSpPr txBox="1"/>
          <p:nvPr>
            <p:ph idx="1" type="body"/>
          </p:nvPr>
        </p:nvSpPr>
        <p:spPr>
          <a:xfrm>
            <a:off x="152400" y="1600200"/>
            <a:ext cx="8839200" cy="46482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Wireless LAN Attacks</a:t>
            </a:r>
            <a:endParaRPr/>
          </a:p>
          <a:p>
            <a:pPr indent="-342900" lvl="0" marL="342900" rtl="0" algn="l">
              <a:spcBef>
                <a:spcPts val="560"/>
              </a:spcBef>
              <a:spcAft>
                <a:spcPts val="0"/>
              </a:spcAft>
              <a:buSzPts val="2800"/>
              <a:buChar char="•"/>
            </a:pPr>
            <a:r>
              <a:rPr lang="en-US" sz="2800"/>
              <a:t>Wireless networks have been vulnerable targets for attackers</a:t>
            </a:r>
            <a:endParaRPr/>
          </a:p>
          <a:p>
            <a:pPr indent="-285750" lvl="1" marL="742950" rtl="0" algn="l">
              <a:spcBef>
                <a:spcPts val="480"/>
              </a:spcBef>
              <a:spcAft>
                <a:spcPts val="0"/>
              </a:spcAft>
              <a:buSzPts val="2400"/>
              <a:buChar char="–"/>
            </a:pPr>
            <a:r>
              <a:rPr lang="en-US" sz="2400"/>
              <a:t>Not restricted to a cable</a:t>
            </a:r>
            <a:endParaRPr/>
          </a:p>
          <a:p>
            <a:pPr indent="-342900" lvl="0" marL="342900" rtl="0" algn="l">
              <a:spcBef>
                <a:spcPts val="560"/>
              </a:spcBef>
              <a:spcAft>
                <a:spcPts val="0"/>
              </a:spcAft>
              <a:buSzPts val="2800"/>
              <a:buChar char="•"/>
            </a:pPr>
            <a:r>
              <a:rPr lang="en-US" sz="2800"/>
              <a:t>Types of wireless LAN attacks</a:t>
            </a:r>
            <a:endParaRPr/>
          </a:p>
          <a:p>
            <a:pPr indent="-285750" lvl="1" marL="742950" rtl="0" algn="l">
              <a:spcBef>
                <a:spcPts val="480"/>
              </a:spcBef>
              <a:spcAft>
                <a:spcPts val="0"/>
              </a:spcAft>
              <a:buSzPts val="2400"/>
              <a:buChar char="–"/>
            </a:pPr>
            <a:r>
              <a:rPr lang="en-US" sz="2400"/>
              <a:t>Discovering the network</a:t>
            </a:r>
            <a:endParaRPr/>
          </a:p>
          <a:p>
            <a:pPr indent="-285750" lvl="1" marL="742950" rtl="0" algn="l">
              <a:spcBef>
                <a:spcPts val="480"/>
              </a:spcBef>
              <a:spcAft>
                <a:spcPts val="0"/>
              </a:spcAft>
              <a:buSzPts val="2400"/>
              <a:buChar char="–"/>
            </a:pPr>
            <a:r>
              <a:rPr lang="en-US" sz="2400"/>
              <a:t>Attacks through the RF spectrum</a:t>
            </a:r>
            <a:endParaRPr/>
          </a:p>
          <a:p>
            <a:pPr indent="-285750" lvl="1" marL="742950" rtl="0" algn="l">
              <a:spcBef>
                <a:spcPts val="480"/>
              </a:spcBef>
              <a:spcAft>
                <a:spcPts val="0"/>
              </a:spcAft>
              <a:buSzPts val="2400"/>
              <a:buChar char="–"/>
            </a:pPr>
            <a:r>
              <a:rPr lang="en-US" sz="2400"/>
              <a:t>Attacks involving access points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4"/>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F497A"/>
              </a:buClr>
              <a:buSzPts val="3600"/>
              <a:buFont typeface="Calibri"/>
              <a:buNone/>
            </a:pPr>
            <a:r>
              <a:rPr lang="en-US" sz="3600"/>
              <a:t>Wireless Security</a:t>
            </a:r>
            <a:endParaRPr sz="3600"/>
          </a:p>
        </p:txBody>
      </p:sp>
      <p:sp>
        <p:nvSpPr>
          <p:cNvPr id="117" name="Google Shape;117;p4"/>
          <p:cNvSpPr txBox="1"/>
          <p:nvPr>
            <p:ph idx="1" type="body"/>
          </p:nvPr>
        </p:nvSpPr>
        <p:spPr>
          <a:xfrm>
            <a:off x="152400" y="1600200"/>
            <a:ext cx="8839200" cy="5181600"/>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SzPts val="2800"/>
              <a:buNone/>
            </a:pPr>
            <a:r>
              <a:rPr b="1" lang="en-US" sz="2800"/>
              <a:t>Wireless LAN Attacks</a:t>
            </a:r>
            <a:endParaRPr/>
          </a:p>
          <a:p>
            <a:pPr indent="-342900" lvl="0" marL="342900" rtl="0" algn="l">
              <a:spcBef>
                <a:spcPts val="560"/>
              </a:spcBef>
              <a:spcAft>
                <a:spcPts val="0"/>
              </a:spcAft>
              <a:buSzPts val="2800"/>
              <a:buChar char="•"/>
            </a:pPr>
            <a:r>
              <a:rPr lang="en-US" sz="2800"/>
              <a:t>Discovering the network</a:t>
            </a:r>
            <a:endParaRPr/>
          </a:p>
          <a:p>
            <a:pPr indent="-285750" lvl="1" marL="742950" rtl="0" algn="l">
              <a:spcBef>
                <a:spcPts val="480"/>
              </a:spcBef>
              <a:spcAft>
                <a:spcPts val="0"/>
              </a:spcAft>
              <a:buSzPts val="2400"/>
              <a:buChar char="–"/>
            </a:pPr>
            <a:r>
              <a:rPr lang="en-US" sz="2400"/>
              <a:t>One of first steps in attack is to discover presence of a network</a:t>
            </a:r>
            <a:endParaRPr/>
          </a:p>
          <a:p>
            <a:pPr indent="-342900" lvl="0" marL="342900" rtl="0" algn="l">
              <a:spcBef>
                <a:spcPts val="560"/>
              </a:spcBef>
              <a:spcAft>
                <a:spcPts val="0"/>
              </a:spcAft>
              <a:buSzPts val="2800"/>
              <a:buChar char="•"/>
            </a:pPr>
            <a:r>
              <a:rPr lang="en-US" sz="2800"/>
              <a:t>Beaconing</a:t>
            </a:r>
            <a:endParaRPr/>
          </a:p>
          <a:p>
            <a:pPr indent="-285750" lvl="1" marL="742950" rtl="0" algn="l">
              <a:spcBef>
                <a:spcPts val="480"/>
              </a:spcBef>
              <a:spcAft>
                <a:spcPts val="0"/>
              </a:spcAft>
              <a:buSzPts val="2400"/>
              <a:buChar char="–"/>
            </a:pPr>
            <a:r>
              <a:rPr lang="en-US" sz="2400"/>
              <a:t>AP sends signal at regular intervals to announce its presence and provide connection information</a:t>
            </a:r>
            <a:endParaRPr/>
          </a:p>
          <a:p>
            <a:pPr indent="-285750" lvl="1" marL="742950" rtl="0" algn="l">
              <a:spcBef>
                <a:spcPts val="480"/>
              </a:spcBef>
              <a:spcAft>
                <a:spcPts val="0"/>
              </a:spcAft>
              <a:buSzPts val="2400"/>
              <a:buChar char="–"/>
            </a:pPr>
            <a:r>
              <a:rPr lang="en-US" sz="2400"/>
              <a:t>Wireless device scans for beacon frames</a:t>
            </a:r>
            <a:endParaRPr/>
          </a:p>
          <a:p>
            <a:pPr indent="-342900" lvl="0" marL="342900" rtl="0" algn="l">
              <a:spcBef>
                <a:spcPts val="560"/>
              </a:spcBef>
              <a:spcAft>
                <a:spcPts val="0"/>
              </a:spcAft>
              <a:buSzPts val="2800"/>
              <a:buChar char="•"/>
            </a:pPr>
            <a:r>
              <a:rPr lang="en-US" sz="2800"/>
              <a:t>WLAN Probe</a:t>
            </a:r>
            <a:endParaRPr/>
          </a:p>
          <a:p>
            <a:pPr indent="-285750" lvl="1" marL="742950" rtl="0" algn="l">
              <a:spcBef>
                <a:spcPts val="480"/>
              </a:spcBef>
              <a:spcAft>
                <a:spcPts val="0"/>
              </a:spcAft>
              <a:buSzPts val="2400"/>
              <a:buChar char="–"/>
            </a:pPr>
            <a:r>
              <a:rPr lang="en-US" sz="2400"/>
              <a:t>The WLAN clients or stations use probe request frame to scan the area for availability of WLAN network. </a:t>
            </a:r>
            <a:endParaRPr sz="2800"/>
          </a:p>
          <a:p>
            <a:pPr indent="-342900" lvl="0" marL="342900" rtl="0" algn="l">
              <a:spcBef>
                <a:spcPts val="560"/>
              </a:spcBef>
              <a:spcAft>
                <a:spcPts val="0"/>
              </a:spcAft>
              <a:buSzPts val="2800"/>
              <a:buChar char="•"/>
            </a:pPr>
            <a:r>
              <a:rPr lang="en-US" sz="2800"/>
              <a:t>War driving</a:t>
            </a:r>
            <a:endParaRPr/>
          </a:p>
          <a:p>
            <a:pPr indent="-285750" lvl="1" marL="742950" rtl="0" algn="l">
              <a:spcBef>
                <a:spcPts val="480"/>
              </a:spcBef>
              <a:spcAft>
                <a:spcPts val="0"/>
              </a:spcAft>
              <a:buSzPts val="2400"/>
              <a:buChar char="–"/>
            </a:pPr>
            <a:r>
              <a:rPr lang="en-US" sz="2400"/>
              <a:t>Act of searching for Wi-Fi networks from a moving vehicle.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5"/>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F497A"/>
              </a:buClr>
              <a:buSzPts val="3600"/>
              <a:buFont typeface="Calibri"/>
              <a:buNone/>
            </a:pPr>
            <a:r>
              <a:rPr lang="en-US" sz="3600"/>
              <a:t>Wireless Security</a:t>
            </a:r>
            <a:endParaRPr sz="3600"/>
          </a:p>
        </p:txBody>
      </p:sp>
      <p:sp>
        <p:nvSpPr>
          <p:cNvPr id="124" name="Google Shape;124;p5"/>
          <p:cNvSpPr txBox="1"/>
          <p:nvPr>
            <p:ph idx="1" type="body"/>
          </p:nvPr>
        </p:nvSpPr>
        <p:spPr>
          <a:xfrm>
            <a:off x="152400" y="1600200"/>
            <a:ext cx="8839200" cy="46482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Wireless LAN Attacks</a:t>
            </a:r>
            <a:endParaRPr/>
          </a:p>
        </p:txBody>
      </p:sp>
      <p:pic>
        <p:nvPicPr>
          <p:cNvPr id="125" name="Google Shape;125;p5"/>
          <p:cNvPicPr preferRelativeResize="0"/>
          <p:nvPr/>
        </p:nvPicPr>
        <p:blipFill rotWithShape="1">
          <a:blip r:embed="rId3">
            <a:alphaModFix/>
          </a:blip>
          <a:srcRect b="0" l="0" r="0" t="0"/>
          <a:stretch/>
        </p:blipFill>
        <p:spPr>
          <a:xfrm>
            <a:off x="304800" y="2133600"/>
            <a:ext cx="8545738" cy="4114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6"/>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F497A"/>
              </a:buClr>
              <a:buSzPts val="3600"/>
              <a:buFont typeface="Calibri"/>
              <a:buNone/>
            </a:pPr>
            <a:r>
              <a:rPr lang="en-US" sz="3600"/>
              <a:t>Wireless Security</a:t>
            </a:r>
            <a:endParaRPr sz="3600"/>
          </a:p>
        </p:txBody>
      </p:sp>
      <p:sp>
        <p:nvSpPr>
          <p:cNvPr id="132" name="Google Shape;132;p6"/>
          <p:cNvSpPr txBox="1"/>
          <p:nvPr>
            <p:ph idx="1" type="body"/>
          </p:nvPr>
        </p:nvSpPr>
        <p:spPr>
          <a:xfrm>
            <a:off x="152400" y="1600200"/>
            <a:ext cx="8839200" cy="46482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Wireless LAN Attacks</a:t>
            </a:r>
            <a:endParaRPr/>
          </a:p>
        </p:txBody>
      </p:sp>
      <p:pic>
        <p:nvPicPr>
          <p:cNvPr descr="how-to-protect-your-wifi-network-from-wardriving" id="133" name="Google Shape;133;p6"/>
          <p:cNvPicPr preferRelativeResize="0"/>
          <p:nvPr/>
        </p:nvPicPr>
        <p:blipFill rotWithShape="1">
          <a:blip r:embed="rId3">
            <a:alphaModFix/>
          </a:blip>
          <a:srcRect b="0" l="0" r="0" t="0"/>
          <a:stretch/>
        </p:blipFill>
        <p:spPr>
          <a:xfrm>
            <a:off x="3810000" y="1"/>
            <a:ext cx="5334000" cy="6858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7"/>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F497A"/>
              </a:buClr>
              <a:buSzPts val="3600"/>
              <a:buFont typeface="Calibri"/>
              <a:buNone/>
            </a:pPr>
            <a:r>
              <a:rPr lang="en-US" sz="3600"/>
              <a:t>Wireless Security</a:t>
            </a:r>
            <a:endParaRPr sz="3600"/>
          </a:p>
        </p:txBody>
      </p:sp>
      <p:sp>
        <p:nvSpPr>
          <p:cNvPr id="140" name="Google Shape;140;p7"/>
          <p:cNvSpPr txBox="1"/>
          <p:nvPr>
            <p:ph idx="1" type="body"/>
          </p:nvPr>
        </p:nvSpPr>
        <p:spPr>
          <a:xfrm>
            <a:off x="152400" y="1600200"/>
            <a:ext cx="8839200" cy="50292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Wireless LAN Attacks</a:t>
            </a:r>
            <a:endParaRPr/>
          </a:p>
          <a:p>
            <a:pPr indent="-342900" lvl="0" marL="342900" rtl="0" algn="l">
              <a:spcBef>
                <a:spcPts val="560"/>
              </a:spcBef>
              <a:spcAft>
                <a:spcPts val="0"/>
              </a:spcAft>
              <a:buSzPts val="2800"/>
              <a:buChar char="•"/>
            </a:pPr>
            <a:r>
              <a:rPr lang="en-US" sz="2800"/>
              <a:t>Attacks through the RF spectrum</a:t>
            </a:r>
            <a:endParaRPr/>
          </a:p>
          <a:p>
            <a:pPr indent="-285750" lvl="1" marL="742950" rtl="0" algn="l">
              <a:spcBef>
                <a:spcPts val="480"/>
              </a:spcBef>
              <a:spcAft>
                <a:spcPts val="0"/>
              </a:spcAft>
              <a:buSzPts val="2400"/>
              <a:buChar char="–"/>
            </a:pPr>
            <a:r>
              <a:rPr lang="en-US" sz="2400"/>
              <a:t>Wireless protocol analyzer</a:t>
            </a:r>
            <a:endParaRPr/>
          </a:p>
          <a:p>
            <a:pPr indent="-285750" lvl="1" marL="742950" rtl="0" algn="l">
              <a:spcBef>
                <a:spcPts val="480"/>
              </a:spcBef>
              <a:spcAft>
                <a:spcPts val="0"/>
              </a:spcAft>
              <a:buSzPts val="2400"/>
              <a:buChar char="–"/>
            </a:pPr>
            <a:r>
              <a:rPr lang="en-US" sz="2400"/>
              <a:t>Generating interference</a:t>
            </a:r>
            <a:endParaRPr/>
          </a:p>
          <a:p>
            <a:pPr indent="-342900" lvl="0" marL="342900" rtl="0" algn="l">
              <a:spcBef>
                <a:spcPts val="560"/>
              </a:spcBef>
              <a:spcAft>
                <a:spcPts val="0"/>
              </a:spcAft>
              <a:buSzPts val="2800"/>
              <a:buChar char="•"/>
            </a:pPr>
            <a:r>
              <a:rPr lang="en-US" sz="2800"/>
              <a:t>Wireless protocol analyzer</a:t>
            </a:r>
            <a:endParaRPr/>
          </a:p>
          <a:p>
            <a:pPr indent="-285750" lvl="1" marL="742950" rtl="0" algn="l">
              <a:spcBef>
                <a:spcPts val="480"/>
              </a:spcBef>
              <a:spcAft>
                <a:spcPts val="0"/>
              </a:spcAft>
              <a:buSzPts val="2400"/>
              <a:buChar char="–"/>
            </a:pPr>
            <a:r>
              <a:rPr lang="en-US" sz="2400"/>
              <a:t>Wireless traffic captured to decode and analyze packet contents</a:t>
            </a:r>
            <a:endParaRPr/>
          </a:p>
          <a:p>
            <a:pPr indent="-285750" lvl="1" marL="742950" rtl="0" algn="l">
              <a:spcBef>
                <a:spcPts val="480"/>
              </a:spcBef>
              <a:spcAft>
                <a:spcPts val="0"/>
              </a:spcAft>
              <a:buSzPts val="2400"/>
              <a:buChar char="–"/>
            </a:pPr>
            <a:r>
              <a:rPr lang="en-US" sz="2400"/>
              <a:t>Network interface card (NIC) adapter must be in correct mode</a:t>
            </a:r>
            <a:endParaRPr/>
          </a:p>
          <a:p>
            <a:pPr indent="-228600" lvl="2" marL="1143000" rtl="0" algn="l">
              <a:spcBef>
                <a:spcPts val="400"/>
              </a:spcBef>
              <a:spcAft>
                <a:spcPts val="0"/>
              </a:spcAft>
              <a:buSzPts val="2000"/>
              <a:buChar char="•"/>
            </a:pPr>
            <a:r>
              <a:rPr lang="en-US" sz="2000"/>
              <a:t>E.g; Promiscuous mode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8"/>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F497A"/>
              </a:buClr>
              <a:buSzPts val="3600"/>
              <a:buFont typeface="Calibri"/>
              <a:buNone/>
            </a:pPr>
            <a:r>
              <a:rPr lang="en-US" sz="3600"/>
              <a:t>Wireless Security</a:t>
            </a:r>
            <a:endParaRPr sz="3600"/>
          </a:p>
        </p:txBody>
      </p:sp>
      <p:sp>
        <p:nvSpPr>
          <p:cNvPr id="147" name="Google Shape;147;p8"/>
          <p:cNvSpPr txBox="1"/>
          <p:nvPr>
            <p:ph idx="1" type="body"/>
          </p:nvPr>
        </p:nvSpPr>
        <p:spPr>
          <a:xfrm>
            <a:off x="152400" y="1600200"/>
            <a:ext cx="8839200" cy="50292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Wireless LAN Attacks</a:t>
            </a:r>
            <a:endParaRPr/>
          </a:p>
          <a:p>
            <a:pPr indent="-342900" lvl="0" marL="342900" rtl="0" algn="l">
              <a:spcBef>
                <a:spcPts val="560"/>
              </a:spcBef>
              <a:spcAft>
                <a:spcPts val="0"/>
              </a:spcAft>
              <a:buSzPts val="2800"/>
              <a:buChar char="•"/>
            </a:pPr>
            <a:r>
              <a:rPr lang="en-US" sz="2800"/>
              <a:t>Attacks using access points</a:t>
            </a:r>
            <a:endParaRPr/>
          </a:p>
          <a:p>
            <a:pPr indent="-285750" lvl="1" marL="742950" rtl="0" algn="l">
              <a:spcBef>
                <a:spcPts val="480"/>
              </a:spcBef>
              <a:spcAft>
                <a:spcPts val="0"/>
              </a:spcAft>
              <a:buSzPts val="2400"/>
              <a:buChar char="–"/>
            </a:pPr>
            <a:r>
              <a:rPr lang="en-US" sz="2400"/>
              <a:t>Rogue access points</a:t>
            </a:r>
            <a:endParaRPr/>
          </a:p>
          <a:p>
            <a:pPr indent="-285750" lvl="1" marL="742950" rtl="0" algn="l">
              <a:spcBef>
                <a:spcPts val="480"/>
              </a:spcBef>
              <a:spcAft>
                <a:spcPts val="0"/>
              </a:spcAft>
              <a:buSzPts val="2400"/>
              <a:buChar char="–"/>
            </a:pPr>
            <a:r>
              <a:rPr lang="en-US" sz="2400"/>
              <a:t>Evil twins</a:t>
            </a:r>
            <a:endParaRPr/>
          </a:p>
          <a:p>
            <a:pPr indent="-342900" lvl="0" marL="342900" rtl="0" algn="l">
              <a:spcBef>
                <a:spcPts val="560"/>
              </a:spcBef>
              <a:spcAft>
                <a:spcPts val="0"/>
              </a:spcAft>
              <a:buSzPts val="2800"/>
              <a:buChar char="•"/>
            </a:pPr>
            <a:r>
              <a:rPr lang="en-US" sz="2800"/>
              <a:t>Rogue access point</a:t>
            </a:r>
            <a:endParaRPr/>
          </a:p>
          <a:p>
            <a:pPr indent="-285750" lvl="1" marL="742950" rtl="0" algn="l">
              <a:spcBef>
                <a:spcPts val="480"/>
              </a:spcBef>
              <a:spcAft>
                <a:spcPts val="0"/>
              </a:spcAft>
              <a:buSzPts val="2400"/>
              <a:buChar char="–"/>
            </a:pPr>
            <a:r>
              <a:rPr lang="en-US" sz="2400"/>
              <a:t>Unauthorized access point that allows attacker to bypass network security configurations</a:t>
            </a:r>
            <a:endParaRPr/>
          </a:p>
          <a:p>
            <a:pPr indent="-285750" lvl="1" marL="742950" rtl="0" algn="l">
              <a:spcBef>
                <a:spcPts val="480"/>
              </a:spcBef>
              <a:spcAft>
                <a:spcPts val="0"/>
              </a:spcAft>
              <a:buSzPts val="2400"/>
              <a:buChar char="–"/>
            </a:pPr>
            <a:r>
              <a:rPr lang="en-US" sz="2400"/>
              <a:t>May be set up behind a firewall, opening the network to attacks</a:t>
            </a:r>
            <a:endParaRPr/>
          </a:p>
          <a:p>
            <a:pPr indent="-107950" lvl="1" marL="742950" rtl="0" algn="l">
              <a:spcBef>
                <a:spcPts val="560"/>
              </a:spcBef>
              <a:spcAft>
                <a:spcPts val="0"/>
              </a:spcAft>
              <a:buSzPts val="28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9"/>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F497A"/>
              </a:buClr>
              <a:buSzPts val="3600"/>
              <a:buFont typeface="Calibri"/>
              <a:buNone/>
            </a:pPr>
            <a:r>
              <a:rPr lang="en-US" sz="3600"/>
              <a:t>Wireless Security</a:t>
            </a:r>
            <a:endParaRPr sz="3600"/>
          </a:p>
        </p:txBody>
      </p:sp>
      <p:sp>
        <p:nvSpPr>
          <p:cNvPr id="154" name="Google Shape;154;p9"/>
          <p:cNvSpPr txBox="1"/>
          <p:nvPr>
            <p:ph idx="1" type="body"/>
          </p:nvPr>
        </p:nvSpPr>
        <p:spPr>
          <a:xfrm>
            <a:off x="152400" y="1600200"/>
            <a:ext cx="8839200" cy="50292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Wireless LAN Attacks</a:t>
            </a:r>
            <a:endParaRPr/>
          </a:p>
        </p:txBody>
      </p:sp>
      <p:pic>
        <p:nvPicPr>
          <p:cNvPr id="155" name="Google Shape;155;p9"/>
          <p:cNvPicPr preferRelativeResize="0"/>
          <p:nvPr/>
        </p:nvPicPr>
        <p:blipFill rotWithShape="1">
          <a:blip r:embed="rId3">
            <a:alphaModFix/>
          </a:blip>
          <a:srcRect b="0" l="0" r="0" t="0"/>
          <a:stretch/>
        </p:blipFill>
        <p:spPr>
          <a:xfrm>
            <a:off x="304800" y="2133600"/>
            <a:ext cx="7839075" cy="419576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0"/>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F497A"/>
              </a:buClr>
              <a:buSzPts val="3600"/>
              <a:buFont typeface="Calibri"/>
              <a:buNone/>
            </a:pPr>
            <a:r>
              <a:rPr lang="en-US" sz="3600"/>
              <a:t>Wireless Security</a:t>
            </a:r>
            <a:endParaRPr sz="3600"/>
          </a:p>
        </p:txBody>
      </p:sp>
      <p:sp>
        <p:nvSpPr>
          <p:cNvPr id="162" name="Google Shape;162;p10"/>
          <p:cNvSpPr txBox="1"/>
          <p:nvPr>
            <p:ph idx="1" type="body"/>
          </p:nvPr>
        </p:nvSpPr>
        <p:spPr>
          <a:xfrm>
            <a:off x="152400" y="1600200"/>
            <a:ext cx="8839200" cy="50292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Wireless LAN Attacks</a:t>
            </a:r>
            <a:endParaRPr/>
          </a:p>
          <a:p>
            <a:pPr indent="-342900" lvl="0" marL="342900" rtl="0" algn="l">
              <a:spcBef>
                <a:spcPts val="560"/>
              </a:spcBef>
              <a:spcAft>
                <a:spcPts val="0"/>
              </a:spcAft>
              <a:buSzPts val="2800"/>
              <a:buChar char="•"/>
            </a:pPr>
            <a:r>
              <a:rPr lang="en-US" sz="2800"/>
              <a:t>Evil twin</a:t>
            </a:r>
            <a:endParaRPr/>
          </a:p>
          <a:p>
            <a:pPr indent="-285750" lvl="1" marL="742950" rtl="0" algn="l">
              <a:spcBef>
                <a:spcPts val="480"/>
              </a:spcBef>
              <a:spcAft>
                <a:spcPts val="0"/>
              </a:spcAft>
              <a:buSzPts val="2400"/>
              <a:buChar char="–"/>
            </a:pPr>
            <a:r>
              <a:rPr lang="en-US" sz="2400"/>
              <a:t>AP set up by an attacker</a:t>
            </a:r>
            <a:endParaRPr/>
          </a:p>
          <a:p>
            <a:pPr indent="-285750" lvl="1" marL="742950" rtl="0" algn="l">
              <a:spcBef>
                <a:spcPts val="480"/>
              </a:spcBef>
              <a:spcAft>
                <a:spcPts val="0"/>
              </a:spcAft>
              <a:buSzPts val="2400"/>
              <a:buChar char="–"/>
            </a:pPr>
            <a:r>
              <a:rPr lang="en-US" sz="2400"/>
              <a:t>Attempts to copy or replica of an authorized AP</a:t>
            </a:r>
            <a:endParaRPr/>
          </a:p>
          <a:p>
            <a:pPr indent="-285750" lvl="1" marL="742950" rtl="0" algn="l">
              <a:spcBef>
                <a:spcPts val="480"/>
              </a:spcBef>
              <a:spcAft>
                <a:spcPts val="0"/>
              </a:spcAft>
              <a:buSzPts val="2400"/>
              <a:buChar char="–"/>
            </a:pPr>
            <a:r>
              <a:rPr lang="en-US" sz="2400"/>
              <a:t>Attackers capture transmissions from users to evil twin AP</a:t>
            </a:r>
            <a:endParaRPr/>
          </a:p>
          <a:p>
            <a:pPr indent="-133350" lvl="1" marL="742950" rtl="0" algn="l">
              <a:spcBef>
                <a:spcPts val="480"/>
              </a:spcBef>
              <a:spcAft>
                <a:spcPts val="0"/>
              </a:spcAft>
              <a:buSzPts val="2400"/>
              <a:buNone/>
            </a:pPr>
            <a:r>
              <a:t/>
            </a:r>
            <a:endParaRPr sz="2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1"/>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F497A"/>
              </a:buClr>
              <a:buSzPts val="3600"/>
              <a:buFont typeface="Calibri"/>
              <a:buNone/>
            </a:pPr>
            <a:r>
              <a:rPr lang="en-US" sz="3600"/>
              <a:t>Wireless Security</a:t>
            </a:r>
            <a:endParaRPr sz="3600"/>
          </a:p>
        </p:txBody>
      </p:sp>
      <p:sp>
        <p:nvSpPr>
          <p:cNvPr id="169" name="Google Shape;169;p11"/>
          <p:cNvSpPr txBox="1"/>
          <p:nvPr>
            <p:ph idx="1" type="body"/>
          </p:nvPr>
        </p:nvSpPr>
        <p:spPr>
          <a:xfrm>
            <a:off x="152400" y="1600200"/>
            <a:ext cx="8839200" cy="50292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Wireless LAN Attacks</a:t>
            </a:r>
            <a:endParaRPr/>
          </a:p>
          <a:p>
            <a:pPr indent="-342900" lvl="0" marL="342900" rtl="0" algn="l">
              <a:spcBef>
                <a:spcPts val="560"/>
              </a:spcBef>
              <a:spcAft>
                <a:spcPts val="0"/>
              </a:spcAft>
              <a:buSzPts val="2800"/>
              <a:buChar char="•"/>
            </a:pPr>
            <a:r>
              <a:rPr lang="en-US" sz="2800"/>
              <a:t>Six modes of wireless NICs</a:t>
            </a:r>
            <a:endParaRPr/>
          </a:p>
          <a:p>
            <a:pPr indent="-285750" lvl="1" marL="742950" rtl="0" algn="l">
              <a:spcBef>
                <a:spcPts val="480"/>
              </a:spcBef>
              <a:spcAft>
                <a:spcPts val="0"/>
              </a:spcAft>
              <a:buSzPts val="2400"/>
              <a:buChar char="–"/>
            </a:pPr>
            <a:r>
              <a:rPr lang="en-US" sz="2400"/>
              <a:t>Master (acting as an AP)</a:t>
            </a:r>
            <a:endParaRPr/>
          </a:p>
          <a:p>
            <a:pPr indent="-285750" lvl="1" marL="742950" rtl="0" algn="l">
              <a:spcBef>
                <a:spcPts val="480"/>
              </a:spcBef>
              <a:spcAft>
                <a:spcPts val="0"/>
              </a:spcAft>
              <a:buSzPts val="2400"/>
              <a:buChar char="–"/>
            </a:pPr>
            <a:r>
              <a:rPr lang="en-US" sz="2400"/>
              <a:t>Managed (client)</a:t>
            </a:r>
            <a:endParaRPr/>
          </a:p>
          <a:p>
            <a:pPr indent="-285750" lvl="1" marL="742950" rtl="0" algn="l">
              <a:spcBef>
                <a:spcPts val="480"/>
              </a:spcBef>
              <a:spcAft>
                <a:spcPts val="0"/>
              </a:spcAft>
              <a:buSzPts val="2400"/>
              <a:buChar char="–"/>
            </a:pPr>
            <a:r>
              <a:rPr lang="en-US" sz="2400"/>
              <a:t>Repeater</a:t>
            </a:r>
            <a:endParaRPr/>
          </a:p>
          <a:p>
            <a:pPr indent="-285750" lvl="1" marL="742950" rtl="0" algn="l">
              <a:spcBef>
                <a:spcPts val="480"/>
              </a:spcBef>
              <a:spcAft>
                <a:spcPts val="0"/>
              </a:spcAft>
              <a:buSzPts val="2400"/>
              <a:buChar char="–"/>
            </a:pPr>
            <a:r>
              <a:rPr lang="en-US" sz="2400"/>
              <a:t>Mesh</a:t>
            </a:r>
            <a:endParaRPr/>
          </a:p>
          <a:p>
            <a:pPr indent="-285750" lvl="1" marL="742950" rtl="0" algn="l">
              <a:spcBef>
                <a:spcPts val="480"/>
              </a:spcBef>
              <a:spcAft>
                <a:spcPts val="0"/>
              </a:spcAft>
              <a:buSzPts val="2400"/>
              <a:buChar char="–"/>
            </a:pPr>
            <a:r>
              <a:rPr lang="en-US" sz="2400"/>
              <a:t>Ad-hoc</a:t>
            </a:r>
            <a:endParaRPr/>
          </a:p>
          <a:p>
            <a:pPr indent="-285750" lvl="1" marL="742950" rtl="0" algn="l">
              <a:spcBef>
                <a:spcPts val="480"/>
              </a:spcBef>
              <a:spcAft>
                <a:spcPts val="0"/>
              </a:spcAft>
              <a:buSzPts val="2400"/>
              <a:buChar char="–"/>
            </a:pPr>
            <a:r>
              <a:rPr lang="en-US" sz="2400"/>
              <a:t>Monitor</a:t>
            </a:r>
            <a:endParaRPr/>
          </a:p>
          <a:p>
            <a:pPr indent="-342900" lvl="0" marL="342900" rtl="0" algn="l">
              <a:spcBef>
                <a:spcPts val="560"/>
              </a:spcBef>
              <a:spcAft>
                <a:spcPts val="0"/>
              </a:spcAft>
              <a:buSzPts val="2800"/>
              <a:buChar char="•"/>
            </a:pPr>
            <a:r>
              <a:rPr lang="en-US" sz="2800"/>
              <a:t>Interference</a:t>
            </a:r>
            <a:endParaRPr/>
          </a:p>
          <a:p>
            <a:pPr indent="-285750" lvl="1" marL="742950" rtl="0" algn="l">
              <a:spcBef>
                <a:spcPts val="480"/>
              </a:spcBef>
              <a:spcAft>
                <a:spcPts val="0"/>
              </a:spcAft>
              <a:buSzPts val="2400"/>
              <a:buChar char="–"/>
            </a:pPr>
            <a:r>
              <a:rPr lang="en-US" sz="2400"/>
              <a:t>Signals from other devices can disrupt wireless transmissions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2"/>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F497A"/>
              </a:buClr>
              <a:buSzPts val="3600"/>
              <a:buFont typeface="Calibri"/>
              <a:buNone/>
            </a:pPr>
            <a:r>
              <a:rPr lang="en-US" sz="3600"/>
              <a:t>Wireless Security</a:t>
            </a:r>
            <a:endParaRPr sz="3600"/>
          </a:p>
        </p:txBody>
      </p:sp>
      <p:pic>
        <p:nvPicPr>
          <p:cNvPr id="176" name="Google Shape;176;p12"/>
          <p:cNvPicPr preferRelativeResize="0"/>
          <p:nvPr>
            <p:ph idx="1" type="body"/>
          </p:nvPr>
        </p:nvPicPr>
        <p:blipFill rotWithShape="1">
          <a:blip r:embed="rId3">
            <a:alphaModFix/>
          </a:blip>
          <a:srcRect b="0" l="0" r="0" t="0"/>
          <a:stretch/>
        </p:blipFill>
        <p:spPr>
          <a:xfrm>
            <a:off x="210167" y="1752600"/>
            <a:ext cx="4375688" cy="48006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3"/>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F497A"/>
              </a:buClr>
              <a:buSzPts val="3600"/>
              <a:buFont typeface="Calibri"/>
              <a:buNone/>
            </a:pPr>
            <a:r>
              <a:rPr lang="en-US" sz="3600"/>
              <a:t>Wireless Security</a:t>
            </a:r>
            <a:endParaRPr sz="3600"/>
          </a:p>
        </p:txBody>
      </p:sp>
      <p:sp>
        <p:nvSpPr>
          <p:cNvPr id="183" name="Google Shape;183;p13"/>
          <p:cNvSpPr txBox="1"/>
          <p:nvPr>
            <p:ph idx="1" type="body"/>
          </p:nvPr>
        </p:nvSpPr>
        <p:spPr>
          <a:xfrm>
            <a:off x="152400" y="1600200"/>
            <a:ext cx="8839200" cy="50292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Wireless LAN Attacks</a:t>
            </a:r>
            <a:endParaRPr/>
          </a:p>
          <a:p>
            <a:pPr indent="-342900" lvl="0" marL="342900" rtl="0" algn="l">
              <a:spcBef>
                <a:spcPts val="560"/>
              </a:spcBef>
              <a:spcAft>
                <a:spcPts val="0"/>
              </a:spcAft>
              <a:buSzPts val="2800"/>
              <a:buChar char="•"/>
            </a:pPr>
            <a:r>
              <a:rPr lang="en-US" sz="2800"/>
              <a:t>Devices that can cause interference with a WLAN</a:t>
            </a:r>
            <a:endParaRPr/>
          </a:p>
          <a:p>
            <a:pPr indent="-285750" lvl="1" marL="742950" rtl="0" algn="l">
              <a:spcBef>
                <a:spcPts val="480"/>
              </a:spcBef>
              <a:spcAft>
                <a:spcPts val="0"/>
              </a:spcAft>
              <a:buSzPts val="2400"/>
              <a:buChar char="–"/>
            </a:pPr>
            <a:r>
              <a:rPr lang="en-US" sz="2400"/>
              <a:t>Microwave ovens</a:t>
            </a:r>
            <a:endParaRPr/>
          </a:p>
          <a:p>
            <a:pPr indent="-285750" lvl="1" marL="742950" rtl="0" algn="l">
              <a:spcBef>
                <a:spcPts val="480"/>
              </a:spcBef>
              <a:spcAft>
                <a:spcPts val="0"/>
              </a:spcAft>
              <a:buSzPts val="2400"/>
              <a:buChar char="–"/>
            </a:pPr>
            <a:r>
              <a:rPr lang="en-US" sz="2400"/>
              <a:t>Concrete Walls</a:t>
            </a:r>
            <a:endParaRPr/>
          </a:p>
          <a:p>
            <a:pPr indent="-285750" lvl="1" marL="742950" rtl="0" algn="l">
              <a:spcBef>
                <a:spcPts val="480"/>
              </a:spcBef>
              <a:spcAft>
                <a:spcPts val="0"/>
              </a:spcAft>
              <a:buSzPts val="2400"/>
              <a:buChar char="–"/>
            </a:pPr>
            <a:r>
              <a:rPr lang="en-US" sz="2400"/>
              <a:t>Theft protection devices</a:t>
            </a:r>
            <a:endParaRPr/>
          </a:p>
          <a:p>
            <a:pPr indent="-285750" lvl="1" marL="742950" rtl="0" algn="l">
              <a:spcBef>
                <a:spcPts val="480"/>
              </a:spcBef>
              <a:spcAft>
                <a:spcPts val="0"/>
              </a:spcAft>
              <a:buSzPts val="2400"/>
              <a:buChar char="–"/>
            </a:pPr>
            <a:r>
              <a:rPr lang="en-US" sz="2400"/>
              <a:t>Bluetooth devices</a:t>
            </a:r>
            <a:endParaRPr/>
          </a:p>
          <a:p>
            <a:pPr indent="-285750" lvl="1" marL="742950" rtl="0" algn="l">
              <a:spcBef>
                <a:spcPts val="480"/>
              </a:spcBef>
              <a:spcAft>
                <a:spcPts val="0"/>
              </a:spcAft>
              <a:buSzPts val="2400"/>
              <a:buChar char="–"/>
            </a:pPr>
            <a:r>
              <a:rPr lang="en-US" sz="2400"/>
              <a:t>Separate Wireless Networks in Your Own Home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4"/>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F497A"/>
              </a:buClr>
              <a:buSzPts val="3600"/>
              <a:buFont typeface="Calibri"/>
              <a:buNone/>
            </a:pPr>
            <a:r>
              <a:rPr lang="en-US" sz="3600"/>
              <a:t>Wireless Security</a:t>
            </a:r>
            <a:endParaRPr sz="3600"/>
          </a:p>
        </p:txBody>
      </p:sp>
      <p:sp>
        <p:nvSpPr>
          <p:cNvPr id="190" name="Google Shape;190;p14"/>
          <p:cNvSpPr txBox="1"/>
          <p:nvPr>
            <p:ph idx="1" type="body"/>
          </p:nvPr>
        </p:nvSpPr>
        <p:spPr>
          <a:xfrm>
            <a:off x="152400" y="1600200"/>
            <a:ext cx="8839200" cy="50292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Wireless LAN Attacks</a:t>
            </a:r>
            <a:endParaRPr/>
          </a:p>
        </p:txBody>
      </p:sp>
      <p:pic>
        <p:nvPicPr>
          <p:cNvPr id="191" name="Google Shape;191;p14"/>
          <p:cNvPicPr preferRelativeResize="0"/>
          <p:nvPr/>
        </p:nvPicPr>
        <p:blipFill rotWithShape="1">
          <a:blip r:embed="rId3">
            <a:alphaModFix/>
          </a:blip>
          <a:srcRect b="0" l="0" r="0" t="0"/>
          <a:stretch/>
        </p:blipFill>
        <p:spPr>
          <a:xfrm>
            <a:off x="304800" y="2242936"/>
            <a:ext cx="7862970" cy="438646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5"/>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F497A"/>
              </a:buClr>
              <a:buSzPts val="3600"/>
              <a:buFont typeface="Calibri"/>
              <a:buNone/>
            </a:pPr>
            <a:r>
              <a:rPr lang="en-US" sz="3600"/>
              <a:t>Wireless Security</a:t>
            </a:r>
            <a:endParaRPr sz="3600"/>
          </a:p>
        </p:txBody>
      </p:sp>
      <p:sp>
        <p:nvSpPr>
          <p:cNvPr id="198" name="Google Shape;198;p15"/>
          <p:cNvSpPr txBox="1"/>
          <p:nvPr>
            <p:ph idx="1" type="body"/>
          </p:nvPr>
        </p:nvSpPr>
        <p:spPr>
          <a:xfrm>
            <a:off x="152400" y="1600200"/>
            <a:ext cx="8839200" cy="50292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Securing Wireless Networks</a:t>
            </a:r>
            <a:endParaRPr/>
          </a:p>
          <a:p>
            <a:pPr indent="-342900" lvl="0" marL="342900" rtl="0" algn="l">
              <a:spcBef>
                <a:spcPts val="560"/>
              </a:spcBef>
              <a:spcAft>
                <a:spcPts val="0"/>
              </a:spcAft>
              <a:buSzPts val="2800"/>
              <a:buChar char="•"/>
            </a:pPr>
            <a:r>
              <a:rPr lang="en-US" sz="2800"/>
              <a:t>Use encryption</a:t>
            </a:r>
            <a:endParaRPr/>
          </a:p>
          <a:p>
            <a:pPr indent="-342900" lvl="0" marL="342900" rtl="0" algn="l">
              <a:spcBef>
                <a:spcPts val="560"/>
              </a:spcBef>
              <a:spcAft>
                <a:spcPts val="0"/>
              </a:spcAft>
              <a:buSzPts val="2800"/>
              <a:buChar char="•"/>
            </a:pPr>
            <a:r>
              <a:rPr lang="en-US" sz="2800"/>
              <a:t>Apply MAC-filtering</a:t>
            </a:r>
            <a:endParaRPr/>
          </a:p>
          <a:p>
            <a:pPr indent="-342900" lvl="0" marL="342900" rtl="0" algn="l">
              <a:spcBef>
                <a:spcPts val="560"/>
              </a:spcBef>
              <a:spcAft>
                <a:spcPts val="0"/>
              </a:spcAft>
              <a:buSzPts val="2800"/>
              <a:buChar char="•"/>
            </a:pPr>
            <a:r>
              <a:rPr lang="en-US" sz="2800"/>
              <a:t>Use and enable anti-virus, anti-spyware, firewall</a:t>
            </a:r>
            <a:endParaRPr/>
          </a:p>
          <a:p>
            <a:pPr indent="-342900" lvl="0" marL="342900" rtl="0" algn="l">
              <a:spcBef>
                <a:spcPts val="560"/>
              </a:spcBef>
              <a:spcAft>
                <a:spcPts val="0"/>
              </a:spcAft>
              <a:buSzPts val="2800"/>
              <a:buChar char="•"/>
            </a:pPr>
            <a:r>
              <a:rPr lang="en-US" sz="2800"/>
              <a:t>Turn off SSID broadcasting</a:t>
            </a:r>
            <a:endParaRPr/>
          </a:p>
          <a:p>
            <a:pPr indent="-342900" lvl="0" marL="342900" rtl="0" algn="l">
              <a:spcBef>
                <a:spcPts val="560"/>
              </a:spcBef>
              <a:spcAft>
                <a:spcPts val="0"/>
              </a:spcAft>
              <a:buSzPts val="2800"/>
              <a:buChar char="•"/>
            </a:pPr>
            <a:r>
              <a:rPr lang="en-US" sz="2800"/>
              <a:t>Change default identifier on router </a:t>
            </a:r>
            <a:endParaRPr/>
          </a:p>
          <a:p>
            <a:pPr indent="-342900" lvl="0" marL="342900" rtl="0" algn="l">
              <a:spcBef>
                <a:spcPts val="560"/>
              </a:spcBef>
              <a:spcAft>
                <a:spcPts val="0"/>
              </a:spcAft>
              <a:buSzPts val="2800"/>
              <a:buChar char="•"/>
            </a:pPr>
            <a:r>
              <a:rPr lang="en-US" sz="2800"/>
              <a:t>Change router’s present password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6"/>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F497A"/>
              </a:buClr>
              <a:buSzPts val="3600"/>
              <a:buFont typeface="Calibri"/>
              <a:buNone/>
            </a:pPr>
            <a:r>
              <a:rPr lang="en-US" sz="3600"/>
              <a:t>Wireless Security</a:t>
            </a:r>
            <a:endParaRPr sz="3600"/>
          </a:p>
        </p:txBody>
      </p:sp>
      <p:sp>
        <p:nvSpPr>
          <p:cNvPr id="205" name="Google Shape;205;p16"/>
          <p:cNvSpPr txBox="1"/>
          <p:nvPr>
            <p:ph idx="1" type="body"/>
          </p:nvPr>
        </p:nvSpPr>
        <p:spPr>
          <a:xfrm>
            <a:off x="152400" y="1600200"/>
            <a:ext cx="8839200" cy="50292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Securing Wireless Networks: MAC Address Filtering</a:t>
            </a:r>
            <a:endParaRPr/>
          </a:p>
          <a:p>
            <a:pPr indent="-342900" lvl="0" marL="342900" rtl="0" algn="l">
              <a:spcBef>
                <a:spcPts val="560"/>
              </a:spcBef>
              <a:spcAft>
                <a:spcPts val="0"/>
              </a:spcAft>
              <a:buSzPts val="2800"/>
              <a:buChar char="•"/>
            </a:pPr>
            <a:r>
              <a:rPr lang="en-US" sz="2800"/>
              <a:t>Method of controlling WLAN access</a:t>
            </a:r>
            <a:endParaRPr/>
          </a:p>
          <a:p>
            <a:pPr indent="-285750" lvl="1" marL="742950" rtl="0" algn="l">
              <a:spcBef>
                <a:spcPts val="480"/>
              </a:spcBef>
              <a:spcAft>
                <a:spcPts val="0"/>
              </a:spcAft>
              <a:buSzPts val="2400"/>
              <a:buChar char="–"/>
            </a:pPr>
            <a:r>
              <a:rPr lang="en-US" sz="2400"/>
              <a:t>Limit a device’s access to AP</a:t>
            </a:r>
            <a:endParaRPr/>
          </a:p>
          <a:p>
            <a:pPr indent="-342900" lvl="0" marL="342900" rtl="0" algn="l">
              <a:spcBef>
                <a:spcPts val="560"/>
              </a:spcBef>
              <a:spcAft>
                <a:spcPts val="0"/>
              </a:spcAft>
              <a:buSzPts val="2800"/>
              <a:buChar char="•"/>
            </a:pPr>
            <a:r>
              <a:rPr lang="en-US" sz="2800"/>
              <a:t>Media Access Control (MAC) address filtering</a:t>
            </a:r>
            <a:endParaRPr/>
          </a:p>
          <a:p>
            <a:pPr indent="-285750" lvl="1" marL="742950" rtl="0" algn="l">
              <a:spcBef>
                <a:spcPts val="480"/>
              </a:spcBef>
              <a:spcAft>
                <a:spcPts val="0"/>
              </a:spcAft>
              <a:buSzPts val="2400"/>
              <a:buChar char="–"/>
            </a:pPr>
            <a:r>
              <a:rPr lang="en-US" sz="2400"/>
              <a:t>Used by nearly all wireless AP vendors</a:t>
            </a:r>
            <a:endParaRPr/>
          </a:p>
          <a:p>
            <a:pPr indent="-285750" lvl="1" marL="742950" rtl="0" algn="l">
              <a:spcBef>
                <a:spcPts val="480"/>
              </a:spcBef>
              <a:spcAft>
                <a:spcPts val="0"/>
              </a:spcAft>
              <a:buSzPts val="2400"/>
              <a:buChar char="–"/>
            </a:pPr>
            <a:r>
              <a:rPr lang="en-US" sz="2400"/>
              <a:t>Permits or blocks device based on MAC address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7"/>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F497A"/>
              </a:buClr>
              <a:buSzPts val="3600"/>
              <a:buFont typeface="Calibri"/>
              <a:buNone/>
            </a:pPr>
            <a:r>
              <a:rPr lang="en-US" sz="3600"/>
              <a:t>Wireless Security</a:t>
            </a:r>
            <a:endParaRPr sz="3600"/>
          </a:p>
        </p:txBody>
      </p:sp>
      <p:sp>
        <p:nvSpPr>
          <p:cNvPr id="212" name="Google Shape;212;p17"/>
          <p:cNvSpPr txBox="1"/>
          <p:nvPr>
            <p:ph idx="1" type="body"/>
          </p:nvPr>
        </p:nvSpPr>
        <p:spPr>
          <a:xfrm>
            <a:off x="152400" y="1600200"/>
            <a:ext cx="8839200" cy="50292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Securing Wireless Networks: MAC Address Filtering</a:t>
            </a:r>
            <a:endParaRPr/>
          </a:p>
          <a:p>
            <a:pPr indent="-342900" lvl="0" marL="342900" rtl="0" algn="l">
              <a:spcBef>
                <a:spcPts val="560"/>
              </a:spcBef>
              <a:spcAft>
                <a:spcPts val="0"/>
              </a:spcAft>
              <a:buSzPts val="2800"/>
              <a:buChar char="•"/>
            </a:pPr>
            <a:r>
              <a:rPr lang="en-US" sz="2800"/>
              <a:t>Vulnerabilities of MAC address filtering</a:t>
            </a:r>
            <a:endParaRPr/>
          </a:p>
          <a:p>
            <a:pPr indent="-285750" lvl="1" marL="742950" rtl="0" algn="l">
              <a:spcBef>
                <a:spcPts val="480"/>
              </a:spcBef>
              <a:spcAft>
                <a:spcPts val="0"/>
              </a:spcAft>
              <a:buSzPts val="2400"/>
              <a:buChar char="–"/>
            </a:pPr>
            <a:r>
              <a:rPr lang="en-US" sz="2400"/>
              <a:t>Addresses exchanged in unencrypted format</a:t>
            </a:r>
            <a:endParaRPr/>
          </a:p>
          <a:p>
            <a:pPr indent="-285750" lvl="1" marL="742950" rtl="0" algn="l">
              <a:spcBef>
                <a:spcPts val="480"/>
              </a:spcBef>
              <a:spcAft>
                <a:spcPts val="0"/>
              </a:spcAft>
              <a:buSzPts val="2400"/>
              <a:buChar char="–"/>
            </a:pPr>
            <a:r>
              <a:rPr lang="en-US" sz="2400"/>
              <a:t>Attacker can see address of approved device and substitute it on his own device</a:t>
            </a:r>
            <a:endParaRPr/>
          </a:p>
          <a:p>
            <a:pPr indent="-285750" lvl="1" marL="742950" rtl="0" algn="l">
              <a:spcBef>
                <a:spcPts val="480"/>
              </a:spcBef>
              <a:spcAft>
                <a:spcPts val="0"/>
              </a:spcAft>
              <a:buSzPts val="2400"/>
              <a:buChar char="–"/>
            </a:pPr>
            <a:r>
              <a:rPr lang="en-US" sz="2400"/>
              <a:t>Managing large number of addresses is challenging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8"/>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5F497A"/>
              </a:buClr>
              <a:buSzPts val="3600"/>
              <a:buFont typeface="Calibri"/>
              <a:buNone/>
            </a:pPr>
            <a:r>
              <a:rPr lang="en-US" sz="3600"/>
              <a:t>Wireless Security</a:t>
            </a:r>
            <a:endParaRPr sz="3600"/>
          </a:p>
        </p:txBody>
      </p:sp>
      <p:sp>
        <p:nvSpPr>
          <p:cNvPr id="219" name="Google Shape;219;p18"/>
          <p:cNvSpPr txBox="1"/>
          <p:nvPr>
            <p:ph idx="1" type="body"/>
          </p:nvPr>
        </p:nvSpPr>
        <p:spPr>
          <a:xfrm>
            <a:off x="152400" y="1600200"/>
            <a:ext cx="8839200" cy="50292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Securing Wireless Networks: MAC Address Filtering</a:t>
            </a:r>
            <a:endParaRPr/>
          </a:p>
          <a:p>
            <a:pPr indent="0" lvl="0" marL="0" rtl="0" algn="l">
              <a:spcBef>
                <a:spcPts val="560"/>
              </a:spcBef>
              <a:spcAft>
                <a:spcPts val="0"/>
              </a:spcAft>
              <a:buSzPts val="2800"/>
              <a:buNone/>
            </a:pPr>
            <a:r>
              <a:t/>
            </a:r>
            <a:endParaRPr b="1" sz="2800"/>
          </a:p>
        </p:txBody>
      </p:sp>
      <p:pic>
        <p:nvPicPr>
          <p:cNvPr id="220" name="Google Shape;220;p18"/>
          <p:cNvPicPr preferRelativeResize="0"/>
          <p:nvPr/>
        </p:nvPicPr>
        <p:blipFill rotWithShape="1">
          <a:blip r:embed="rId3">
            <a:alphaModFix/>
          </a:blip>
          <a:srcRect b="0" l="0" r="0" t="0"/>
          <a:stretch/>
        </p:blipFill>
        <p:spPr>
          <a:xfrm>
            <a:off x="228600" y="2286000"/>
            <a:ext cx="8598411" cy="3048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2017-01-30T04:28:05Z</dcterms:created>
</cp:coreProperties>
</file>