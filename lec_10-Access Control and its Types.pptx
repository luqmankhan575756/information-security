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9144000"/>
  <p:notesSz cx="6858000" cy="9144000"/>
  <p:embeddedFontLst>
    <p:embeddedFont>
      <p:font typeface="Arial Black"/>
      <p:regular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6" roundtripDataSignature="AMtx7mjcEjJ/n4Uh4JBo3i04m8tx4pNh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ArialBlack-regular.fntdata"/><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9" name="Google Shape;9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6" name="Google Shape;10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3" name="Google Shape;11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sz="1200"/>
              <a:t>Likelihood: </a:t>
            </a:r>
            <a:r>
              <a:rPr b="0" lang="en-US" sz="1200"/>
              <a:t>Chance, possibility</a:t>
            </a:r>
            <a:endParaRPr/>
          </a:p>
          <a:p>
            <a:pPr indent="0" lvl="0" marL="0" rtl="0" algn="l">
              <a:spcBef>
                <a:spcPts val="0"/>
              </a:spcBef>
              <a:spcAft>
                <a:spcPts val="0"/>
              </a:spcAft>
              <a:buNone/>
            </a:pPr>
            <a:r>
              <a:rPr b="1" lang="en-US" sz="1200"/>
              <a:t>Exploit: </a:t>
            </a:r>
            <a:r>
              <a:rPr b="0" lang="en-US" sz="1200"/>
              <a:t>Utilize, use</a:t>
            </a:r>
            <a:endParaRPr/>
          </a:p>
          <a:p>
            <a:pPr indent="0" lvl="0" marL="0" rtl="0" algn="l">
              <a:spcBef>
                <a:spcPts val="0"/>
              </a:spcBef>
              <a:spcAft>
                <a:spcPts val="0"/>
              </a:spcAft>
              <a:buNone/>
            </a:pPr>
            <a:r>
              <a:rPr b="0" lang="en-US" sz="1200"/>
              <a:t> </a:t>
            </a:r>
            <a:endParaRPr b="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a:t>Signs like “Restricted Area”</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Benefit #2 Sensitive information is kept in control:</a:t>
            </a:r>
            <a:br>
              <a:rPr b="1" lang="en-US"/>
            </a:br>
            <a:r>
              <a:rPr lang="en-US"/>
              <a:t>The most obvious benefit of a clean desk policy is that you will control sensitive information from lying around for all to see. Periphery items, like USB keys, should be locked away at the end of each day, preventing opportunist theft of data. Printers should be checked to make sure documents are not left on or beside the printer. Meeting rooms should be cleared out at the end of each meeting and double-checked at the end of the day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1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1"/>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1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0" name="Google Shape;20;p11"/>
          <p:cNvSpPr txBox="1"/>
          <p:nvPr>
            <p:ph idx="2" type="body"/>
          </p:nvPr>
        </p:nvSpPr>
        <p:spPr>
          <a:xfrm>
            <a:off x="152400" y="6400800"/>
            <a:ext cx="1676400" cy="4572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 name="Google Shape;21;p11"/>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22" name="Shape 22"/>
        <p:cNvGrpSpPr/>
        <p:nvPr/>
      </p:nvGrpSpPr>
      <p:grpSpPr>
        <a:xfrm>
          <a:off x="0" y="0"/>
          <a:ext cx="0" cy="0"/>
          <a:chOff x="0" y="0"/>
          <a:chExt cx="0" cy="0"/>
        </a:xfrm>
      </p:grpSpPr>
      <p:sp>
        <p:nvSpPr>
          <p:cNvPr id="23" name="Google Shape;23;p12"/>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2"/>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1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12"/>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2"/>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1200" u="none" cap="none" strike="noStrike">
                <a:solidFill>
                  <a:srgbClr val="EEEBCA"/>
                </a:solidFill>
                <a:latin typeface="Calibri"/>
                <a:ea typeface="Calibri"/>
                <a:cs typeface="Calibri"/>
                <a:sym typeface="Calibri"/>
              </a:defRPr>
            </a:lvl1pPr>
            <a:lvl2pPr indent="0" lvl="1" marL="0" algn="ctr">
              <a:spcBef>
                <a:spcPts val="0"/>
              </a:spcBef>
              <a:buNone/>
              <a:defRPr b="1" i="0" sz="1200" u="none" cap="none" strike="noStrike">
                <a:solidFill>
                  <a:srgbClr val="EEEBCA"/>
                </a:solidFill>
                <a:latin typeface="Calibri"/>
                <a:ea typeface="Calibri"/>
                <a:cs typeface="Calibri"/>
                <a:sym typeface="Calibri"/>
              </a:defRPr>
            </a:lvl2pPr>
            <a:lvl3pPr indent="0" lvl="2" marL="0" algn="ctr">
              <a:spcBef>
                <a:spcPts val="0"/>
              </a:spcBef>
              <a:buNone/>
              <a:defRPr b="1" i="0" sz="1200" u="none" cap="none" strike="noStrike">
                <a:solidFill>
                  <a:srgbClr val="EEEBCA"/>
                </a:solidFill>
                <a:latin typeface="Calibri"/>
                <a:ea typeface="Calibri"/>
                <a:cs typeface="Calibri"/>
                <a:sym typeface="Calibri"/>
              </a:defRPr>
            </a:lvl3pPr>
            <a:lvl4pPr indent="0" lvl="3" marL="0" algn="ctr">
              <a:spcBef>
                <a:spcPts val="0"/>
              </a:spcBef>
              <a:buNone/>
              <a:defRPr b="1" i="0" sz="1200" u="none" cap="none" strike="noStrike">
                <a:solidFill>
                  <a:srgbClr val="EEEBCA"/>
                </a:solidFill>
                <a:latin typeface="Calibri"/>
                <a:ea typeface="Calibri"/>
                <a:cs typeface="Calibri"/>
                <a:sym typeface="Calibri"/>
              </a:defRPr>
            </a:lvl4pPr>
            <a:lvl5pPr indent="0" lvl="4" marL="0" algn="ctr">
              <a:spcBef>
                <a:spcPts val="0"/>
              </a:spcBef>
              <a:buNone/>
              <a:defRPr b="1" i="0" sz="1200" u="none" cap="none" strike="noStrike">
                <a:solidFill>
                  <a:srgbClr val="EEEBCA"/>
                </a:solidFill>
                <a:latin typeface="Calibri"/>
                <a:ea typeface="Calibri"/>
                <a:cs typeface="Calibri"/>
                <a:sym typeface="Calibri"/>
              </a:defRPr>
            </a:lvl5pPr>
            <a:lvl6pPr indent="0" lvl="5" marL="0" algn="ctr">
              <a:spcBef>
                <a:spcPts val="0"/>
              </a:spcBef>
              <a:buNone/>
              <a:defRPr b="1" i="0" sz="1200" u="none" cap="none" strike="noStrike">
                <a:solidFill>
                  <a:srgbClr val="EEEBCA"/>
                </a:solidFill>
                <a:latin typeface="Calibri"/>
                <a:ea typeface="Calibri"/>
                <a:cs typeface="Calibri"/>
                <a:sym typeface="Calibri"/>
              </a:defRPr>
            </a:lvl6pPr>
            <a:lvl7pPr indent="0" lvl="6" marL="0" algn="ctr">
              <a:spcBef>
                <a:spcPts val="0"/>
              </a:spcBef>
              <a:buNone/>
              <a:defRPr b="1" i="0" sz="1200" u="none" cap="none" strike="noStrike">
                <a:solidFill>
                  <a:srgbClr val="EEEBCA"/>
                </a:solidFill>
                <a:latin typeface="Calibri"/>
                <a:ea typeface="Calibri"/>
                <a:cs typeface="Calibri"/>
                <a:sym typeface="Calibri"/>
              </a:defRPr>
            </a:lvl7pPr>
            <a:lvl8pPr indent="0" lvl="7" marL="0" algn="ctr">
              <a:spcBef>
                <a:spcPts val="0"/>
              </a:spcBef>
              <a:buNone/>
              <a:defRPr b="1" i="0" sz="1200" u="none" cap="none" strike="noStrike">
                <a:solidFill>
                  <a:srgbClr val="EEEBCA"/>
                </a:solidFill>
                <a:latin typeface="Calibri"/>
                <a:ea typeface="Calibri"/>
                <a:cs typeface="Calibri"/>
                <a:sym typeface="Calibri"/>
              </a:defRPr>
            </a:lvl8pPr>
            <a:lvl9pPr indent="0" lvl="8" marL="0" algn="ctr">
              <a:spcBef>
                <a:spcPts val="0"/>
              </a:spcBef>
              <a:buNone/>
              <a:defRPr b="1" i="0" sz="1200" u="none" cap="none" strike="noStrike">
                <a:solidFill>
                  <a:srgbClr val="EEEBCA"/>
                </a:solidFill>
                <a:latin typeface="Calibri"/>
                <a:ea typeface="Calibri"/>
                <a:cs typeface="Calibri"/>
                <a:sym typeface="Calibri"/>
              </a:defRPr>
            </a:lvl9pPr>
          </a:lstStyle>
          <a:p>
            <a:pPr indent="0" lvl="0" marL="0" rtl="0" algn="ct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13"/>
          <p:cNvSpPr txBox="1"/>
          <p:nvPr/>
        </p:nvSpPr>
        <p:spPr>
          <a:xfrm>
            <a:off x="1219200" y="5486400"/>
            <a:ext cx="3581400" cy="685800"/>
          </a:xfrm>
          <a:prstGeom prst="rect">
            <a:avLst/>
          </a:prstGeom>
          <a:noFill/>
          <a:ln>
            <a:noFill/>
          </a:ln>
        </p:spPr>
        <p:txBody>
          <a:bodyPr anchorCtr="0" anchor="ctr" bIns="45700" lIns="91425" spcFirstLastPara="1" rIns="91425" wrap="square" tIns="45700">
            <a:normAutofit lnSpcReduction="10000"/>
          </a:bodyPr>
          <a:lstStyle/>
          <a:p>
            <a:pPr indent="0" lvl="0" marL="0" marR="0" rtl="0" algn="ctr">
              <a:lnSpc>
                <a:spcPct val="100000"/>
              </a:lnSpc>
              <a:spcBef>
                <a:spcPts val="0"/>
              </a:spcBef>
              <a:spcAft>
                <a:spcPts val="0"/>
              </a:spcAft>
              <a:buClr>
                <a:schemeClr val="dk1"/>
              </a:buClr>
              <a:buSzPts val="2000"/>
              <a:buFont typeface="Arial Black"/>
              <a:buNone/>
            </a:pPr>
            <a:r>
              <a:rPr b="0" i="0" lang="en-US" sz="2000" u="none" cap="none" strike="noStrike">
                <a:solidFill>
                  <a:schemeClr val="dk1"/>
                </a:solidFill>
                <a:latin typeface="Arial Black"/>
                <a:ea typeface="Arial Black"/>
                <a:cs typeface="Arial Black"/>
                <a:sym typeface="Arial Black"/>
              </a:rPr>
              <a:t>Your Interactive Guide to the Digital World</a:t>
            </a:r>
            <a:endParaRPr/>
          </a:p>
        </p:txBody>
      </p:sp>
      <p:sp>
        <p:nvSpPr>
          <p:cNvPr id="30" name="Google Shape;30;p13"/>
          <p:cNvSpPr/>
          <p:nvPr/>
        </p:nvSpPr>
        <p:spPr>
          <a:xfrm>
            <a:off x="0" y="4267200"/>
            <a:ext cx="487680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Arial Black"/>
                <a:ea typeface="Arial Black"/>
                <a:cs typeface="Arial Black"/>
                <a:sym typeface="Arial Black"/>
              </a:rPr>
              <a:t>Discovering </a:t>
            </a:r>
            <a:br>
              <a:rPr b="0" i="0" lang="en-US" sz="3200" u="none" cap="none" strike="noStrike">
                <a:solidFill>
                  <a:schemeClr val="dk1"/>
                </a:solidFill>
                <a:latin typeface="Arial Black"/>
                <a:ea typeface="Arial Black"/>
                <a:cs typeface="Arial Black"/>
                <a:sym typeface="Arial Black"/>
              </a:rPr>
            </a:br>
            <a:r>
              <a:rPr b="0" i="0" lang="en-US" sz="3200" u="none" cap="none" strike="noStrike">
                <a:solidFill>
                  <a:schemeClr val="dk1"/>
                </a:solidFill>
                <a:latin typeface="Arial Black"/>
                <a:ea typeface="Arial Black"/>
                <a:cs typeface="Arial Black"/>
                <a:sym typeface="Arial Black"/>
              </a:rPr>
              <a:t>	Computers 2012</a:t>
            </a:r>
            <a:endParaRPr/>
          </a:p>
        </p:txBody>
      </p:sp>
      <p:pic>
        <p:nvPicPr>
          <p:cNvPr id="31" name="Google Shape;31;p13"/>
          <p:cNvPicPr preferRelativeResize="0"/>
          <p:nvPr/>
        </p:nvPicPr>
        <p:blipFill rotWithShape="1">
          <a:blip r:embed="rId2">
            <a:alphaModFix/>
          </a:blip>
          <a:srcRect b="0" l="0" r="0" t="0"/>
          <a:stretch/>
        </p:blipFill>
        <p:spPr>
          <a:xfrm>
            <a:off x="5186606" y="3276600"/>
            <a:ext cx="3957394" cy="3581400"/>
          </a:xfrm>
          <a:prstGeom prst="rect">
            <a:avLst/>
          </a:prstGeom>
          <a:noFill/>
          <a:ln>
            <a:noFill/>
          </a:ln>
        </p:spPr>
      </p:pic>
      <p:pic>
        <p:nvPicPr>
          <p:cNvPr id="32" name="Google Shape;32;p13"/>
          <p:cNvPicPr preferRelativeResize="0"/>
          <p:nvPr/>
        </p:nvPicPr>
        <p:blipFill rotWithShape="1">
          <a:blip r:embed="rId3">
            <a:alphaModFix/>
          </a:blip>
          <a:srcRect b="0" l="0" r="0" t="0"/>
          <a:stretch/>
        </p:blipFill>
        <p:spPr>
          <a:xfrm>
            <a:off x="0" y="0"/>
            <a:ext cx="9144000" cy="3235890"/>
          </a:xfrm>
          <a:prstGeom prst="rect">
            <a:avLst/>
          </a:prstGeom>
          <a:noFill/>
          <a:ln>
            <a:noFill/>
          </a:ln>
          <a:effectLst>
            <a:outerShdw blurRad="292100" rotWithShape="0" algn="tl" dir="2700000" dist="139700">
              <a:srgbClr val="333333">
                <a:alpha val="64705"/>
              </a:srgbClr>
            </a:outerShdw>
          </a:effectLst>
        </p:spPr>
      </p:pic>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5F497A"/>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sz="2000">
                <a:solidFill>
                  <a:srgbClr val="888888"/>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6" name="Google Shape;36;p1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14"/>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9" name="Shape 39"/>
        <p:cNvGrpSpPr/>
        <p:nvPr/>
      </p:nvGrpSpPr>
      <p:grpSpPr>
        <a:xfrm>
          <a:off x="0" y="0"/>
          <a:ext cx="0" cy="0"/>
          <a:chOff x="0" y="0"/>
          <a:chExt cx="0" cy="0"/>
        </a:xfrm>
      </p:grpSpPr>
      <p:sp>
        <p:nvSpPr>
          <p:cNvPr id="40" name="Google Shape;40;p15"/>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15"/>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5"/>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5"/>
          <p:cNvSpPr txBox="1"/>
          <p:nvPr>
            <p:ph idx="3" type="body"/>
          </p:nvPr>
        </p:nvSpPr>
        <p:spPr>
          <a:xfrm>
            <a:off x="152400" y="6400800"/>
            <a:ext cx="1676400" cy="3048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6" name="Shape 46"/>
        <p:cNvGrpSpPr/>
        <p:nvPr/>
      </p:nvGrpSpPr>
      <p:grpSpPr>
        <a:xfrm>
          <a:off x="0" y="0"/>
          <a:ext cx="0" cy="0"/>
          <a:chOff x="0" y="0"/>
          <a:chExt cx="0" cy="0"/>
        </a:xfrm>
      </p:grpSpPr>
      <p:sp>
        <p:nvSpPr>
          <p:cNvPr id="47" name="Google Shape;47;p16"/>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16"/>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16"/>
          <p:cNvSpPr txBox="1"/>
          <p:nvPr>
            <p:ph idx="5" type="body"/>
          </p:nvPr>
        </p:nvSpPr>
        <p:spPr>
          <a:xfrm>
            <a:off x="152400" y="6400800"/>
            <a:ext cx="1676400" cy="3048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7"/>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17"/>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8"/>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8"/>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F497A"/>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SzPts val="3200"/>
              <a:buChar char="•"/>
              <a:defRPr sz="3200"/>
            </a:lvl1pPr>
            <a:lvl2pPr indent="-406400" lvl="1" marL="914400" algn="l">
              <a:spcBef>
                <a:spcPts val="560"/>
              </a:spcBef>
              <a:spcAft>
                <a:spcPts val="0"/>
              </a:spcAft>
              <a:buSzPts val="2800"/>
              <a:buChar char="–"/>
              <a:defRPr sz="2800"/>
            </a:lvl2pPr>
            <a:lvl3pPr indent="-381000" lvl="2" marL="1371600" algn="l">
              <a:spcBef>
                <a:spcPts val="480"/>
              </a:spcBef>
              <a:spcAft>
                <a:spcPts val="0"/>
              </a:spcAft>
              <a:buSzPts val="240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1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9"/>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9"/>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F497A"/>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0"/>
          <p:cNvSpPr/>
          <p:nvPr>
            <p:ph idx="2" type="pic"/>
          </p:nvPr>
        </p:nvSpPr>
        <p:spPr>
          <a:xfrm>
            <a:off x="1792288" y="612775"/>
            <a:ext cx="5486400" cy="4114800"/>
          </a:xfrm>
          <a:prstGeom prst="rect">
            <a:avLst/>
          </a:prstGeom>
          <a:noFill/>
          <a:ln>
            <a:noFill/>
          </a:ln>
        </p:spPr>
      </p:sp>
      <p:sp>
        <p:nvSpPr>
          <p:cNvPr id="74" name="Google Shape;7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2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20"/>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0"/>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2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1"/>
          <p:cNvSpPr txBox="1"/>
          <p:nvPr>
            <p:ph idx="1" type="body"/>
          </p:nvPr>
        </p:nvSpPr>
        <p:spPr>
          <a:xfrm rot="5400000">
            <a:off x="2247900" y="-495300"/>
            <a:ext cx="4648200" cy="8839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21"/>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2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22"/>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2"/>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5DFEC"/>
            </a:gs>
            <a:gs pos="64999">
              <a:srgbClr val="F0EBD5"/>
            </a:gs>
            <a:gs pos="100000">
              <a:srgbClr val="D1C39F"/>
            </a:gs>
          </a:gsLst>
          <a:path path="circle">
            <a:fillToRect b="0%" l="100%" r="0%" t="100%"/>
          </a:path>
          <a:tileRect b="-100%" l="0%" r="-100%" t="0%"/>
        </a:gra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F497A"/>
              </a:buClr>
              <a:buSzPts val="4000"/>
              <a:buFont typeface="Calibri"/>
              <a:buNone/>
              <a:defRPr b="1" i="0" sz="4000" u="none" cap="none" strike="noStrike">
                <a:solidFill>
                  <a:srgbClr val="5F497A"/>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5F497A"/>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rgbClr val="5F497A"/>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5F497A"/>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5F497A"/>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5F497A"/>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0"/>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0"/>
          <p:cNvSpPr/>
          <p:nvPr/>
        </p:nvSpPr>
        <p:spPr>
          <a:xfrm>
            <a:off x="0" y="1219200"/>
            <a:ext cx="9144000" cy="457200"/>
          </a:xfrm>
          <a:prstGeom prst="rect">
            <a:avLst/>
          </a:prstGeom>
          <a:gradFill>
            <a:gsLst>
              <a:gs pos="0">
                <a:srgbClr val="DB7531"/>
              </a:gs>
              <a:gs pos="64999">
                <a:srgbClr val="F0EBD5"/>
              </a:gs>
              <a:gs pos="100000">
                <a:srgbClr val="D1C39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 name="Google Shape;14;p10"/>
          <p:cNvSpPr/>
          <p:nvPr/>
        </p:nvSpPr>
        <p:spPr>
          <a:xfrm>
            <a:off x="8534400" y="6248400"/>
            <a:ext cx="609600" cy="609600"/>
          </a:xfrm>
          <a:prstGeom prst="rect">
            <a:avLst/>
          </a:prstGeom>
          <a:solidFill>
            <a:srgbClr val="DB7531"/>
          </a:solidFill>
          <a:ln>
            <a:noFill/>
          </a:ln>
          <a:effectLst>
            <a:outerShdw blurRad="76200" kx="1200000" rotWithShape="0" algn="br" sy="23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 name="Google Shape;15;p10"/>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200" u="none" cap="none" strike="noStrike">
                <a:solidFill>
                  <a:srgbClr val="EEEBCA"/>
                </a:solidFill>
                <a:latin typeface="Calibri"/>
                <a:ea typeface="Calibri"/>
                <a:cs typeface="Calibri"/>
                <a:sym typeface="Calibri"/>
              </a:defRPr>
            </a:lvl1pPr>
            <a:lvl2pPr indent="0" lvl="1" marL="0" marR="0" rtl="0" algn="ctr">
              <a:spcBef>
                <a:spcPts val="0"/>
              </a:spcBef>
              <a:buNone/>
              <a:defRPr b="1" i="0" sz="1200" u="none" cap="none" strike="noStrike">
                <a:solidFill>
                  <a:srgbClr val="EEEBCA"/>
                </a:solidFill>
                <a:latin typeface="Calibri"/>
                <a:ea typeface="Calibri"/>
                <a:cs typeface="Calibri"/>
                <a:sym typeface="Calibri"/>
              </a:defRPr>
            </a:lvl2pPr>
            <a:lvl3pPr indent="0" lvl="2" marL="0" marR="0" rtl="0" algn="ctr">
              <a:spcBef>
                <a:spcPts val="0"/>
              </a:spcBef>
              <a:buNone/>
              <a:defRPr b="1" i="0" sz="1200" u="none" cap="none" strike="noStrike">
                <a:solidFill>
                  <a:srgbClr val="EEEBCA"/>
                </a:solidFill>
                <a:latin typeface="Calibri"/>
                <a:ea typeface="Calibri"/>
                <a:cs typeface="Calibri"/>
                <a:sym typeface="Calibri"/>
              </a:defRPr>
            </a:lvl3pPr>
            <a:lvl4pPr indent="0" lvl="3" marL="0" marR="0" rtl="0" algn="ctr">
              <a:spcBef>
                <a:spcPts val="0"/>
              </a:spcBef>
              <a:buNone/>
              <a:defRPr b="1" i="0" sz="1200" u="none" cap="none" strike="noStrike">
                <a:solidFill>
                  <a:srgbClr val="EEEBCA"/>
                </a:solidFill>
                <a:latin typeface="Calibri"/>
                <a:ea typeface="Calibri"/>
                <a:cs typeface="Calibri"/>
                <a:sym typeface="Calibri"/>
              </a:defRPr>
            </a:lvl4pPr>
            <a:lvl5pPr indent="0" lvl="4" marL="0" marR="0" rtl="0" algn="ctr">
              <a:spcBef>
                <a:spcPts val="0"/>
              </a:spcBef>
              <a:buNone/>
              <a:defRPr b="1" i="0" sz="1200" u="none" cap="none" strike="noStrike">
                <a:solidFill>
                  <a:srgbClr val="EEEBCA"/>
                </a:solidFill>
                <a:latin typeface="Calibri"/>
                <a:ea typeface="Calibri"/>
                <a:cs typeface="Calibri"/>
                <a:sym typeface="Calibri"/>
              </a:defRPr>
            </a:lvl5pPr>
            <a:lvl6pPr indent="0" lvl="5" marL="0" marR="0" rtl="0" algn="ctr">
              <a:spcBef>
                <a:spcPts val="0"/>
              </a:spcBef>
              <a:buNone/>
              <a:defRPr b="1" i="0" sz="1200" u="none" cap="none" strike="noStrike">
                <a:solidFill>
                  <a:srgbClr val="EEEBCA"/>
                </a:solidFill>
                <a:latin typeface="Calibri"/>
                <a:ea typeface="Calibri"/>
                <a:cs typeface="Calibri"/>
                <a:sym typeface="Calibri"/>
              </a:defRPr>
            </a:lvl6pPr>
            <a:lvl7pPr indent="0" lvl="6" marL="0" marR="0" rtl="0" algn="ctr">
              <a:spcBef>
                <a:spcPts val="0"/>
              </a:spcBef>
              <a:buNone/>
              <a:defRPr b="1" i="0" sz="1200" u="none" cap="none" strike="noStrike">
                <a:solidFill>
                  <a:srgbClr val="EEEBCA"/>
                </a:solidFill>
                <a:latin typeface="Calibri"/>
                <a:ea typeface="Calibri"/>
                <a:cs typeface="Calibri"/>
                <a:sym typeface="Calibri"/>
              </a:defRPr>
            </a:lvl7pPr>
            <a:lvl8pPr indent="0" lvl="7" marL="0" marR="0" rtl="0" algn="ctr">
              <a:spcBef>
                <a:spcPts val="0"/>
              </a:spcBef>
              <a:buNone/>
              <a:defRPr b="1" i="0" sz="1200" u="none" cap="none" strike="noStrike">
                <a:solidFill>
                  <a:srgbClr val="EEEBCA"/>
                </a:solidFill>
                <a:latin typeface="Calibri"/>
                <a:ea typeface="Calibri"/>
                <a:cs typeface="Calibri"/>
                <a:sym typeface="Calibri"/>
              </a:defRPr>
            </a:lvl8pPr>
            <a:lvl9pPr indent="0" lvl="8" marL="0" marR="0" rtl="0" algn="ctr">
              <a:spcBef>
                <a:spcPts val="0"/>
              </a:spcBef>
              <a:buNone/>
              <a:defRPr b="1" i="0" sz="1200" u="none" cap="none" strike="noStrike">
                <a:solidFill>
                  <a:srgbClr val="EEEBCA"/>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F497A"/>
              </a:buClr>
              <a:buSzPts val="2400"/>
              <a:buFont typeface="Calibri"/>
              <a:buNone/>
            </a:pPr>
            <a:r>
              <a:rPr lang="en-US" sz="2400"/>
              <a:t>Access Control and Authorization</a:t>
            </a:r>
            <a:endParaRPr/>
          </a:p>
        </p:txBody>
      </p:sp>
      <p:sp>
        <p:nvSpPr>
          <p:cNvPr id="95" name="Google Shape;95;p1"/>
          <p:cNvSpPr txBox="1"/>
          <p:nvPr>
            <p:ph idx="1" type="body"/>
          </p:nvPr>
        </p:nvSpPr>
        <p:spPr>
          <a:xfrm>
            <a:off x="152400" y="1524000"/>
            <a:ext cx="8839200" cy="3733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200"/>
              <a:buNone/>
            </a:pPr>
            <a:r>
              <a:t/>
            </a:r>
            <a:endParaRPr/>
          </a:p>
          <a:p>
            <a:pPr indent="0" lvl="0" marL="0" rtl="0" algn="ctr">
              <a:spcBef>
                <a:spcPts val="800"/>
              </a:spcBef>
              <a:spcAft>
                <a:spcPts val="0"/>
              </a:spcAft>
              <a:buSzPts val="4000"/>
              <a:buNone/>
            </a:pPr>
            <a:r>
              <a:t/>
            </a:r>
            <a:endParaRPr b="1" sz="4000">
              <a:solidFill>
                <a:srgbClr val="5F497A"/>
              </a:solidFill>
              <a:latin typeface="Calibri"/>
              <a:ea typeface="Calibri"/>
              <a:cs typeface="Calibri"/>
              <a:sym typeface="Calibri"/>
            </a:endParaRPr>
          </a:p>
          <a:p>
            <a:pPr indent="0" lvl="0" marL="0" rtl="0" algn="ctr">
              <a:spcBef>
                <a:spcPts val="880"/>
              </a:spcBef>
              <a:spcAft>
                <a:spcPts val="0"/>
              </a:spcAft>
              <a:buSzPts val="4400"/>
              <a:buNone/>
            </a:pPr>
            <a:r>
              <a:rPr b="1" lang="en-US" sz="4400">
                <a:solidFill>
                  <a:srgbClr val="5F497A"/>
                </a:solidFill>
                <a:latin typeface="Calibri"/>
                <a:ea typeface="Calibri"/>
                <a:cs typeface="Calibri"/>
                <a:sym typeface="Calibri"/>
              </a:rPr>
              <a:t>Information Security</a:t>
            </a:r>
            <a:endParaRPr b="1" sz="2000">
              <a:solidFill>
                <a:srgbClr val="5F497A"/>
              </a:solidFill>
              <a:latin typeface="Calibri"/>
              <a:ea typeface="Calibri"/>
              <a:cs typeface="Calibri"/>
              <a:sym typeface="Calibri"/>
            </a:endParaRPr>
          </a:p>
        </p:txBody>
      </p:sp>
      <p:sp>
        <p:nvSpPr>
          <p:cNvPr id="96" name="Google Shape;96;p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03" name="Google Shape;103;p2"/>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Identification and Authentication</a:t>
            </a:r>
            <a:endParaRPr sz="2400"/>
          </a:p>
          <a:p>
            <a:pPr indent="-342900" lvl="0" marL="342900" rtl="0" algn="l">
              <a:spcBef>
                <a:spcPts val="560"/>
              </a:spcBef>
              <a:spcAft>
                <a:spcPts val="0"/>
              </a:spcAft>
              <a:buSzPts val="2800"/>
              <a:buChar char="•"/>
            </a:pPr>
            <a:r>
              <a:rPr lang="en-US" sz="2800"/>
              <a:t>Types of Authentication</a:t>
            </a:r>
            <a:endParaRPr/>
          </a:p>
          <a:p>
            <a:pPr indent="-342900" lvl="0" marL="342900" rtl="0" algn="l">
              <a:spcBef>
                <a:spcPts val="560"/>
              </a:spcBef>
              <a:spcAft>
                <a:spcPts val="0"/>
              </a:spcAft>
              <a:buSzPts val="2800"/>
              <a:buChar char="•"/>
            </a:pPr>
            <a:r>
              <a:rPr lang="en-US" sz="2800"/>
              <a:t>Multi Factor Authentication</a:t>
            </a:r>
            <a:endParaRPr/>
          </a:p>
          <a:p>
            <a:pPr indent="-342900" lvl="1" marL="342900" rtl="0" algn="l">
              <a:spcBef>
                <a:spcPts val="560"/>
              </a:spcBef>
              <a:spcAft>
                <a:spcPts val="0"/>
              </a:spcAft>
              <a:buSzPts val="2800"/>
              <a:buFont typeface="Arial"/>
              <a:buChar char="•"/>
            </a:pPr>
            <a:r>
              <a:rPr lang="en-US"/>
              <a:t>Authentication Protocols</a:t>
            </a:r>
            <a:endParaRPr/>
          </a:p>
          <a:p>
            <a:pPr indent="-342900" lvl="0" marL="342900" rtl="0" algn="l">
              <a:spcBef>
                <a:spcPts val="560"/>
              </a:spcBef>
              <a:spcAft>
                <a:spcPts val="0"/>
              </a:spcAft>
              <a:buSzPts val="2800"/>
              <a:buChar char="•"/>
            </a:pPr>
            <a:r>
              <a:rPr lang="en-US" sz="2800"/>
              <a:t>What is Access Control</a:t>
            </a:r>
            <a:endParaRPr/>
          </a:p>
          <a:p>
            <a:pPr indent="-342900" lvl="0" marL="342900" rtl="0" algn="l">
              <a:spcBef>
                <a:spcPts val="560"/>
              </a:spcBef>
              <a:spcAft>
                <a:spcPts val="0"/>
              </a:spcAft>
              <a:buSzPts val="2800"/>
              <a:buChar char="•"/>
            </a:pPr>
            <a:r>
              <a:rPr lang="en-US" sz="2800"/>
              <a:t>Types and Function of Controls</a:t>
            </a:r>
            <a:endParaRPr/>
          </a:p>
          <a:p>
            <a:pPr indent="-342900" lvl="0" marL="342900" rtl="0" algn="l">
              <a:spcBef>
                <a:spcPts val="560"/>
              </a:spcBef>
              <a:spcAft>
                <a:spcPts val="0"/>
              </a:spcAft>
              <a:buSzPts val="2800"/>
              <a:buChar char="•"/>
            </a:pPr>
            <a:r>
              <a:rPr lang="en-US" sz="2800"/>
              <a:t>Physical Security Controls</a:t>
            </a:r>
            <a:endParaRPr/>
          </a:p>
          <a:p>
            <a:pPr indent="-342900" lvl="0" marL="342900" rtl="0" algn="l">
              <a:spcBef>
                <a:spcPts val="560"/>
              </a:spcBef>
              <a:spcAft>
                <a:spcPts val="0"/>
              </a:spcAft>
              <a:buSzPts val="2800"/>
              <a:buChar char="•"/>
            </a:pPr>
            <a:r>
              <a:rPr lang="en-US" sz="2800"/>
              <a:t>Logical Security Controls</a:t>
            </a:r>
            <a:endParaRPr/>
          </a:p>
          <a:p>
            <a:pPr indent="-342900" lvl="0" marL="342900" rtl="0" algn="l">
              <a:spcBef>
                <a:spcPts val="560"/>
              </a:spcBef>
              <a:spcAft>
                <a:spcPts val="0"/>
              </a:spcAft>
              <a:buSzPts val="2800"/>
              <a:buChar char="•"/>
            </a:pPr>
            <a:r>
              <a:rPr lang="en-US" sz="2800"/>
              <a:t>Access Control Models</a:t>
            </a:r>
            <a:endParaRPr/>
          </a:p>
          <a:p>
            <a:pPr indent="-165100" lvl="0" marL="342900" rtl="0" algn="l">
              <a:spcBef>
                <a:spcPts val="560"/>
              </a:spcBef>
              <a:spcAft>
                <a:spcPts val="0"/>
              </a:spcAft>
              <a:buSzPts val="2800"/>
              <a:buNone/>
            </a:pPr>
            <a:r>
              <a:t/>
            </a:r>
            <a:endParaRPr sz="2800"/>
          </a:p>
          <a:p>
            <a:pPr indent="-165100" lvl="0" marL="342900" rtl="0" algn="l">
              <a:spcBef>
                <a:spcPts val="560"/>
              </a:spcBef>
              <a:spcAft>
                <a:spcPts val="0"/>
              </a:spcAft>
              <a:buSzPts val="2800"/>
              <a:buNone/>
            </a:pPr>
            <a:r>
              <a:t/>
            </a:r>
            <a:endParaRPr sz="2800"/>
          </a:p>
          <a:p>
            <a:pPr indent="0" lvl="0" marL="0" rtl="0" algn="l">
              <a:spcBef>
                <a:spcPts val="560"/>
              </a:spcBef>
              <a:spcAft>
                <a:spcPts val="0"/>
              </a:spcAft>
              <a:buSzPts val="2800"/>
              <a:buNone/>
            </a:pPr>
            <a:r>
              <a:t/>
            </a:r>
            <a:endParaRPr sz="2800"/>
          </a:p>
          <a:p>
            <a:pPr indent="0" lvl="1" marL="0" rtl="0" algn="l">
              <a:spcBef>
                <a:spcPts val="560"/>
              </a:spcBef>
              <a:spcAft>
                <a:spcPts val="0"/>
              </a:spcAft>
              <a:buSzPts val="2800"/>
              <a:buNone/>
            </a:pPr>
            <a:r>
              <a:t/>
            </a:r>
            <a:endParaRPr/>
          </a:p>
          <a:p>
            <a:pPr indent="0" lvl="0" marL="0" rtl="0" algn="l">
              <a:spcBef>
                <a:spcPts val="560"/>
              </a:spcBef>
              <a:spcAft>
                <a:spcPts val="0"/>
              </a:spcAft>
              <a:buSzPts val="2800"/>
              <a:buNone/>
            </a:pPr>
            <a:r>
              <a:t/>
            </a:r>
            <a:endParaRPr sz="2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Authorization and Access Control </a:t>
            </a:r>
            <a:endParaRPr sz="3600"/>
          </a:p>
        </p:txBody>
      </p:sp>
      <p:sp>
        <p:nvSpPr>
          <p:cNvPr id="110" name="Google Shape;110;p3"/>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What is Access Control</a:t>
            </a:r>
            <a:endParaRPr/>
          </a:p>
          <a:p>
            <a:pPr indent="-342900" lvl="0" marL="342900" rtl="0" algn="l">
              <a:spcBef>
                <a:spcPts val="560"/>
              </a:spcBef>
              <a:spcAft>
                <a:spcPts val="0"/>
              </a:spcAft>
              <a:buSzPts val="2800"/>
              <a:buChar char="•"/>
            </a:pPr>
            <a:r>
              <a:rPr lang="en-US" sz="2800" u="sng"/>
              <a:t>Assign access rights</a:t>
            </a:r>
            <a:r>
              <a:rPr lang="en-US" sz="2800"/>
              <a:t> to certain resources on system, also called authorization.</a:t>
            </a:r>
            <a:endParaRPr/>
          </a:p>
          <a:p>
            <a:pPr indent="-342900" lvl="0" marL="342900" rtl="0" algn="l">
              <a:spcBef>
                <a:spcPts val="560"/>
              </a:spcBef>
              <a:spcAft>
                <a:spcPts val="0"/>
              </a:spcAft>
              <a:buSzPts val="2800"/>
              <a:buChar char="•"/>
            </a:pPr>
            <a:r>
              <a:rPr lang="en-US" sz="2800" u="sng"/>
              <a:t>Authorization limits a </a:t>
            </a:r>
            <a:r>
              <a:rPr i="1" lang="en-US" sz="2800" u="sng"/>
              <a:t>subject</a:t>
            </a:r>
            <a:r>
              <a:rPr lang="en-US" sz="2800" u="sng"/>
              <a:t>’s</a:t>
            </a:r>
            <a:r>
              <a:rPr lang="en-US" sz="2800"/>
              <a:t> access perform an </a:t>
            </a:r>
            <a:r>
              <a:rPr i="1" lang="en-US" sz="2800"/>
              <a:t>operation </a:t>
            </a:r>
            <a:r>
              <a:rPr lang="en-US" sz="2800"/>
              <a:t>on an </a:t>
            </a:r>
            <a:r>
              <a:rPr i="1" lang="en-US" sz="2800"/>
              <a:t>object</a:t>
            </a:r>
            <a:endParaRPr/>
          </a:p>
          <a:p>
            <a:pPr indent="-342900" lvl="0" marL="342900" rtl="0" algn="l">
              <a:spcBef>
                <a:spcPts val="560"/>
              </a:spcBef>
              <a:spcAft>
                <a:spcPts val="0"/>
              </a:spcAft>
              <a:buSzPts val="2800"/>
              <a:buChar char="•"/>
            </a:pPr>
            <a:r>
              <a:rPr lang="en-US" sz="2800"/>
              <a:t>The </a:t>
            </a:r>
            <a:r>
              <a:rPr lang="en-US" sz="2800" u="sng"/>
              <a:t>combination</a:t>
            </a:r>
            <a:r>
              <a:rPr lang="en-US" sz="2800"/>
              <a:t> of </a:t>
            </a:r>
            <a:r>
              <a:rPr lang="en-US" sz="2800" u="sng"/>
              <a:t>object</a:t>
            </a:r>
            <a:r>
              <a:rPr lang="en-US" sz="2800"/>
              <a:t> and </a:t>
            </a:r>
            <a:r>
              <a:rPr lang="en-US" sz="2800" u="sng"/>
              <a:t>operations</a:t>
            </a:r>
            <a:r>
              <a:rPr lang="en-US" sz="2800"/>
              <a:t> allowed are called a </a:t>
            </a:r>
            <a:r>
              <a:rPr i="1" lang="en-US" sz="2800" u="sng"/>
              <a:t>permission</a:t>
            </a:r>
            <a:endParaRPr sz="2800" u="sng"/>
          </a:p>
          <a:p>
            <a:pPr indent="-139700" lvl="0" marL="342900" rtl="0" algn="l">
              <a:spcBef>
                <a:spcPts val="640"/>
              </a:spcBef>
              <a:spcAft>
                <a:spcPts val="0"/>
              </a:spcAft>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Authorization and Access Control </a:t>
            </a:r>
            <a:endParaRPr sz="3600"/>
          </a:p>
        </p:txBody>
      </p:sp>
      <p:sp>
        <p:nvSpPr>
          <p:cNvPr id="117" name="Google Shape;117;p4"/>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What is Access Control</a:t>
            </a:r>
            <a:endParaRPr/>
          </a:p>
          <a:p>
            <a:pPr indent="-342900" lvl="0" marL="342900" rtl="0" algn="l">
              <a:lnSpc>
                <a:spcPct val="90000"/>
              </a:lnSpc>
              <a:spcBef>
                <a:spcPts val="560"/>
              </a:spcBef>
              <a:spcAft>
                <a:spcPts val="0"/>
              </a:spcAft>
              <a:buSzPts val="2800"/>
              <a:buChar char="•"/>
            </a:pPr>
            <a:r>
              <a:rPr lang="en-US" sz="2800" u="sng"/>
              <a:t>Subject:</a:t>
            </a:r>
            <a:r>
              <a:rPr lang="en-US" sz="2800"/>
              <a:t> entity that can access objects</a:t>
            </a:r>
            <a:endParaRPr/>
          </a:p>
          <a:p>
            <a:pPr indent="-285750" lvl="1" marL="742950" rtl="0" algn="l">
              <a:lnSpc>
                <a:spcPct val="90000"/>
              </a:lnSpc>
              <a:spcBef>
                <a:spcPts val="480"/>
              </a:spcBef>
              <a:spcAft>
                <a:spcPts val="0"/>
              </a:spcAft>
              <a:buSzPts val="2400"/>
              <a:buChar char="–"/>
            </a:pPr>
            <a:r>
              <a:rPr lang="en-US" sz="2400"/>
              <a:t>A process representing user/application</a:t>
            </a:r>
            <a:endParaRPr/>
          </a:p>
          <a:p>
            <a:pPr indent="-285750" lvl="1" marL="742950" rtl="0" algn="l">
              <a:lnSpc>
                <a:spcPct val="90000"/>
              </a:lnSpc>
              <a:spcBef>
                <a:spcPts val="480"/>
              </a:spcBef>
              <a:spcAft>
                <a:spcPts val="0"/>
              </a:spcAft>
              <a:buSzPts val="2400"/>
              <a:buChar char="–"/>
            </a:pPr>
            <a:r>
              <a:rPr lang="en-US" sz="2400"/>
              <a:t>Have 3 classes: </a:t>
            </a:r>
            <a:r>
              <a:rPr b="1" lang="en-US" sz="2400" u="sng"/>
              <a:t>owner</a:t>
            </a:r>
            <a:r>
              <a:rPr lang="en-US" sz="2400" u="sng"/>
              <a:t>, </a:t>
            </a:r>
            <a:r>
              <a:rPr b="1" lang="en-US" sz="2400" u="sng"/>
              <a:t>group</a:t>
            </a:r>
            <a:r>
              <a:rPr lang="en-US" sz="2400" u="sng"/>
              <a:t>, </a:t>
            </a:r>
            <a:r>
              <a:rPr b="1" lang="en-US" sz="2400" u="sng"/>
              <a:t>others (anyone)</a:t>
            </a:r>
            <a:endParaRPr u="sng"/>
          </a:p>
          <a:p>
            <a:pPr indent="-342900" lvl="0" marL="342900" rtl="0" algn="l">
              <a:lnSpc>
                <a:spcPct val="90000"/>
              </a:lnSpc>
              <a:spcBef>
                <a:spcPts val="560"/>
              </a:spcBef>
              <a:spcAft>
                <a:spcPts val="0"/>
              </a:spcAft>
              <a:buSzPts val="2800"/>
              <a:buChar char="•"/>
            </a:pPr>
            <a:r>
              <a:rPr lang="en-US" sz="2800" u="sng"/>
              <a:t>Object:</a:t>
            </a:r>
            <a:r>
              <a:rPr lang="en-US" sz="2800"/>
              <a:t> access controlled </a:t>
            </a:r>
            <a:r>
              <a:rPr lang="en-US" sz="2800" u="sng"/>
              <a:t>resource</a:t>
            </a:r>
            <a:endParaRPr u="sng"/>
          </a:p>
          <a:p>
            <a:pPr indent="-285750" lvl="1" marL="742950" rtl="0" algn="l">
              <a:lnSpc>
                <a:spcPct val="90000"/>
              </a:lnSpc>
              <a:spcBef>
                <a:spcPts val="480"/>
              </a:spcBef>
              <a:spcAft>
                <a:spcPts val="0"/>
              </a:spcAft>
              <a:buSzPts val="2400"/>
              <a:buChar char="–"/>
            </a:pPr>
            <a:r>
              <a:rPr lang="en-US" sz="2400"/>
              <a:t>e.g. </a:t>
            </a:r>
            <a:r>
              <a:rPr lang="en-US" sz="2400" u="sng"/>
              <a:t>files</a:t>
            </a:r>
            <a:r>
              <a:rPr lang="en-US" sz="2400"/>
              <a:t>, </a:t>
            </a:r>
            <a:r>
              <a:rPr lang="en-US" sz="2400" u="sng"/>
              <a:t>directories</a:t>
            </a:r>
            <a:r>
              <a:rPr lang="en-US" sz="2400"/>
              <a:t>, </a:t>
            </a:r>
            <a:r>
              <a:rPr lang="en-US" sz="2400" u="sng"/>
              <a:t>records</a:t>
            </a:r>
            <a:r>
              <a:rPr lang="en-US" sz="2400"/>
              <a:t>, </a:t>
            </a:r>
            <a:r>
              <a:rPr lang="en-US" sz="2400" u="sng"/>
              <a:t>programs</a:t>
            </a:r>
            <a:r>
              <a:rPr lang="en-US" sz="2400"/>
              <a:t> etc</a:t>
            </a:r>
            <a:endParaRPr sz="2400"/>
          </a:p>
          <a:p>
            <a:pPr indent="-342900" lvl="0" marL="342900" rtl="0" algn="l">
              <a:lnSpc>
                <a:spcPct val="90000"/>
              </a:lnSpc>
              <a:spcBef>
                <a:spcPts val="560"/>
              </a:spcBef>
              <a:spcAft>
                <a:spcPts val="0"/>
              </a:spcAft>
              <a:buSzPts val="2800"/>
              <a:buChar char="•"/>
            </a:pPr>
            <a:r>
              <a:rPr lang="en-US" sz="2800" u="sng"/>
              <a:t>Access right</a:t>
            </a:r>
            <a:r>
              <a:rPr lang="en-US" sz="2800"/>
              <a:t> (operation): way in which subject accesses an object</a:t>
            </a:r>
            <a:endParaRPr/>
          </a:p>
          <a:p>
            <a:pPr indent="-285750" lvl="1" marL="742950" rtl="0" algn="l">
              <a:lnSpc>
                <a:spcPct val="90000"/>
              </a:lnSpc>
              <a:spcBef>
                <a:spcPts val="480"/>
              </a:spcBef>
              <a:spcAft>
                <a:spcPts val="0"/>
              </a:spcAft>
              <a:buSzPts val="2400"/>
              <a:buChar char="–"/>
            </a:pPr>
            <a:r>
              <a:rPr lang="en-US" sz="2400"/>
              <a:t>e.g. </a:t>
            </a:r>
            <a:r>
              <a:rPr lang="en-US" sz="2400" u="sng"/>
              <a:t>read</a:t>
            </a:r>
            <a:r>
              <a:rPr lang="en-US" sz="2400"/>
              <a:t>,</a:t>
            </a:r>
            <a:r>
              <a:rPr lang="en-US" sz="2400" u="sng"/>
              <a:t> write</a:t>
            </a:r>
            <a:r>
              <a:rPr lang="en-US" sz="2400"/>
              <a:t>, </a:t>
            </a:r>
            <a:r>
              <a:rPr lang="en-US" sz="2400" u="sng"/>
              <a:t>execute</a:t>
            </a:r>
            <a:r>
              <a:rPr lang="en-US" sz="2400"/>
              <a:t>, </a:t>
            </a:r>
            <a:r>
              <a:rPr lang="en-US" sz="2400" u="sng"/>
              <a:t>delete</a:t>
            </a:r>
            <a:r>
              <a:rPr lang="en-US" sz="2400"/>
              <a:t>, </a:t>
            </a:r>
            <a:r>
              <a:rPr lang="en-US" sz="2400" u="sng"/>
              <a:t>create</a:t>
            </a:r>
            <a:r>
              <a:rPr lang="en-US" sz="2400"/>
              <a:t>, </a:t>
            </a:r>
            <a:r>
              <a:rPr lang="en-US" sz="2400" u="sng"/>
              <a:t>search</a:t>
            </a:r>
            <a:endParaRPr u="sng"/>
          </a:p>
          <a:p>
            <a:pPr indent="0" lvl="0" marL="0" rtl="0" algn="l">
              <a:spcBef>
                <a:spcPts val="560"/>
              </a:spcBef>
              <a:spcAft>
                <a:spcPts val="0"/>
              </a:spcAft>
              <a:buSzPts val="2800"/>
              <a:buNone/>
            </a:pPr>
            <a:r>
              <a:t/>
            </a:r>
            <a:endParaRPr b="1" sz="2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4000"/>
              <a:buFont typeface="Calibri"/>
              <a:buNone/>
            </a:pPr>
            <a:r>
              <a:rPr lang="en-US"/>
              <a:t>Authorization and Access Control </a:t>
            </a:r>
            <a:endParaRPr/>
          </a:p>
        </p:txBody>
      </p:sp>
      <p:sp>
        <p:nvSpPr>
          <p:cNvPr id="123" name="Google Shape;123;p5"/>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What is Access Control</a:t>
            </a:r>
            <a:endParaRPr/>
          </a:p>
          <a:p>
            <a:pPr indent="-342900" lvl="0" marL="342900" rtl="0" algn="l">
              <a:spcBef>
                <a:spcPts val="560"/>
              </a:spcBef>
              <a:spcAft>
                <a:spcPts val="0"/>
              </a:spcAft>
              <a:buSzPts val="2800"/>
              <a:buChar char="•"/>
            </a:pPr>
            <a:r>
              <a:rPr lang="en-US" sz="2800"/>
              <a:t>Risk </a:t>
            </a:r>
            <a:endParaRPr/>
          </a:p>
          <a:p>
            <a:pPr indent="-285750" lvl="1" marL="742950" rtl="0" algn="l">
              <a:spcBef>
                <a:spcPts val="480"/>
              </a:spcBef>
              <a:spcAft>
                <a:spcPts val="0"/>
              </a:spcAft>
              <a:buSzPts val="2400"/>
              <a:buChar char="–"/>
            </a:pPr>
            <a:r>
              <a:rPr lang="en-US" sz="2400"/>
              <a:t>The likelihood that a </a:t>
            </a:r>
            <a:r>
              <a:rPr lang="en-US" sz="2400" u="sng"/>
              <a:t>threat will exploit a vulnerability</a:t>
            </a:r>
            <a:r>
              <a:rPr lang="en-US" sz="2400"/>
              <a:t>, resulting in a loss</a:t>
            </a:r>
            <a:endParaRPr/>
          </a:p>
          <a:p>
            <a:pPr indent="-342900" lvl="0" marL="342900" rtl="0" algn="l">
              <a:spcBef>
                <a:spcPts val="560"/>
              </a:spcBef>
              <a:spcAft>
                <a:spcPts val="0"/>
              </a:spcAft>
              <a:buSzPts val="2800"/>
              <a:buChar char="•"/>
            </a:pPr>
            <a:r>
              <a:rPr lang="en-US" sz="2800"/>
              <a:t>Risk Management</a:t>
            </a:r>
            <a:endParaRPr/>
          </a:p>
          <a:p>
            <a:pPr indent="-285750" lvl="1" marL="742950" rtl="0" algn="l">
              <a:spcBef>
                <a:spcPts val="480"/>
              </a:spcBef>
              <a:spcAft>
                <a:spcPts val="0"/>
              </a:spcAft>
              <a:buSzPts val="2400"/>
              <a:buChar char="–"/>
            </a:pPr>
            <a:r>
              <a:rPr lang="en-US" sz="2400"/>
              <a:t>Using </a:t>
            </a:r>
            <a:r>
              <a:rPr lang="en-US" sz="2400" u="sng"/>
              <a:t>controls</a:t>
            </a:r>
            <a:r>
              <a:rPr lang="en-US" sz="2400"/>
              <a:t> to reduce risk</a:t>
            </a:r>
            <a:endParaRPr/>
          </a:p>
          <a:p>
            <a:pPr indent="-342900" lvl="0" marL="342900" rtl="0" algn="l">
              <a:spcBef>
                <a:spcPts val="560"/>
              </a:spcBef>
              <a:spcAft>
                <a:spcPts val="0"/>
              </a:spcAft>
              <a:buSzPts val="2800"/>
              <a:buChar char="•"/>
            </a:pPr>
            <a:r>
              <a:rPr lang="en-US" sz="2800"/>
              <a:t>Controls</a:t>
            </a:r>
            <a:endParaRPr/>
          </a:p>
          <a:p>
            <a:pPr indent="-285750" lvl="1" marL="742950" rtl="0" algn="l">
              <a:spcBef>
                <a:spcPts val="480"/>
              </a:spcBef>
              <a:spcAft>
                <a:spcPts val="0"/>
              </a:spcAft>
              <a:buSzPts val="2400"/>
              <a:buChar char="–"/>
            </a:pPr>
            <a:r>
              <a:rPr lang="en-US" sz="2400"/>
              <a:t>Also called </a:t>
            </a:r>
            <a:r>
              <a:rPr lang="en-US" sz="2400" u="sng"/>
              <a:t>countermeasures</a:t>
            </a:r>
            <a:r>
              <a:rPr lang="en-US" sz="2400"/>
              <a:t> or safeguards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4000"/>
              <a:buFont typeface="Calibri"/>
              <a:buNone/>
            </a:pPr>
            <a:r>
              <a:rPr lang="en-US"/>
              <a:t>Authorization and Access Control </a:t>
            </a:r>
            <a:endParaRPr/>
          </a:p>
        </p:txBody>
      </p:sp>
      <p:sp>
        <p:nvSpPr>
          <p:cNvPr id="129" name="Google Shape;129;p6"/>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2800"/>
              <a:buNone/>
            </a:pPr>
            <a:r>
              <a:rPr b="1" lang="en-US" sz="2800"/>
              <a:t>Types of Controls</a:t>
            </a:r>
            <a:endParaRPr/>
          </a:p>
          <a:p>
            <a:pPr indent="-342900" lvl="0" marL="342900" rtl="0" algn="l">
              <a:spcBef>
                <a:spcPts val="560"/>
              </a:spcBef>
              <a:spcAft>
                <a:spcPts val="0"/>
              </a:spcAft>
              <a:buSzPts val="2800"/>
              <a:buChar char="•"/>
            </a:pPr>
            <a:r>
              <a:rPr lang="en-US" sz="2800"/>
              <a:t>Physical</a:t>
            </a:r>
            <a:endParaRPr/>
          </a:p>
          <a:p>
            <a:pPr indent="-285750" lvl="1" marL="742950" rtl="0" algn="l">
              <a:spcBef>
                <a:spcPts val="480"/>
              </a:spcBef>
              <a:spcAft>
                <a:spcPts val="0"/>
              </a:spcAft>
              <a:buSzPts val="2400"/>
              <a:buChar char="–"/>
            </a:pPr>
            <a:r>
              <a:rPr lang="en-US" sz="2400" u="sng"/>
              <a:t>Restriction of access</a:t>
            </a:r>
            <a:r>
              <a:rPr lang="en-US" sz="2400"/>
              <a:t> to a place such as </a:t>
            </a:r>
            <a:r>
              <a:rPr lang="en-US" sz="2400" u="sng"/>
              <a:t>property</a:t>
            </a:r>
            <a:r>
              <a:rPr lang="en-US" sz="2400"/>
              <a:t>, </a:t>
            </a:r>
            <a:r>
              <a:rPr lang="en-US" sz="2400" u="sng"/>
              <a:t>building</a:t>
            </a:r>
            <a:r>
              <a:rPr lang="en-US" sz="2400"/>
              <a:t>, or </a:t>
            </a:r>
            <a:r>
              <a:rPr lang="en-US" sz="2400" u="sng"/>
              <a:t>room</a:t>
            </a:r>
            <a:r>
              <a:rPr lang="en-US" sz="2400"/>
              <a:t>.</a:t>
            </a:r>
            <a:endParaRPr/>
          </a:p>
          <a:p>
            <a:pPr indent="-342900" lvl="0" marL="342900" rtl="0" algn="l">
              <a:spcBef>
                <a:spcPts val="560"/>
              </a:spcBef>
              <a:spcAft>
                <a:spcPts val="0"/>
              </a:spcAft>
              <a:buSzPts val="2800"/>
              <a:buChar char="•"/>
            </a:pPr>
            <a:r>
              <a:rPr lang="en-US" sz="2800"/>
              <a:t>Technical</a:t>
            </a:r>
            <a:endParaRPr/>
          </a:p>
          <a:p>
            <a:pPr indent="-285750" lvl="1" marL="742950" rtl="0" algn="l">
              <a:spcBef>
                <a:spcPts val="480"/>
              </a:spcBef>
              <a:spcAft>
                <a:spcPts val="0"/>
              </a:spcAft>
              <a:buSzPts val="2400"/>
              <a:buChar char="–"/>
            </a:pPr>
            <a:r>
              <a:rPr lang="en-US" sz="2400" u="sng"/>
              <a:t>Limits connections</a:t>
            </a:r>
            <a:r>
              <a:rPr lang="en-US" sz="2400"/>
              <a:t> to computer networks, </a:t>
            </a:r>
            <a:r>
              <a:rPr lang="en-US" sz="2400" u="sng"/>
              <a:t>system files</a:t>
            </a:r>
            <a:r>
              <a:rPr lang="en-US" sz="2400"/>
              <a:t>, and </a:t>
            </a:r>
            <a:r>
              <a:rPr lang="en-US" sz="2400" u="sng"/>
              <a:t>data</a:t>
            </a:r>
            <a:r>
              <a:rPr lang="en-US" sz="2400"/>
              <a:t>. </a:t>
            </a:r>
            <a:endParaRPr/>
          </a:p>
          <a:p>
            <a:pPr indent="-285750" lvl="1" marL="742950" rtl="0" algn="l">
              <a:spcBef>
                <a:spcPts val="480"/>
              </a:spcBef>
              <a:spcAft>
                <a:spcPts val="0"/>
              </a:spcAft>
              <a:buSzPts val="2400"/>
              <a:buChar char="–"/>
            </a:pPr>
            <a:r>
              <a:rPr lang="en-US" sz="2400"/>
              <a:t>Enforces restrictions on </a:t>
            </a:r>
            <a:r>
              <a:rPr lang="en-US" sz="2400" u="sng"/>
              <a:t>applications</a:t>
            </a:r>
            <a:r>
              <a:rPr lang="en-US" sz="2400"/>
              <a:t>, </a:t>
            </a:r>
            <a:r>
              <a:rPr lang="en-US" sz="2400" u="sng"/>
              <a:t>protocols</a:t>
            </a:r>
            <a:r>
              <a:rPr lang="en-US" sz="2400"/>
              <a:t>, </a:t>
            </a:r>
            <a:r>
              <a:rPr lang="en-US" sz="2400" u="sng"/>
              <a:t>operating systems</a:t>
            </a:r>
            <a:endParaRPr sz="2400" u="sng"/>
          </a:p>
          <a:p>
            <a:pPr indent="-342900" lvl="0" marL="342900" rtl="0" algn="l">
              <a:spcBef>
                <a:spcPts val="560"/>
              </a:spcBef>
              <a:spcAft>
                <a:spcPts val="0"/>
              </a:spcAft>
              <a:buSzPts val="2800"/>
              <a:buChar char="•"/>
            </a:pPr>
            <a:r>
              <a:rPr lang="en-US" sz="2800"/>
              <a:t>Management</a:t>
            </a:r>
            <a:endParaRPr/>
          </a:p>
          <a:p>
            <a:pPr indent="-285750" lvl="1" marL="742950" rtl="0" algn="l">
              <a:spcBef>
                <a:spcPts val="480"/>
              </a:spcBef>
              <a:spcAft>
                <a:spcPts val="0"/>
              </a:spcAft>
              <a:buSzPts val="2400"/>
              <a:buChar char="–"/>
            </a:pPr>
            <a:r>
              <a:rPr lang="en-US" sz="2400" u="sng"/>
              <a:t>Policies and procedures</a:t>
            </a:r>
            <a:r>
              <a:rPr lang="en-US" sz="2400"/>
              <a:t> for the whole organization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4000"/>
              <a:buFont typeface="Calibri"/>
              <a:buNone/>
            </a:pPr>
            <a:r>
              <a:rPr lang="en-US"/>
              <a:t>Authorization and Access Control </a:t>
            </a:r>
            <a:endParaRPr sz="4000"/>
          </a:p>
        </p:txBody>
      </p:sp>
      <p:sp>
        <p:nvSpPr>
          <p:cNvPr id="135" name="Google Shape;135;p7"/>
          <p:cNvSpPr txBox="1"/>
          <p:nvPr>
            <p:ph idx="1" type="body"/>
          </p:nvPr>
        </p:nvSpPr>
        <p:spPr>
          <a:xfrm>
            <a:off x="152400" y="1600200"/>
            <a:ext cx="8229600" cy="47244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2800"/>
              <a:buNone/>
            </a:pPr>
            <a:r>
              <a:rPr b="1" lang="en-US" sz="2800"/>
              <a:t>Examples of Physical Controls</a:t>
            </a:r>
            <a:endParaRPr/>
          </a:p>
          <a:p>
            <a:pPr indent="-342900" lvl="0" marL="342900" rtl="0" algn="l">
              <a:spcBef>
                <a:spcPts val="560"/>
              </a:spcBef>
              <a:spcAft>
                <a:spcPts val="0"/>
              </a:spcAft>
              <a:buSzPts val="2800"/>
              <a:buChar char="•"/>
            </a:pPr>
            <a:r>
              <a:rPr lang="en-US" sz="2800"/>
              <a:t>Physical and Environmental Protection</a:t>
            </a:r>
            <a:endParaRPr/>
          </a:p>
          <a:p>
            <a:pPr indent="-285750" lvl="1" marL="742950" rtl="0" algn="l">
              <a:spcBef>
                <a:spcPts val="480"/>
              </a:spcBef>
              <a:spcAft>
                <a:spcPts val="0"/>
              </a:spcAft>
              <a:buSzPts val="2400"/>
              <a:buChar char="–"/>
            </a:pPr>
            <a:r>
              <a:rPr lang="en-US" sz="2400" u="sng"/>
              <a:t>Fence</a:t>
            </a:r>
            <a:r>
              <a:rPr lang="en-US" sz="2400"/>
              <a:t> around the whole campus</a:t>
            </a:r>
            <a:endParaRPr/>
          </a:p>
          <a:p>
            <a:pPr indent="-285750" lvl="1" marL="742950" rtl="0" algn="l">
              <a:spcBef>
                <a:spcPts val="480"/>
              </a:spcBef>
              <a:spcAft>
                <a:spcPts val="0"/>
              </a:spcAft>
              <a:buSzPts val="2400"/>
              <a:buChar char="–"/>
            </a:pPr>
            <a:r>
              <a:rPr lang="en-US" sz="2400" u="sng"/>
              <a:t>Guards</a:t>
            </a:r>
            <a:r>
              <a:rPr lang="en-US" sz="2400"/>
              <a:t> and Cameras</a:t>
            </a:r>
            <a:endParaRPr/>
          </a:p>
          <a:p>
            <a:pPr indent="-285750" lvl="1" marL="742950" rtl="0" algn="l">
              <a:spcBef>
                <a:spcPts val="480"/>
              </a:spcBef>
              <a:spcAft>
                <a:spcPts val="0"/>
              </a:spcAft>
              <a:buSzPts val="2400"/>
              <a:buChar char="–"/>
            </a:pPr>
            <a:r>
              <a:rPr lang="en-US" sz="2400" u="sng"/>
              <a:t>Door</a:t>
            </a:r>
            <a:r>
              <a:rPr lang="en-US" sz="2400"/>
              <a:t> Access System</a:t>
            </a:r>
            <a:endParaRPr/>
          </a:p>
          <a:p>
            <a:pPr indent="-285750" lvl="1" marL="742950" rtl="0" algn="l">
              <a:spcBef>
                <a:spcPts val="480"/>
              </a:spcBef>
              <a:spcAft>
                <a:spcPts val="0"/>
              </a:spcAft>
              <a:buSzPts val="2400"/>
              <a:buChar char="–"/>
            </a:pPr>
            <a:r>
              <a:rPr lang="en-US" sz="2400"/>
              <a:t>ID Badges and Signs</a:t>
            </a:r>
            <a:endParaRPr/>
          </a:p>
          <a:p>
            <a:pPr indent="-285750" lvl="1" marL="742950" rtl="0" algn="l">
              <a:spcBef>
                <a:spcPts val="480"/>
              </a:spcBef>
              <a:spcAft>
                <a:spcPts val="0"/>
              </a:spcAft>
              <a:buSzPts val="2400"/>
              <a:buChar char="–"/>
            </a:pPr>
            <a:r>
              <a:rPr lang="en-US" sz="2400"/>
              <a:t>Heating and ventilation systems</a:t>
            </a:r>
            <a:endParaRPr/>
          </a:p>
          <a:p>
            <a:pPr indent="-342900" lvl="0" marL="342900" rtl="0" algn="l">
              <a:spcBef>
                <a:spcPts val="560"/>
              </a:spcBef>
              <a:spcAft>
                <a:spcPts val="0"/>
              </a:spcAft>
              <a:buSzPts val="2800"/>
              <a:buChar char="•"/>
            </a:pPr>
            <a:r>
              <a:rPr lang="en-US" sz="2800"/>
              <a:t>Hardware</a:t>
            </a:r>
            <a:endParaRPr/>
          </a:p>
          <a:p>
            <a:pPr indent="-285750" lvl="1" marL="742950" rtl="0" algn="l">
              <a:spcBef>
                <a:spcPts val="480"/>
              </a:spcBef>
              <a:spcAft>
                <a:spcPts val="0"/>
              </a:spcAft>
              <a:buSzPts val="2400"/>
              <a:buChar char="–"/>
            </a:pPr>
            <a:r>
              <a:rPr lang="en-US" sz="2400"/>
              <a:t>Locking server cabinets</a:t>
            </a:r>
            <a:endParaRPr/>
          </a:p>
          <a:p>
            <a:pPr indent="-285750" lvl="1" marL="742950" rtl="0" algn="l">
              <a:spcBef>
                <a:spcPts val="480"/>
              </a:spcBef>
              <a:spcAft>
                <a:spcPts val="0"/>
              </a:spcAft>
              <a:buSzPts val="2400"/>
              <a:buChar char="–"/>
            </a:pPr>
            <a:r>
              <a:rPr lang="en-US" sz="2400"/>
              <a:t>Cable locks for laptops</a:t>
            </a:r>
            <a:endParaRPr/>
          </a:p>
          <a:p>
            <a:pPr indent="-133350" lvl="1" marL="742950" rtl="0" algn="l">
              <a:spcBef>
                <a:spcPts val="480"/>
              </a:spcBef>
              <a:spcAft>
                <a:spcPts val="0"/>
              </a:spcAft>
              <a:buSzPts val="2400"/>
              <a:buNone/>
            </a:pPr>
            <a:r>
              <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8"/>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4000"/>
              <a:buFont typeface="Calibri"/>
              <a:buNone/>
            </a:pPr>
            <a:r>
              <a:rPr lang="en-US"/>
              <a:t>Authorization and Access Control </a:t>
            </a:r>
            <a:endParaRPr/>
          </a:p>
        </p:txBody>
      </p:sp>
      <p:sp>
        <p:nvSpPr>
          <p:cNvPr id="141" name="Google Shape;141;p8"/>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2800"/>
              <a:buNone/>
            </a:pPr>
            <a:r>
              <a:rPr b="1" lang="en-US" sz="2800"/>
              <a:t>Examples of Technical Controls</a:t>
            </a:r>
            <a:endParaRPr/>
          </a:p>
          <a:p>
            <a:pPr indent="-342900" lvl="0" marL="342900" rtl="0" algn="l">
              <a:lnSpc>
                <a:spcPct val="90000"/>
              </a:lnSpc>
              <a:spcBef>
                <a:spcPts val="560"/>
              </a:spcBef>
              <a:spcAft>
                <a:spcPts val="0"/>
              </a:spcAft>
              <a:buSzPts val="2800"/>
              <a:buChar char="•"/>
            </a:pPr>
            <a:r>
              <a:rPr lang="en-US" sz="2800"/>
              <a:t>Encryption</a:t>
            </a:r>
            <a:endParaRPr/>
          </a:p>
          <a:p>
            <a:pPr indent="-342900" lvl="0" marL="342900" rtl="0" algn="l">
              <a:lnSpc>
                <a:spcPct val="90000"/>
              </a:lnSpc>
              <a:spcBef>
                <a:spcPts val="560"/>
              </a:spcBef>
              <a:spcAft>
                <a:spcPts val="0"/>
              </a:spcAft>
              <a:buSzPts val="2800"/>
              <a:buChar char="•"/>
            </a:pPr>
            <a:r>
              <a:rPr lang="en-US" sz="2800"/>
              <a:t>Antivirus software</a:t>
            </a:r>
            <a:endParaRPr/>
          </a:p>
          <a:p>
            <a:pPr indent="-342900" lvl="0" marL="342900" rtl="0" algn="l">
              <a:lnSpc>
                <a:spcPct val="90000"/>
              </a:lnSpc>
              <a:spcBef>
                <a:spcPts val="560"/>
              </a:spcBef>
              <a:spcAft>
                <a:spcPts val="0"/>
              </a:spcAft>
              <a:buSzPts val="2800"/>
              <a:buChar char="•"/>
            </a:pPr>
            <a:r>
              <a:rPr lang="en-US" sz="2800"/>
              <a:t>Intrusion Detection Systems (IDSs)</a:t>
            </a:r>
            <a:endParaRPr/>
          </a:p>
          <a:p>
            <a:pPr indent="-285750" lvl="1" marL="742950" rtl="0" algn="l">
              <a:lnSpc>
                <a:spcPct val="90000"/>
              </a:lnSpc>
              <a:spcBef>
                <a:spcPts val="480"/>
              </a:spcBef>
              <a:spcAft>
                <a:spcPts val="0"/>
              </a:spcAft>
              <a:buSzPts val="2400"/>
              <a:buChar char="–"/>
            </a:pPr>
            <a:r>
              <a:rPr lang="en-US" sz="2400"/>
              <a:t>Monitors a network or host for network-based threats</a:t>
            </a:r>
            <a:endParaRPr/>
          </a:p>
          <a:p>
            <a:pPr indent="-342900" lvl="0" marL="342900" rtl="0" algn="l">
              <a:lnSpc>
                <a:spcPct val="90000"/>
              </a:lnSpc>
              <a:spcBef>
                <a:spcPts val="560"/>
              </a:spcBef>
              <a:spcAft>
                <a:spcPts val="0"/>
              </a:spcAft>
              <a:buSzPts val="2800"/>
              <a:buChar char="•"/>
            </a:pPr>
            <a:r>
              <a:rPr lang="en-US" sz="2800"/>
              <a:t>Firewalls</a:t>
            </a:r>
            <a:endParaRPr/>
          </a:p>
          <a:p>
            <a:pPr indent="-285750" lvl="1" marL="742950" rtl="0" algn="l">
              <a:lnSpc>
                <a:spcPct val="90000"/>
              </a:lnSpc>
              <a:spcBef>
                <a:spcPts val="480"/>
              </a:spcBef>
              <a:spcAft>
                <a:spcPts val="0"/>
              </a:spcAft>
              <a:buSzPts val="2400"/>
              <a:buChar char="–"/>
            </a:pPr>
            <a:r>
              <a:rPr lang="en-US" sz="2400"/>
              <a:t>Restrict network traffic with rules</a:t>
            </a:r>
            <a:endParaRPr/>
          </a:p>
          <a:p>
            <a:pPr indent="-342900" lvl="0" marL="342900" rtl="0" algn="l">
              <a:lnSpc>
                <a:spcPct val="90000"/>
              </a:lnSpc>
              <a:spcBef>
                <a:spcPts val="560"/>
              </a:spcBef>
              <a:spcAft>
                <a:spcPts val="0"/>
              </a:spcAft>
              <a:buSzPts val="2800"/>
              <a:buChar char="•"/>
            </a:pPr>
            <a:r>
              <a:rPr lang="en-US" sz="2800"/>
              <a:t>Least Privilege</a:t>
            </a:r>
            <a:endParaRPr/>
          </a:p>
          <a:p>
            <a:pPr indent="-285750" lvl="1" marL="742950" rtl="0" algn="l">
              <a:spcBef>
                <a:spcPts val="480"/>
              </a:spcBef>
              <a:spcAft>
                <a:spcPts val="0"/>
              </a:spcAft>
              <a:buSzPts val="2400"/>
              <a:buChar char="–"/>
            </a:pPr>
            <a:r>
              <a:rPr lang="en-US" sz="2400"/>
              <a:t>Individuals and processes are granted only the rights and permissions they need</a:t>
            </a:r>
            <a:endParaRPr/>
          </a:p>
          <a:p>
            <a:pPr indent="-228600" lvl="2" marL="1143000" rtl="0" algn="l">
              <a:spcBef>
                <a:spcPts val="400"/>
              </a:spcBef>
              <a:spcAft>
                <a:spcPts val="0"/>
              </a:spcAft>
              <a:buSzPts val="2000"/>
              <a:buChar char="•"/>
            </a:pPr>
            <a:r>
              <a:rPr lang="en-US" sz="2000"/>
              <a:t>Don't let everyone log on as Administrator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4000"/>
              <a:buFont typeface="Calibri"/>
              <a:buNone/>
            </a:pPr>
            <a:r>
              <a:rPr lang="en-US"/>
              <a:t>Authorization and Access Control </a:t>
            </a:r>
            <a:endParaRPr sz="4000"/>
          </a:p>
        </p:txBody>
      </p:sp>
      <p:sp>
        <p:nvSpPr>
          <p:cNvPr id="147" name="Google Shape;147;p9"/>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Examples of Management Controls</a:t>
            </a:r>
            <a:endParaRPr/>
          </a:p>
          <a:p>
            <a:pPr indent="-342900" lvl="0" marL="342900" rtl="0" algn="l">
              <a:spcBef>
                <a:spcPts val="560"/>
              </a:spcBef>
              <a:spcAft>
                <a:spcPts val="0"/>
              </a:spcAft>
              <a:buSzPts val="2800"/>
              <a:buChar char="•"/>
            </a:pPr>
            <a:r>
              <a:rPr lang="en-US" sz="2800"/>
              <a:t>Vulnerability and Risk Assessments</a:t>
            </a:r>
            <a:endParaRPr/>
          </a:p>
          <a:p>
            <a:pPr indent="-285750" lvl="1" marL="742950" rtl="0" algn="l">
              <a:spcBef>
                <a:spcPts val="480"/>
              </a:spcBef>
              <a:spcAft>
                <a:spcPts val="0"/>
              </a:spcAft>
              <a:buSzPts val="2400"/>
              <a:buChar char="–"/>
            </a:pPr>
            <a:r>
              <a:rPr lang="en-US" sz="2400" u="sng"/>
              <a:t>Finds weaknesses</a:t>
            </a:r>
            <a:r>
              <a:rPr lang="en-US" sz="2400"/>
              <a:t>, such as </a:t>
            </a:r>
            <a:r>
              <a:rPr lang="en-US" sz="2400" u="sng"/>
              <a:t>missing patches</a:t>
            </a:r>
            <a:endParaRPr u="sng"/>
          </a:p>
          <a:p>
            <a:pPr indent="-342900" lvl="0" marL="342900" rtl="0" algn="l">
              <a:spcBef>
                <a:spcPts val="560"/>
              </a:spcBef>
              <a:spcAft>
                <a:spcPts val="0"/>
              </a:spcAft>
              <a:buSzPts val="2800"/>
              <a:buChar char="•"/>
            </a:pPr>
            <a:r>
              <a:rPr lang="en-US" sz="2800"/>
              <a:t>Penetration tests</a:t>
            </a:r>
            <a:endParaRPr/>
          </a:p>
          <a:p>
            <a:pPr indent="-285750" lvl="1" marL="742950" rtl="0" algn="l">
              <a:spcBef>
                <a:spcPts val="480"/>
              </a:spcBef>
              <a:spcAft>
                <a:spcPts val="0"/>
              </a:spcAft>
              <a:buSzPts val="2400"/>
              <a:buChar char="–"/>
            </a:pPr>
            <a:r>
              <a:rPr lang="en-US" sz="2400" u="sng"/>
              <a:t>Exploit vulnerabilities</a:t>
            </a:r>
            <a:r>
              <a:rPr lang="en-US" sz="2400"/>
              <a:t> to indicate security flaws in a testing manner</a:t>
            </a:r>
            <a:endParaRPr/>
          </a:p>
          <a:p>
            <a:pPr indent="-342900" lvl="0" marL="342900" rtl="0" algn="l">
              <a:lnSpc>
                <a:spcPct val="90000"/>
              </a:lnSpc>
              <a:spcBef>
                <a:spcPts val="560"/>
              </a:spcBef>
              <a:spcAft>
                <a:spcPts val="0"/>
              </a:spcAft>
              <a:buSzPts val="2800"/>
              <a:buChar char="•"/>
            </a:pPr>
            <a:r>
              <a:rPr lang="en-US" sz="2800"/>
              <a:t>Awareness and Training</a:t>
            </a:r>
            <a:endParaRPr/>
          </a:p>
          <a:p>
            <a:pPr indent="-285750" lvl="1" marL="742950" rtl="0" algn="l">
              <a:lnSpc>
                <a:spcPct val="90000"/>
              </a:lnSpc>
              <a:spcBef>
                <a:spcPts val="480"/>
              </a:spcBef>
              <a:spcAft>
                <a:spcPts val="0"/>
              </a:spcAft>
              <a:buSzPts val="2400"/>
              <a:buChar char="–"/>
            </a:pPr>
            <a:r>
              <a:rPr lang="en-US" sz="2400"/>
              <a:t>Maintain password security</a:t>
            </a:r>
            <a:endParaRPr/>
          </a:p>
          <a:p>
            <a:pPr indent="-285750" lvl="1" marL="742950" rtl="0" algn="l">
              <a:lnSpc>
                <a:spcPct val="90000"/>
              </a:lnSpc>
              <a:spcBef>
                <a:spcPts val="480"/>
              </a:spcBef>
              <a:spcAft>
                <a:spcPts val="0"/>
              </a:spcAft>
              <a:buSzPts val="2400"/>
              <a:buChar char="–"/>
            </a:pPr>
            <a:r>
              <a:rPr lang="en-US" sz="2400"/>
              <a:t>Clean desk policy</a:t>
            </a:r>
            <a:endParaRPr/>
          </a:p>
          <a:p>
            <a:pPr indent="0" lvl="1" marL="457200" rtl="0" algn="l">
              <a:spcBef>
                <a:spcPts val="480"/>
              </a:spcBef>
              <a:spcAft>
                <a:spcPts val="0"/>
              </a:spcAft>
              <a:buSzPts val="2400"/>
              <a:buNone/>
            </a:pPr>
            <a:r>
              <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2017-01-30T04:28:05Z</dcterms:created>
</cp:coreProperties>
</file>