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</p:sldIdLst>
  <p:sldSz cy="6858000" cx="9144000"/>
  <p:notesSz cx="6858000" cy="9144000"/>
  <p:embeddedFontLst>
    <p:embeddedFont>
      <p:font typeface="Arial Black"/>
      <p:regular r:id="rId4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41" roundtripDataSignature="AMtx7mjGfRZ/UrQcha+IF1fX6BtOxBYbD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ArialBlack-regular.fntdata"/><Relationship Id="rId20" Type="http://schemas.openxmlformats.org/officeDocument/2006/relationships/slide" Target="slides/slide15.xml"/><Relationship Id="rId41" Type="http://customschemas.google.com/relationships/presentationmetadata" Target="metadata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slide" Target="slides/slide30.xml"/><Relationship Id="rId12" Type="http://schemas.openxmlformats.org/officeDocument/2006/relationships/slide" Target="slides/slide7.xml"/><Relationship Id="rId34" Type="http://schemas.openxmlformats.org/officeDocument/2006/relationships/slide" Target="slides/slide29.xml"/><Relationship Id="rId15" Type="http://schemas.openxmlformats.org/officeDocument/2006/relationships/slide" Target="slides/slide10.xml"/><Relationship Id="rId37" Type="http://schemas.openxmlformats.org/officeDocument/2006/relationships/slide" Target="slides/slide32.xml"/><Relationship Id="rId14" Type="http://schemas.openxmlformats.org/officeDocument/2006/relationships/slide" Target="slides/slide9.xml"/><Relationship Id="rId36" Type="http://schemas.openxmlformats.org/officeDocument/2006/relationships/slide" Target="slides/slide31.xml"/><Relationship Id="rId17" Type="http://schemas.openxmlformats.org/officeDocument/2006/relationships/slide" Target="slides/slide12.xml"/><Relationship Id="rId39" Type="http://schemas.openxmlformats.org/officeDocument/2006/relationships/slide" Target="slides/slide34.xml"/><Relationship Id="rId16" Type="http://schemas.openxmlformats.org/officeDocument/2006/relationships/slide" Target="slides/slide11.xml"/><Relationship Id="rId38" Type="http://schemas.openxmlformats.org/officeDocument/2006/relationships/slide" Target="slides/slide33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2" name="Google Shape;9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9" name="Google Shape;99;p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0" name="Google Shape;10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3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6" name="Google Shape;106;p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7" name="Google Shape;107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b450265c13_0_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3b450265c13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g3b450265c13_0_2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4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1" name="Google Shape;121;p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2" name="Google Shape;122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5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9" name="Google Shape;129;p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0" name="Google Shape;130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6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7" name="Google Shape;137;p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8" name="Google Shape;138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7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4" name="Google Shape;144;p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45" name="Google Shape;145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8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1" name="Google Shape;151;p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52" name="Google Shape;152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Crafting: Designing, shaping, producing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/>
              <a:t>Research honeypot</a:t>
            </a:r>
            <a:r>
              <a:rPr lang="en-US"/>
              <a:t>: This type of trap is used by developers, system administrators, and blue team managers working in institutions such as universities, colleges, schools and other related associations. </a:t>
            </a:r>
            <a:r>
              <a:rPr b="1" lang="en-US"/>
              <a:t>Production honeypot</a:t>
            </a:r>
            <a:r>
              <a:rPr lang="en-US"/>
              <a:t>: This is used by private and public institutions, companies and corporations to investigate the behavior and techniques of hackers seeking to attack networks on the Internet.</a:t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9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8" name="Google Shape;158;p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59" name="Google Shape;159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0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6" name="Google Shape;166;p1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67" name="Google Shape;167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1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3" name="Google Shape;173;p1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74" name="Google Shape;174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12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1" name="Google Shape;181;p1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82" name="Google Shape;182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13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8" name="Google Shape;188;p1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89" name="Google Shape;189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https://www.fortinet.com/resources/cyberglossary/snort</a:t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14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5" name="Google Shape;195;p1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96" name="Google Shape;196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 </a:t>
            </a:r>
            <a:r>
              <a:rPr b="1" lang="en-US"/>
              <a:t>system call</a:t>
            </a:r>
            <a:r>
              <a:rPr lang="en-US"/>
              <a:t> is a way for programs to interact with the operating </a:t>
            </a:r>
            <a:r>
              <a:rPr b="1" lang="en-US"/>
              <a:t>system</a:t>
            </a:r>
            <a:r>
              <a:rPr lang="en-US"/>
              <a:t>. A computer program makes a </a:t>
            </a:r>
            <a:r>
              <a:rPr b="1" lang="en-US"/>
              <a:t>system call</a:t>
            </a:r>
            <a:r>
              <a:rPr lang="en-US"/>
              <a:t> when it makes a request to the operating </a:t>
            </a:r>
            <a:r>
              <a:rPr b="1" lang="en-US"/>
              <a:t>system's</a:t>
            </a:r>
            <a:r>
              <a:rPr lang="en-US"/>
              <a:t> kernel. </a:t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15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2" name="Google Shape;202;p1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03" name="Google Shape;203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16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9" name="Google Shape;209;p1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10" name="Google Shape;210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17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6" name="Google Shape;216;p1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17" name="Google Shape;217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18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3" name="Google Shape;223;p1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24" name="Google Shape;224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19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1" name="Google Shape;231;p1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32" name="Google Shape;232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20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8" name="Google Shape;238;p2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39" name="Google Shape;239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/>
              <a:t>Data loss prevention</a:t>
            </a:r>
            <a:r>
              <a:rPr lang="en-US"/>
              <a:t> (</a:t>
            </a:r>
            <a:r>
              <a:rPr i="1" lang="en-US"/>
              <a:t>DLP</a:t>
            </a:r>
            <a:r>
              <a:rPr lang="en-US"/>
              <a:t>) makes sure that users do not send sensitive or critical information outside the corporate network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/>
              <a:t>Data loss prevention </a:t>
            </a:r>
            <a:r>
              <a:rPr lang="en-US"/>
              <a:t>(DLP) is a set of practices (and products) that ensure that an organization's sensitive or critical data remains available to authorized users and isn't shared with or available to unauthorized users. </a:t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21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45" name="Google Shape;245;p2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46" name="Google Shape;246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22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2" name="Google Shape;252;p2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53" name="Google Shape;253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/>
              <a:t>A zero day exploit is a cyber attack that occurs on the same day a weakness is discovered in software.</a:t>
            </a:r>
            <a:r>
              <a:rPr lang="en-US"/>
              <a:t> At that point, it's exploited before a fix becomes available from its creator.</a:t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23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9" name="Google Shape;259;p2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60" name="Google Shape;260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24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66" name="Google Shape;266;p2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67" name="Google Shape;267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/>
              <a:t>Baselines: Guidelines. Measures, standards</a:t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25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73" name="Google Shape;273;p2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74" name="Google Shape;274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26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0" name="Google Shape;280;p2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81" name="Google Shape;281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27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7" name="Google Shape;287;p2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88" name="Google Shape;288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28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95" name="Google Shape;295;p2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96" name="Google Shape;296;p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29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02" name="Google Shape;302;p2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03" name="Google Shape;303;p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30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09" name="Google Shape;309;p3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10" name="Google Shape;310;p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31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16" name="Google Shape;316;p3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17" name="Google Shape;317;p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32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23" name="Google Shape;323;p3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24" name="Google Shape;324;p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33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30" name="Google Shape;330;p3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31" name="Google Shape;331;p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jpg"/><Relationship Id="rId3" Type="http://schemas.openxmlformats.org/officeDocument/2006/relationships/image" Target="../media/image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35"/>
          <p:cNvSpPr txBox="1"/>
          <p:nvPr>
            <p:ph type="title"/>
          </p:nvPr>
        </p:nvSpPr>
        <p:spPr>
          <a:xfrm>
            <a:off x="152400" y="152400"/>
            <a:ext cx="88392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5F497A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35"/>
          <p:cNvSpPr txBox="1"/>
          <p:nvPr>
            <p:ph idx="1" type="body"/>
          </p:nvPr>
        </p:nvSpPr>
        <p:spPr>
          <a:xfrm>
            <a:off x="152400" y="1600200"/>
            <a:ext cx="8839200" cy="46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9" name="Google Shape;19;p35"/>
          <p:cNvSpPr txBox="1"/>
          <p:nvPr>
            <p:ph idx="12" type="sldNum"/>
          </p:nvPr>
        </p:nvSpPr>
        <p:spPr>
          <a:xfrm>
            <a:off x="8534400" y="6248400"/>
            <a:ext cx="6096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0" name="Google Shape;20;p35"/>
          <p:cNvSpPr txBox="1"/>
          <p:nvPr>
            <p:ph idx="2" type="body"/>
          </p:nvPr>
        </p:nvSpPr>
        <p:spPr>
          <a:xfrm>
            <a:off x="152400" y="6400800"/>
            <a:ext cx="1676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40"/>
              </a:spcBef>
              <a:spcAft>
                <a:spcPts val="0"/>
              </a:spcAft>
              <a:buSzPts val="1200"/>
              <a:buNone/>
              <a:defRPr sz="1200"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1" name="Google Shape;21;p35"/>
          <p:cNvSpPr txBox="1"/>
          <p:nvPr>
            <p:ph idx="11" type="ftr"/>
          </p:nvPr>
        </p:nvSpPr>
        <p:spPr>
          <a:xfrm>
            <a:off x="1981200" y="6370637"/>
            <a:ext cx="4724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chemeClr val="dk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and Content" type="obj">
  <p:cSld name="OBJECT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36"/>
          <p:cNvSpPr txBox="1"/>
          <p:nvPr>
            <p:ph type="title"/>
          </p:nvPr>
        </p:nvSpPr>
        <p:spPr>
          <a:xfrm>
            <a:off x="152400" y="152400"/>
            <a:ext cx="88392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5F497A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6"/>
          <p:cNvSpPr txBox="1"/>
          <p:nvPr>
            <p:ph idx="1" type="body"/>
          </p:nvPr>
        </p:nvSpPr>
        <p:spPr>
          <a:xfrm>
            <a:off x="152400" y="1600200"/>
            <a:ext cx="8839200" cy="46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5" name="Google Shape;25;p36"/>
          <p:cNvSpPr txBox="1"/>
          <p:nvPr>
            <p:ph idx="10" type="dt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6" name="Google Shape;26;p36"/>
          <p:cNvSpPr txBox="1"/>
          <p:nvPr>
            <p:ph idx="11" type="ftr"/>
          </p:nvPr>
        </p:nvSpPr>
        <p:spPr>
          <a:xfrm>
            <a:off x="1981200" y="6370637"/>
            <a:ext cx="4724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36"/>
          <p:cNvSpPr txBox="1"/>
          <p:nvPr>
            <p:ph idx="12" type="sldNum"/>
          </p:nvPr>
        </p:nvSpPr>
        <p:spPr>
          <a:xfrm>
            <a:off x="8534400" y="6248400"/>
            <a:ext cx="6096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 b="1" i="0" sz="1200" u="none" cap="none" strike="noStrike">
                <a:solidFill>
                  <a:srgbClr val="EEEBCA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ctr">
              <a:spcBef>
                <a:spcPts val="0"/>
              </a:spcBef>
              <a:buNone/>
              <a:defRPr b="1" i="0" sz="1200" u="none" cap="none" strike="noStrike">
                <a:solidFill>
                  <a:srgbClr val="EEEBCA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ctr">
              <a:spcBef>
                <a:spcPts val="0"/>
              </a:spcBef>
              <a:buNone/>
              <a:defRPr b="1" i="0" sz="1200" u="none" cap="none" strike="noStrike">
                <a:solidFill>
                  <a:srgbClr val="EEEBCA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ctr">
              <a:spcBef>
                <a:spcPts val="0"/>
              </a:spcBef>
              <a:buNone/>
              <a:defRPr b="1" i="0" sz="1200" u="none" cap="none" strike="noStrike">
                <a:solidFill>
                  <a:srgbClr val="EEEBCA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ctr">
              <a:spcBef>
                <a:spcPts val="0"/>
              </a:spcBef>
              <a:buNone/>
              <a:defRPr b="1" i="0" sz="1200" u="none" cap="none" strike="noStrike">
                <a:solidFill>
                  <a:srgbClr val="EEEBCA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ctr">
              <a:spcBef>
                <a:spcPts val="0"/>
              </a:spcBef>
              <a:buNone/>
              <a:defRPr b="1" i="0" sz="1200" u="none" cap="none" strike="noStrike">
                <a:solidFill>
                  <a:srgbClr val="EEEBCA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ctr">
              <a:spcBef>
                <a:spcPts val="0"/>
              </a:spcBef>
              <a:buNone/>
              <a:defRPr b="1" i="0" sz="1200" u="none" cap="none" strike="noStrike">
                <a:solidFill>
                  <a:srgbClr val="EEEBCA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ctr">
              <a:spcBef>
                <a:spcPts val="0"/>
              </a:spcBef>
              <a:buNone/>
              <a:defRPr b="1" i="0" sz="1200" u="none" cap="none" strike="noStrike">
                <a:solidFill>
                  <a:srgbClr val="EEEBCA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ctr">
              <a:spcBef>
                <a:spcPts val="0"/>
              </a:spcBef>
              <a:buNone/>
              <a:defRPr b="1" i="0" sz="1200" u="none" cap="none" strike="noStrike">
                <a:solidFill>
                  <a:srgbClr val="EEEBCA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37"/>
          <p:cNvSpPr txBox="1"/>
          <p:nvPr/>
        </p:nvSpPr>
        <p:spPr>
          <a:xfrm>
            <a:off x="1219200" y="5486400"/>
            <a:ext cx="35814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lnSpcReduction="10000"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 Black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Your Interactive Guide to the Digital World</a:t>
            </a:r>
            <a:endParaRPr/>
          </a:p>
        </p:txBody>
      </p:sp>
      <p:sp>
        <p:nvSpPr>
          <p:cNvPr id="30" name="Google Shape;30;p37"/>
          <p:cNvSpPr/>
          <p:nvPr/>
        </p:nvSpPr>
        <p:spPr>
          <a:xfrm>
            <a:off x="0" y="4267200"/>
            <a:ext cx="4876800" cy="10772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200" u="none" cap="none" strike="noStrik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Discovering </a:t>
            </a:r>
            <a:br>
              <a:rPr b="0" i="0" lang="en-US" sz="3200" u="none" cap="none" strike="noStrik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</a:br>
            <a:r>
              <a:rPr b="0" i="0" lang="en-US" sz="3200" u="none" cap="none" strike="noStrik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	Computers 2012</a:t>
            </a:r>
            <a:endParaRPr/>
          </a:p>
        </p:txBody>
      </p:sp>
      <p:pic>
        <p:nvPicPr>
          <p:cNvPr id="31" name="Google Shape;31;p3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186606" y="3276600"/>
            <a:ext cx="3957394" cy="3581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" name="Google Shape;32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3235890"/>
          </a:xfrm>
          <a:prstGeom prst="rect">
            <a:avLst/>
          </a:prstGeom>
          <a:noFill/>
          <a:ln>
            <a:noFill/>
          </a:ln>
          <a:effectLst>
            <a:outerShdw blurRad="292100" rotWithShape="0" algn="tl" dir="2700000" dist="139700">
              <a:srgbClr val="333333">
                <a:alpha val="64705"/>
              </a:srgbClr>
            </a:outerShdw>
          </a:effectLst>
        </p:spPr>
      </p:pic>
    </p:spTree>
  </p:cSld>
  <p:clrMapOvr>
    <a:masterClrMapping/>
  </p:clrMapOvr>
  <p:transition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38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5F497A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38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6" name="Google Shape;36;p3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7" name="Google Shape;37;p38"/>
          <p:cNvSpPr txBox="1"/>
          <p:nvPr>
            <p:ph idx="11" type="ftr"/>
          </p:nvPr>
        </p:nvSpPr>
        <p:spPr>
          <a:xfrm>
            <a:off x="1981200" y="6370637"/>
            <a:ext cx="4724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38"/>
          <p:cNvSpPr txBox="1"/>
          <p:nvPr>
            <p:ph idx="12" type="sldNum"/>
          </p:nvPr>
        </p:nvSpPr>
        <p:spPr>
          <a:xfrm>
            <a:off x="8534400" y="6248400"/>
            <a:ext cx="6096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>
  <p:cSld name="Two Content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39"/>
          <p:cNvSpPr txBox="1"/>
          <p:nvPr>
            <p:ph type="title"/>
          </p:nvPr>
        </p:nvSpPr>
        <p:spPr>
          <a:xfrm>
            <a:off x="152400" y="152400"/>
            <a:ext cx="88392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5F497A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39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2" name="Google Shape;42;p39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3" name="Google Shape;43;p39"/>
          <p:cNvSpPr txBox="1"/>
          <p:nvPr>
            <p:ph idx="11" type="ftr"/>
          </p:nvPr>
        </p:nvSpPr>
        <p:spPr>
          <a:xfrm>
            <a:off x="1981200" y="6370637"/>
            <a:ext cx="4724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39"/>
          <p:cNvSpPr txBox="1"/>
          <p:nvPr>
            <p:ph idx="12" type="sldNum"/>
          </p:nvPr>
        </p:nvSpPr>
        <p:spPr>
          <a:xfrm>
            <a:off x="8534400" y="6248400"/>
            <a:ext cx="6096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5" name="Google Shape;45;p39"/>
          <p:cNvSpPr txBox="1"/>
          <p:nvPr>
            <p:ph idx="3" type="body"/>
          </p:nvPr>
        </p:nvSpPr>
        <p:spPr>
          <a:xfrm>
            <a:off x="152400" y="6400800"/>
            <a:ext cx="16764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40"/>
              </a:spcBef>
              <a:spcAft>
                <a:spcPts val="0"/>
              </a:spcAft>
              <a:buSzPts val="1200"/>
              <a:buNone/>
              <a:defRPr sz="1200"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  <p:transition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>
  <p:cSld name="Comparison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40"/>
          <p:cNvSpPr txBox="1"/>
          <p:nvPr>
            <p:ph type="title"/>
          </p:nvPr>
        </p:nvSpPr>
        <p:spPr>
          <a:xfrm>
            <a:off x="152400" y="152400"/>
            <a:ext cx="88392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5F497A"/>
              </a:buClr>
              <a:buSzPts val="40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40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9" name="Google Shape;49;p40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50" name="Google Shape;50;p40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1" name="Google Shape;51;p40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52" name="Google Shape;52;p40"/>
          <p:cNvSpPr txBox="1"/>
          <p:nvPr>
            <p:ph idx="11" type="ftr"/>
          </p:nvPr>
        </p:nvSpPr>
        <p:spPr>
          <a:xfrm>
            <a:off x="1981200" y="6370637"/>
            <a:ext cx="4724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40"/>
          <p:cNvSpPr txBox="1"/>
          <p:nvPr>
            <p:ph idx="12" type="sldNum"/>
          </p:nvPr>
        </p:nvSpPr>
        <p:spPr>
          <a:xfrm>
            <a:off x="8534400" y="6248400"/>
            <a:ext cx="6096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4" name="Google Shape;54;p40"/>
          <p:cNvSpPr txBox="1"/>
          <p:nvPr>
            <p:ph idx="5" type="body"/>
          </p:nvPr>
        </p:nvSpPr>
        <p:spPr>
          <a:xfrm>
            <a:off x="152400" y="6400800"/>
            <a:ext cx="16764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40"/>
              </a:spcBef>
              <a:spcAft>
                <a:spcPts val="0"/>
              </a:spcAft>
              <a:buSzPts val="1200"/>
              <a:buNone/>
              <a:defRPr sz="1200"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  <p:transition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41"/>
          <p:cNvSpPr txBox="1"/>
          <p:nvPr>
            <p:ph type="title"/>
          </p:nvPr>
        </p:nvSpPr>
        <p:spPr>
          <a:xfrm>
            <a:off x="152400" y="152400"/>
            <a:ext cx="88392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5F497A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4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8" name="Google Shape;58;p41"/>
          <p:cNvSpPr txBox="1"/>
          <p:nvPr>
            <p:ph idx="11" type="ftr"/>
          </p:nvPr>
        </p:nvSpPr>
        <p:spPr>
          <a:xfrm>
            <a:off x="1981200" y="6370637"/>
            <a:ext cx="4724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41"/>
          <p:cNvSpPr txBox="1"/>
          <p:nvPr>
            <p:ph idx="12" type="sldNum"/>
          </p:nvPr>
        </p:nvSpPr>
        <p:spPr>
          <a:xfrm>
            <a:off x="8534400" y="6248400"/>
            <a:ext cx="6096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4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2" name="Google Shape;62;p42"/>
          <p:cNvSpPr txBox="1"/>
          <p:nvPr>
            <p:ph idx="11" type="ftr"/>
          </p:nvPr>
        </p:nvSpPr>
        <p:spPr>
          <a:xfrm>
            <a:off x="1981200" y="6370637"/>
            <a:ext cx="4724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42"/>
          <p:cNvSpPr txBox="1"/>
          <p:nvPr>
            <p:ph idx="12" type="sldNum"/>
          </p:nvPr>
        </p:nvSpPr>
        <p:spPr>
          <a:xfrm>
            <a:off x="8534400" y="6248400"/>
            <a:ext cx="6096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43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5F497A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43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7" name="Google Shape;67;p43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8" name="Google Shape;68;p4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9" name="Google Shape;69;p43"/>
          <p:cNvSpPr txBox="1"/>
          <p:nvPr>
            <p:ph idx="11" type="ftr"/>
          </p:nvPr>
        </p:nvSpPr>
        <p:spPr>
          <a:xfrm>
            <a:off x="1981200" y="6370637"/>
            <a:ext cx="4724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43"/>
          <p:cNvSpPr txBox="1"/>
          <p:nvPr>
            <p:ph idx="12" type="sldNum"/>
          </p:nvPr>
        </p:nvSpPr>
        <p:spPr>
          <a:xfrm>
            <a:off x="8534400" y="6248400"/>
            <a:ext cx="6096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44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5F497A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44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74" name="Google Shape;74;p44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75" name="Google Shape;75;p4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6" name="Google Shape;76;p44"/>
          <p:cNvSpPr txBox="1"/>
          <p:nvPr>
            <p:ph idx="11" type="ftr"/>
          </p:nvPr>
        </p:nvSpPr>
        <p:spPr>
          <a:xfrm>
            <a:off x="1981200" y="6370637"/>
            <a:ext cx="4724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44"/>
          <p:cNvSpPr txBox="1"/>
          <p:nvPr>
            <p:ph idx="12" type="sldNum"/>
          </p:nvPr>
        </p:nvSpPr>
        <p:spPr>
          <a:xfrm>
            <a:off x="8534400" y="6248400"/>
            <a:ext cx="6096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45"/>
          <p:cNvSpPr txBox="1"/>
          <p:nvPr>
            <p:ph type="title"/>
          </p:nvPr>
        </p:nvSpPr>
        <p:spPr>
          <a:xfrm>
            <a:off x="152400" y="152400"/>
            <a:ext cx="88392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5F497A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45"/>
          <p:cNvSpPr txBox="1"/>
          <p:nvPr>
            <p:ph idx="1" type="body"/>
          </p:nvPr>
        </p:nvSpPr>
        <p:spPr>
          <a:xfrm rot="5400000">
            <a:off x="2247900" y="-495300"/>
            <a:ext cx="4648200" cy="8839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4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2" name="Google Shape;82;p45"/>
          <p:cNvSpPr txBox="1"/>
          <p:nvPr>
            <p:ph idx="11" type="ftr"/>
          </p:nvPr>
        </p:nvSpPr>
        <p:spPr>
          <a:xfrm>
            <a:off x="1981200" y="6370637"/>
            <a:ext cx="4724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45"/>
          <p:cNvSpPr txBox="1"/>
          <p:nvPr>
            <p:ph idx="12" type="sldNum"/>
          </p:nvPr>
        </p:nvSpPr>
        <p:spPr>
          <a:xfrm>
            <a:off x="8534400" y="6248400"/>
            <a:ext cx="6096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>
    <p:fad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46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5F497A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46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7" name="Google Shape;87;p4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8" name="Google Shape;88;p46"/>
          <p:cNvSpPr txBox="1"/>
          <p:nvPr>
            <p:ph idx="11" type="ftr"/>
          </p:nvPr>
        </p:nvSpPr>
        <p:spPr>
          <a:xfrm>
            <a:off x="1981200" y="6370637"/>
            <a:ext cx="4724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p46"/>
          <p:cNvSpPr txBox="1"/>
          <p:nvPr>
            <p:ph idx="12" type="sldNum"/>
          </p:nvPr>
        </p:nvSpPr>
        <p:spPr>
          <a:xfrm>
            <a:off x="8534400" y="6248400"/>
            <a:ext cx="6096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>
    <p:fade/>
  </p:transition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E5DFEC"/>
            </a:gs>
            <a:gs pos="64999">
              <a:srgbClr val="F0EBD5"/>
            </a:gs>
            <a:gs pos="100000">
              <a:srgbClr val="D1C39F"/>
            </a:gs>
          </a:gsLst>
          <a:path path="circle">
            <a:fillToRect b="0%" l="100%" r="0%" t="100%"/>
          </a:path>
          <a:tileRect b="-100%" l="0%" r="-100%" t="0%"/>
        </a:gra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4"/>
          <p:cNvSpPr txBox="1"/>
          <p:nvPr>
            <p:ph type="title"/>
          </p:nvPr>
        </p:nvSpPr>
        <p:spPr>
          <a:xfrm>
            <a:off x="152400" y="152400"/>
            <a:ext cx="88392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rgbClr val="5F497A"/>
              </a:buClr>
              <a:buSzPts val="4000"/>
              <a:buFont typeface="Calibri"/>
              <a:buNone/>
              <a:defRPr b="1" i="0" sz="4000" u="none" cap="none" strike="noStrike">
                <a:solidFill>
                  <a:srgbClr val="5F497A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34"/>
          <p:cNvSpPr txBox="1"/>
          <p:nvPr>
            <p:ph idx="1" type="body"/>
          </p:nvPr>
        </p:nvSpPr>
        <p:spPr>
          <a:xfrm>
            <a:off x="152400" y="1600200"/>
            <a:ext cx="8839200" cy="46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rgbClr val="5F497A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rgbClr val="5F497A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rgbClr val="5F497A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rgbClr val="5F497A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rgbClr val="5F497A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34"/>
          <p:cNvSpPr txBox="1"/>
          <p:nvPr>
            <p:ph idx="11" type="ftr"/>
          </p:nvPr>
        </p:nvSpPr>
        <p:spPr>
          <a:xfrm>
            <a:off x="1981200" y="6370637"/>
            <a:ext cx="4724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34"/>
          <p:cNvSpPr/>
          <p:nvPr/>
        </p:nvSpPr>
        <p:spPr>
          <a:xfrm>
            <a:off x="0" y="1219200"/>
            <a:ext cx="9144000" cy="457200"/>
          </a:xfrm>
          <a:prstGeom prst="rect">
            <a:avLst/>
          </a:prstGeom>
          <a:gradFill>
            <a:gsLst>
              <a:gs pos="0">
                <a:srgbClr val="DB7531"/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" name="Google Shape;14;p34"/>
          <p:cNvSpPr/>
          <p:nvPr/>
        </p:nvSpPr>
        <p:spPr>
          <a:xfrm>
            <a:off x="8534400" y="6248400"/>
            <a:ext cx="609600" cy="609600"/>
          </a:xfrm>
          <a:prstGeom prst="rect">
            <a:avLst/>
          </a:prstGeom>
          <a:solidFill>
            <a:srgbClr val="DB7531"/>
          </a:solidFill>
          <a:ln>
            <a:noFill/>
          </a:ln>
          <a:effectLst>
            <a:outerShdw blurRad="76200" kx="1200000" rotWithShape="0" algn="br" sy="23000">
              <a:srgbClr val="000000">
                <a:alpha val="2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" name="Google Shape;15;p34"/>
          <p:cNvSpPr txBox="1"/>
          <p:nvPr>
            <p:ph idx="12" type="sldNum"/>
          </p:nvPr>
        </p:nvSpPr>
        <p:spPr>
          <a:xfrm>
            <a:off x="8534400" y="6248400"/>
            <a:ext cx="6096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ctr">
              <a:spcBef>
                <a:spcPts val="0"/>
              </a:spcBef>
              <a:buNone/>
              <a:defRPr b="1" i="0" sz="1200" u="none" cap="none" strike="noStrike">
                <a:solidFill>
                  <a:srgbClr val="EEEBCA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ctr">
              <a:spcBef>
                <a:spcPts val="0"/>
              </a:spcBef>
              <a:buNone/>
              <a:defRPr b="1" i="0" sz="1200" u="none" cap="none" strike="noStrike">
                <a:solidFill>
                  <a:srgbClr val="EEEBCA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ctr">
              <a:spcBef>
                <a:spcPts val="0"/>
              </a:spcBef>
              <a:buNone/>
              <a:defRPr b="1" i="0" sz="1200" u="none" cap="none" strike="noStrike">
                <a:solidFill>
                  <a:srgbClr val="EEEBCA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ctr">
              <a:spcBef>
                <a:spcPts val="0"/>
              </a:spcBef>
              <a:buNone/>
              <a:defRPr b="1" i="0" sz="1200" u="none" cap="none" strike="noStrike">
                <a:solidFill>
                  <a:srgbClr val="EEEBCA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ctr">
              <a:spcBef>
                <a:spcPts val="0"/>
              </a:spcBef>
              <a:buNone/>
              <a:defRPr b="1" i="0" sz="1200" u="none" cap="none" strike="noStrike">
                <a:solidFill>
                  <a:srgbClr val="EEEBCA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ctr">
              <a:spcBef>
                <a:spcPts val="0"/>
              </a:spcBef>
              <a:buNone/>
              <a:defRPr b="1" i="0" sz="1200" u="none" cap="none" strike="noStrike">
                <a:solidFill>
                  <a:srgbClr val="EEEBCA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ctr">
              <a:spcBef>
                <a:spcPts val="0"/>
              </a:spcBef>
              <a:buNone/>
              <a:defRPr b="1" i="0" sz="1200" u="none" cap="none" strike="noStrike">
                <a:solidFill>
                  <a:srgbClr val="EEEBCA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ctr">
              <a:spcBef>
                <a:spcPts val="0"/>
              </a:spcBef>
              <a:buNone/>
              <a:defRPr b="1" i="0" sz="1200" u="none" cap="none" strike="noStrike">
                <a:solidFill>
                  <a:srgbClr val="EEEBCA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ctr">
              <a:spcBef>
                <a:spcPts val="0"/>
              </a:spcBef>
              <a:buNone/>
              <a:defRPr b="1" i="0" sz="1200" u="none" cap="none" strike="noStrike">
                <a:solidFill>
                  <a:srgbClr val="EEEBCA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ransition>
    <p:fade/>
  </p:transition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5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6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"/>
          <p:cNvSpPr txBox="1"/>
          <p:nvPr>
            <p:ph type="title"/>
          </p:nvPr>
        </p:nvSpPr>
        <p:spPr>
          <a:xfrm>
            <a:off x="152400" y="152400"/>
            <a:ext cx="88392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5F497A"/>
              </a:buClr>
              <a:buSzPts val="2400"/>
              <a:buFont typeface="Calibri"/>
              <a:buNone/>
            </a:pPr>
            <a:r>
              <a:rPr lang="en-US" sz="2400"/>
              <a:t>Network Infrastructure Security</a:t>
            </a:r>
            <a:endParaRPr/>
          </a:p>
        </p:txBody>
      </p:sp>
      <p:sp>
        <p:nvSpPr>
          <p:cNvPr id="95" name="Google Shape;95;p1"/>
          <p:cNvSpPr txBox="1"/>
          <p:nvPr>
            <p:ph idx="1" type="body"/>
          </p:nvPr>
        </p:nvSpPr>
        <p:spPr>
          <a:xfrm>
            <a:off x="152400" y="1524000"/>
            <a:ext cx="8839200" cy="3733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800"/>
              </a:spcBef>
              <a:spcAft>
                <a:spcPts val="0"/>
              </a:spcAft>
              <a:buSzPts val="4000"/>
              <a:buNone/>
            </a:pPr>
            <a:r>
              <a:t/>
            </a:r>
            <a:endParaRPr b="1" sz="4000">
              <a:solidFill>
                <a:srgbClr val="5F497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880"/>
              </a:spcBef>
              <a:spcAft>
                <a:spcPts val="0"/>
              </a:spcAft>
              <a:buSzPts val="4400"/>
              <a:buNone/>
            </a:pPr>
            <a:r>
              <a:rPr b="1" lang="en-US" sz="4400">
                <a:solidFill>
                  <a:srgbClr val="5F497A"/>
                </a:solidFill>
                <a:latin typeface="Calibri"/>
                <a:ea typeface="Calibri"/>
                <a:cs typeface="Calibri"/>
                <a:sym typeface="Calibri"/>
              </a:rPr>
              <a:t>Information Security</a:t>
            </a:r>
            <a:endParaRPr b="1" sz="2000">
              <a:solidFill>
                <a:srgbClr val="5F497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1"/>
          <p:cNvSpPr txBox="1"/>
          <p:nvPr>
            <p:ph idx="12" type="sldNum"/>
          </p:nvPr>
        </p:nvSpPr>
        <p:spPr>
          <a:xfrm>
            <a:off x="8534400" y="6248400"/>
            <a:ext cx="6096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"/>
          <p:cNvSpPr txBox="1"/>
          <p:nvPr>
            <p:ph type="title"/>
          </p:nvPr>
        </p:nvSpPr>
        <p:spPr>
          <a:xfrm>
            <a:off x="134155" y="381000"/>
            <a:ext cx="8145462" cy="8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5F497A"/>
              </a:buClr>
              <a:buSzPts val="3600"/>
              <a:buFont typeface="Calibri"/>
              <a:buNone/>
            </a:pPr>
            <a:r>
              <a:rPr lang="en-US" sz="3600"/>
              <a:t>Network Infrastructure Security</a:t>
            </a:r>
            <a:endParaRPr sz="3600"/>
          </a:p>
        </p:txBody>
      </p:sp>
      <p:sp>
        <p:nvSpPr>
          <p:cNvPr id="103" name="Google Shape;103;p2"/>
          <p:cNvSpPr txBox="1"/>
          <p:nvPr>
            <p:ph idx="1" type="body"/>
          </p:nvPr>
        </p:nvSpPr>
        <p:spPr>
          <a:xfrm>
            <a:off x="152400" y="1600200"/>
            <a:ext cx="8839200" cy="525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en-US" sz="2400"/>
              <a:t>Securing a Network 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SzPts val="2400"/>
              <a:buChar char="•"/>
            </a:pPr>
            <a:r>
              <a:rPr lang="en-US" sz="2400"/>
              <a:t>Security through Network Design</a:t>
            </a:r>
            <a:endParaRPr/>
          </a:p>
          <a:p>
            <a:pPr indent="-285750" lvl="1" marL="742950" rtl="0" algn="l">
              <a:spcBef>
                <a:spcPts val="400"/>
              </a:spcBef>
              <a:spcAft>
                <a:spcPts val="0"/>
              </a:spcAft>
              <a:buSzPts val="2000"/>
              <a:buChar char="–"/>
            </a:pPr>
            <a:r>
              <a:rPr lang="en-US" sz="2000"/>
              <a:t>Subnetting</a:t>
            </a:r>
            <a:endParaRPr sz="2000"/>
          </a:p>
          <a:p>
            <a:pPr indent="-285750" lvl="1" marL="742950" rtl="0" algn="l">
              <a:spcBef>
                <a:spcPts val="400"/>
              </a:spcBef>
              <a:spcAft>
                <a:spcPts val="0"/>
              </a:spcAft>
              <a:buSzPts val="2000"/>
              <a:buChar char="–"/>
            </a:pPr>
            <a:r>
              <a:rPr lang="en-US" sz="2000"/>
              <a:t>Virtual LAN (VLAN)</a:t>
            </a:r>
            <a:endParaRPr/>
          </a:p>
          <a:p>
            <a:pPr indent="-285750" lvl="1" marL="742950" rtl="0" algn="l">
              <a:spcBef>
                <a:spcPts val="400"/>
              </a:spcBef>
              <a:spcAft>
                <a:spcPts val="0"/>
              </a:spcAft>
              <a:buSzPts val="2000"/>
              <a:buChar char="–"/>
            </a:pPr>
            <a:r>
              <a:rPr lang="en-US" sz="2000"/>
              <a:t>Demilitarized Zone (DMZ)</a:t>
            </a:r>
            <a:endParaRPr/>
          </a:p>
          <a:p>
            <a:pPr indent="-342900" lvl="1" marL="342900" rtl="0" algn="l">
              <a:spcBef>
                <a:spcPts val="48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en-US" sz="2400"/>
              <a:t>Security through Network Technologies</a:t>
            </a:r>
            <a:endParaRPr/>
          </a:p>
          <a:p>
            <a:pPr indent="-285750" lvl="1" marL="742950" rtl="0" algn="l">
              <a:spcBef>
                <a:spcPts val="400"/>
              </a:spcBef>
              <a:spcAft>
                <a:spcPts val="0"/>
              </a:spcAft>
              <a:buSzPts val="2000"/>
              <a:buChar char="–"/>
            </a:pPr>
            <a:r>
              <a:rPr lang="en-US" sz="2000"/>
              <a:t>Network Address Translation (NAT)</a:t>
            </a:r>
            <a:endParaRPr/>
          </a:p>
          <a:p>
            <a:pPr indent="-285750" lvl="1" marL="742950" rtl="0" algn="l">
              <a:spcBef>
                <a:spcPts val="400"/>
              </a:spcBef>
              <a:spcAft>
                <a:spcPts val="0"/>
              </a:spcAft>
              <a:buSzPts val="2000"/>
              <a:buChar char="–"/>
            </a:pPr>
            <a:r>
              <a:rPr lang="en-US" sz="2000"/>
              <a:t>Virtual Private Networks (VPN)</a:t>
            </a:r>
            <a:endParaRPr sz="2000"/>
          </a:p>
          <a:p>
            <a:pPr indent="0" lvl="1" marL="457200" rtl="0" algn="l">
              <a:spcBef>
                <a:spcPts val="4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 sz="2000"/>
          </a:p>
          <a:p>
            <a:pPr indent="-158750" lvl="1" marL="742950" rtl="0" algn="l">
              <a:spcBef>
                <a:spcPts val="4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 sz="2000"/>
          </a:p>
          <a:p>
            <a:pPr indent="-158750" lvl="1" marL="742950" rtl="0" algn="l">
              <a:spcBef>
                <a:spcPts val="4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 sz="2000"/>
          </a:p>
          <a:p>
            <a:pPr indent="0" lvl="1" marL="457200" rtl="0" algn="l">
              <a:spcBef>
                <a:spcPts val="4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 sz="2000"/>
          </a:p>
          <a:p>
            <a:pPr indent="-158750" lvl="1" marL="742950" rtl="0" algn="l">
              <a:spcBef>
                <a:spcPts val="4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 sz="2000"/>
          </a:p>
          <a:p>
            <a:pPr indent="-158750" lvl="1" marL="742950" rtl="0" algn="l">
              <a:spcBef>
                <a:spcPts val="4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 sz="2000"/>
          </a:p>
          <a:p>
            <a:pPr indent="-158750" lvl="1" marL="742950" rtl="0" algn="l">
              <a:spcBef>
                <a:spcPts val="4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 sz="20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>
                                            <p:txEl>
                                              <p:pRg end="11" st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>
                                            <p:txEl>
                                              <p:pRg end="12" st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>
                                            <p:txEl>
                                              <p:pRg end="13" st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>
                                            <p:txEl>
                                              <p:pRg end="14" st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3"/>
          <p:cNvSpPr txBox="1"/>
          <p:nvPr>
            <p:ph type="title"/>
          </p:nvPr>
        </p:nvSpPr>
        <p:spPr>
          <a:xfrm>
            <a:off x="134155" y="381000"/>
            <a:ext cx="8145462" cy="8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5F497A"/>
              </a:buClr>
              <a:buSzPts val="3600"/>
              <a:buFont typeface="Calibri"/>
              <a:buNone/>
            </a:pPr>
            <a:r>
              <a:rPr lang="en-US" sz="3600"/>
              <a:t>Network Infrastructure Security</a:t>
            </a:r>
            <a:endParaRPr sz="3600"/>
          </a:p>
        </p:txBody>
      </p:sp>
      <p:sp>
        <p:nvSpPr>
          <p:cNvPr id="110" name="Google Shape;110;p3"/>
          <p:cNvSpPr txBox="1"/>
          <p:nvPr>
            <p:ph idx="1" type="body"/>
          </p:nvPr>
        </p:nvSpPr>
        <p:spPr>
          <a:xfrm>
            <a:off x="152400" y="1600200"/>
            <a:ext cx="8839200" cy="525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US" sz="2800"/>
              <a:t>Applying Network Security Devices</a:t>
            </a:r>
            <a:endParaRPr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SzPts val="2400"/>
              <a:buChar char="–"/>
            </a:pPr>
            <a:r>
              <a:rPr lang="en-US" sz="2400"/>
              <a:t>Firewalls</a:t>
            </a:r>
            <a:endParaRPr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SzPts val="2400"/>
              <a:buChar char="–"/>
            </a:pPr>
            <a:r>
              <a:rPr lang="en-US" sz="2400"/>
              <a:t>Proxy Servers</a:t>
            </a:r>
            <a:endParaRPr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SzPts val="2400"/>
              <a:buChar char="–"/>
            </a:pPr>
            <a:r>
              <a:rPr lang="en-US" sz="2400"/>
              <a:t>Honeypots</a:t>
            </a:r>
            <a:endParaRPr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SzPts val="2400"/>
              <a:buChar char="–"/>
            </a:pPr>
            <a:r>
              <a:rPr lang="en-US" sz="2400"/>
              <a:t>Network Intrusion Detection Systems</a:t>
            </a:r>
            <a:endParaRPr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SzPts val="2400"/>
              <a:buChar char="–"/>
            </a:pPr>
            <a:r>
              <a:rPr lang="en-US" sz="2400"/>
              <a:t>Host and Network Intrusion Prevention Systems</a:t>
            </a:r>
            <a:endParaRPr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SzPts val="2400"/>
              <a:buChar char="–"/>
            </a:pPr>
            <a:r>
              <a:rPr lang="en-US" sz="2400"/>
              <a:t>Network Protocol Analyzers</a:t>
            </a:r>
            <a:endParaRPr/>
          </a:p>
          <a:p>
            <a:pPr indent="-133350" lvl="1" marL="742950" rtl="0" algn="l"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2400"/>
          </a:p>
          <a:p>
            <a:pPr indent="0" lvl="1" marL="457200" rtl="0" algn="l"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2400"/>
          </a:p>
          <a:p>
            <a:pPr indent="-133350" lvl="1" marL="742950" rtl="0" algn="l"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2400"/>
          </a:p>
          <a:p>
            <a:pPr indent="-133350" lvl="1" marL="742950" rtl="0" algn="l"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2400"/>
          </a:p>
          <a:p>
            <a:pPr indent="0" lvl="1" marL="457200" rtl="0" algn="l"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2400"/>
          </a:p>
          <a:p>
            <a:pPr indent="-133350" lvl="1" marL="742950" rtl="0" algn="l"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2400"/>
          </a:p>
          <a:p>
            <a:pPr indent="-133350" lvl="1" marL="742950" rtl="0" algn="l"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2400"/>
          </a:p>
          <a:p>
            <a:pPr indent="-133350" lvl="1" marL="742950" rtl="0" algn="l"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24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>
                                            <p:txEl>
                                              <p:pRg end="11" st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>
                                            <p:txEl>
                                              <p:pRg end="12" st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>
                                            <p:txEl>
                                              <p:pRg end="13" st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>
                                            <p:txEl>
                                              <p:pRg end="14" st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b450265c13_0_2"/>
          <p:cNvSpPr txBox="1"/>
          <p:nvPr>
            <p:ph type="title"/>
          </p:nvPr>
        </p:nvSpPr>
        <p:spPr>
          <a:xfrm>
            <a:off x="152400" y="152400"/>
            <a:ext cx="8839200" cy="10782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NAT vs Proxy Server</a:t>
            </a:r>
            <a:endParaRPr/>
          </a:p>
        </p:txBody>
      </p:sp>
      <p:sp>
        <p:nvSpPr>
          <p:cNvPr id="117" name="Google Shape;117;g3b450265c13_0_2"/>
          <p:cNvSpPr txBox="1"/>
          <p:nvPr>
            <p:ph idx="1" type="body"/>
          </p:nvPr>
        </p:nvSpPr>
        <p:spPr>
          <a:xfrm>
            <a:off x="152400" y="1600200"/>
            <a:ext cx="8839200" cy="4648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400">
                <a:latin typeface="Arial"/>
                <a:ea typeface="Arial"/>
                <a:cs typeface="Arial"/>
                <a:sym typeface="Arial"/>
              </a:rPr>
              <a:t>NAT (Network Address Translation)</a:t>
            </a:r>
            <a:endParaRPr b="1" sz="1400"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US" sz="1400">
                <a:latin typeface="Arial"/>
                <a:ea typeface="Arial"/>
                <a:cs typeface="Arial"/>
                <a:sym typeface="Arial"/>
              </a:rPr>
              <a:t>Hides </a:t>
            </a:r>
            <a:r>
              <a:rPr b="1" lang="en-US" sz="1400">
                <a:latin typeface="Arial"/>
                <a:ea typeface="Arial"/>
                <a:cs typeface="Arial"/>
                <a:sym typeface="Arial"/>
              </a:rPr>
              <a:t>many devices</a:t>
            </a:r>
            <a:r>
              <a:rPr lang="en-US" sz="1400">
                <a:latin typeface="Arial"/>
                <a:ea typeface="Arial"/>
                <a:cs typeface="Arial"/>
                <a:sym typeface="Arial"/>
              </a:rPr>
              <a:t> behind </a:t>
            </a:r>
            <a:r>
              <a:rPr b="1" lang="en-US" sz="1400">
                <a:latin typeface="Arial"/>
                <a:ea typeface="Arial"/>
                <a:cs typeface="Arial"/>
                <a:sym typeface="Arial"/>
              </a:rPr>
              <a:t>one public IP</a:t>
            </a:r>
            <a:br>
              <a:rPr b="1" lang="en-US" sz="1400">
                <a:latin typeface="Arial"/>
                <a:ea typeface="Arial"/>
                <a:cs typeface="Arial"/>
                <a:sym typeface="Arial"/>
              </a:rPr>
            </a:br>
            <a:endParaRPr b="1" sz="1400"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US" sz="1400">
                <a:latin typeface="Arial"/>
                <a:ea typeface="Arial"/>
                <a:cs typeface="Arial"/>
                <a:sym typeface="Arial"/>
              </a:rPr>
              <a:t>Works at </a:t>
            </a:r>
            <a:r>
              <a:rPr b="1" lang="en-US" sz="1400">
                <a:latin typeface="Arial"/>
                <a:ea typeface="Arial"/>
                <a:cs typeface="Arial"/>
                <a:sym typeface="Arial"/>
              </a:rPr>
              <a:t>network level</a:t>
            </a:r>
            <a:br>
              <a:rPr b="1" lang="en-US" sz="1400">
                <a:latin typeface="Arial"/>
                <a:ea typeface="Arial"/>
                <a:cs typeface="Arial"/>
                <a:sym typeface="Arial"/>
              </a:rPr>
            </a:br>
            <a:endParaRPr b="1" sz="1400"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US" sz="1400">
                <a:latin typeface="Arial"/>
                <a:ea typeface="Arial"/>
                <a:cs typeface="Arial"/>
                <a:sym typeface="Arial"/>
              </a:rPr>
              <a:t>Transparent to users</a:t>
            </a:r>
            <a:br>
              <a:rPr lang="en-US" sz="1400">
                <a:latin typeface="Arial"/>
                <a:ea typeface="Arial"/>
                <a:cs typeface="Arial"/>
                <a:sym typeface="Arial"/>
              </a:rPr>
            </a:b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US" sz="1400">
                <a:latin typeface="Arial"/>
                <a:ea typeface="Arial"/>
                <a:cs typeface="Arial"/>
                <a:sym typeface="Arial"/>
              </a:rPr>
              <a:t>Main purpose: </a:t>
            </a:r>
            <a:r>
              <a:rPr b="1" lang="en-US" sz="1400">
                <a:latin typeface="Arial"/>
                <a:ea typeface="Arial"/>
                <a:cs typeface="Arial"/>
                <a:sym typeface="Arial"/>
              </a:rPr>
              <a:t>save IP addresses</a:t>
            </a:r>
            <a:br>
              <a:rPr b="1" lang="en-US" sz="1400">
                <a:latin typeface="Arial"/>
                <a:ea typeface="Arial"/>
                <a:cs typeface="Arial"/>
                <a:sym typeface="Arial"/>
              </a:rPr>
            </a:br>
            <a:endParaRPr b="1" sz="14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400">
                <a:latin typeface="Arial"/>
                <a:ea typeface="Arial"/>
                <a:cs typeface="Arial"/>
                <a:sym typeface="Arial"/>
              </a:rPr>
              <a:t>Proxy Server</a:t>
            </a:r>
            <a:endParaRPr b="1" sz="1400"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US" sz="1400">
                <a:latin typeface="Arial"/>
                <a:ea typeface="Arial"/>
                <a:cs typeface="Arial"/>
                <a:sym typeface="Arial"/>
              </a:rPr>
              <a:t>Acts as a </a:t>
            </a:r>
            <a:r>
              <a:rPr b="1" lang="en-US" sz="1400">
                <a:latin typeface="Arial"/>
                <a:ea typeface="Arial"/>
                <a:cs typeface="Arial"/>
                <a:sym typeface="Arial"/>
              </a:rPr>
              <a:t>middleman</a:t>
            </a:r>
            <a:r>
              <a:rPr lang="en-US" sz="1400">
                <a:latin typeface="Arial"/>
                <a:ea typeface="Arial"/>
                <a:cs typeface="Arial"/>
                <a:sym typeface="Arial"/>
              </a:rPr>
              <a:t> for users</a:t>
            </a:r>
            <a:br>
              <a:rPr lang="en-US" sz="1400">
                <a:latin typeface="Arial"/>
                <a:ea typeface="Arial"/>
                <a:cs typeface="Arial"/>
                <a:sym typeface="Arial"/>
              </a:rPr>
            </a:b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US" sz="1400">
                <a:latin typeface="Arial"/>
                <a:ea typeface="Arial"/>
                <a:cs typeface="Arial"/>
                <a:sym typeface="Arial"/>
              </a:rPr>
              <a:t>Works at </a:t>
            </a:r>
            <a:r>
              <a:rPr b="1" lang="en-US" sz="1400">
                <a:latin typeface="Arial"/>
                <a:ea typeface="Arial"/>
                <a:cs typeface="Arial"/>
                <a:sym typeface="Arial"/>
              </a:rPr>
              <a:t>application level</a:t>
            </a:r>
            <a:br>
              <a:rPr b="1" lang="en-US" sz="1400">
                <a:latin typeface="Arial"/>
                <a:ea typeface="Arial"/>
                <a:cs typeface="Arial"/>
                <a:sym typeface="Arial"/>
              </a:rPr>
            </a:br>
            <a:endParaRPr b="1" sz="1400"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US" sz="1400">
                <a:latin typeface="Arial"/>
                <a:ea typeface="Arial"/>
                <a:cs typeface="Arial"/>
                <a:sym typeface="Arial"/>
              </a:rPr>
              <a:t>Users know they are using it</a:t>
            </a:r>
            <a:br>
              <a:rPr lang="en-US" sz="1400">
                <a:latin typeface="Arial"/>
                <a:ea typeface="Arial"/>
                <a:cs typeface="Arial"/>
                <a:sym typeface="Arial"/>
              </a:rPr>
            </a:b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US" sz="1400">
                <a:latin typeface="Arial"/>
                <a:ea typeface="Arial"/>
                <a:cs typeface="Arial"/>
                <a:sym typeface="Arial"/>
              </a:rPr>
              <a:t>Main purpose: </a:t>
            </a:r>
            <a:r>
              <a:rPr b="1" lang="en-US" sz="1400">
                <a:latin typeface="Arial"/>
                <a:ea typeface="Arial"/>
                <a:cs typeface="Arial"/>
                <a:sym typeface="Arial"/>
              </a:rPr>
              <a:t>control, filter, cache, or hide identity</a:t>
            </a:r>
            <a:endParaRPr sz="3500"/>
          </a:p>
        </p:txBody>
      </p:sp>
      <p:sp>
        <p:nvSpPr>
          <p:cNvPr id="118" name="Google Shape;118;g3b450265c13_0_2"/>
          <p:cNvSpPr txBox="1"/>
          <p:nvPr>
            <p:ph idx="12" type="sldNum"/>
          </p:nvPr>
        </p:nvSpPr>
        <p:spPr>
          <a:xfrm>
            <a:off x="8534400" y="6248400"/>
            <a:ext cx="609600" cy="6096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n-US"/>
              <a:t>2-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4"/>
          <p:cNvSpPr txBox="1"/>
          <p:nvPr>
            <p:ph idx="1" type="body"/>
          </p:nvPr>
        </p:nvSpPr>
        <p:spPr>
          <a:xfrm>
            <a:off x="76200" y="1524000"/>
            <a:ext cx="8915400" cy="51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en-US" sz="2800"/>
              <a:t>Applying Network Security Devices: Proxy server</a:t>
            </a:r>
            <a:endParaRPr/>
          </a:p>
          <a:p>
            <a:pPr indent="-342900" lvl="1" marL="342900" rtl="0" algn="l">
              <a:spcBef>
                <a:spcPts val="48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en-US" sz="2400"/>
              <a:t>A computer system (or an application program) that intercepts internal user requests and then processes that request on behalf of the user</a:t>
            </a:r>
            <a:endParaRPr/>
          </a:p>
          <a:p>
            <a:pPr indent="-342900" lvl="1" marL="342900" rtl="0" algn="l">
              <a:spcBef>
                <a:spcPts val="48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en-US" sz="2400"/>
              <a:t>Clients cannot connect directly to the </a:t>
            </a:r>
            <a:r>
              <a:rPr lang="en-US" sz="2400"/>
              <a:t>Internet;</a:t>
            </a:r>
            <a:r>
              <a:rPr lang="en-US" sz="2400"/>
              <a:t> requests go to Proxy, which fetches the content (if it's permitted)</a:t>
            </a:r>
            <a:endParaRPr/>
          </a:p>
          <a:p>
            <a:pPr indent="-342900" lvl="1" marL="342900" rtl="0" algn="l">
              <a:spcBef>
                <a:spcPts val="48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en-US" sz="2400"/>
              <a:t>The goal</a:t>
            </a:r>
            <a:r>
              <a:rPr lang="en-US" sz="2400"/>
              <a:t> is to hide the IP address of client systems inside the secure network</a:t>
            </a:r>
            <a:endParaRPr sz="3200"/>
          </a:p>
          <a:p>
            <a:pPr indent="-342900" lvl="1" marL="342900" rtl="0" algn="l">
              <a:spcBef>
                <a:spcPts val="48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en-US" sz="2400"/>
              <a:t>Reverse proxy: Does not serve clients but instead routes incoming requests to the correct server</a:t>
            </a:r>
            <a:endParaRPr/>
          </a:p>
          <a:p>
            <a:pPr indent="-190500" lvl="1" marL="342900" rtl="0" algn="l">
              <a:spcBef>
                <a:spcPts val="480"/>
              </a:spcBef>
              <a:spcAft>
                <a:spcPts val="0"/>
              </a:spcAft>
              <a:buSzPts val="2400"/>
              <a:buFont typeface="Arial"/>
              <a:buNone/>
            </a:pPr>
            <a:r>
              <a:t/>
            </a:r>
            <a:endParaRPr sz="2400"/>
          </a:p>
        </p:txBody>
      </p:sp>
      <p:sp>
        <p:nvSpPr>
          <p:cNvPr id="125" name="Google Shape;125;p4"/>
          <p:cNvSpPr txBox="1"/>
          <p:nvPr>
            <p:ph type="title"/>
          </p:nvPr>
        </p:nvSpPr>
        <p:spPr>
          <a:xfrm>
            <a:off x="152400" y="152400"/>
            <a:ext cx="88392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5F497A"/>
              </a:buClr>
              <a:buSzPts val="3600"/>
              <a:buFont typeface="Calibri"/>
              <a:buNone/>
            </a:pPr>
            <a:r>
              <a:rPr lang="en-US" sz="3600"/>
              <a:t>Network Infrastructure Security</a:t>
            </a:r>
            <a:endParaRPr sz="3600"/>
          </a:p>
        </p:txBody>
      </p:sp>
      <p:pic>
        <p:nvPicPr>
          <p:cNvPr descr="Screen Shot 2014-12-22 at 9.36.54 AM.png" id="126" name="Google Shape;126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59400" y="5356965"/>
            <a:ext cx="3784600" cy="150103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5"/>
          <p:cNvSpPr txBox="1"/>
          <p:nvPr>
            <p:ph idx="1" type="body"/>
          </p:nvPr>
        </p:nvSpPr>
        <p:spPr>
          <a:xfrm>
            <a:off x="152400" y="1614152"/>
            <a:ext cx="8839200" cy="51676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b="1" lang="en-US" sz="3000"/>
              <a:t>Applying Network Security Devices: </a:t>
            </a:r>
            <a:r>
              <a:rPr b="1" lang="en-US" sz="2800"/>
              <a:t>Proxy server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SzPts val="3000"/>
              <a:buNone/>
            </a:pPr>
            <a:r>
              <a:t/>
            </a:r>
            <a:endParaRPr sz="3000"/>
          </a:p>
        </p:txBody>
      </p:sp>
      <p:sp>
        <p:nvSpPr>
          <p:cNvPr id="133" name="Google Shape;133;p5"/>
          <p:cNvSpPr txBox="1"/>
          <p:nvPr>
            <p:ph type="title"/>
          </p:nvPr>
        </p:nvSpPr>
        <p:spPr>
          <a:xfrm>
            <a:off x="152400" y="152400"/>
            <a:ext cx="88392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5F497A"/>
              </a:buClr>
              <a:buSzPts val="3600"/>
              <a:buFont typeface="Calibri"/>
              <a:buNone/>
            </a:pPr>
            <a:r>
              <a:rPr lang="en-US" sz="3600"/>
              <a:t>Network Infrastructure Security</a:t>
            </a:r>
            <a:endParaRPr sz="3600"/>
          </a:p>
        </p:txBody>
      </p:sp>
      <p:pic>
        <p:nvPicPr>
          <p:cNvPr id="134" name="Google Shape;134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6099" y="2209800"/>
            <a:ext cx="8611802" cy="42677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6"/>
          <p:cNvSpPr txBox="1"/>
          <p:nvPr>
            <p:ph idx="1" type="body"/>
          </p:nvPr>
        </p:nvSpPr>
        <p:spPr>
          <a:xfrm>
            <a:off x="76200" y="1524000"/>
            <a:ext cx="8915400" cy="51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en-US" sz="2800"/>
              <a:t>Applying Network Security Devices: Proxy server</a:t>
            </a:r>
            <a:endParaRPr/>
          </a:p>
          <a:p>
            <a:pPr indent="-342900" lvl="1" marL="342900" rtl="0" algn="l">
              <a:spcBef>
                <a:spcPts val="48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en-US" sz="2400"/>
              <a:t>Caching Proxy</a:t>
            </a:r>
            <a:endParaRPr/>
          </a:p>
          <a:p>
            <a:pPr indent="-285750" lvl="1" marL="742950" rtl="0" algn="l">
              <a:spcBef>
                <a:spcPts val="400"/>
              </a:spcBef>
              <a:spcAft>
                <a:spcPts val="0"/>
              </a:spcAft>
              <a:buSzPts val="2000"/>
              <a:buChar char="–"/>
            </a:pPr>
            <a:r>
              <a:rPr lang="en-US" sz="2000"/>
              <a:t>If many clients request the same page, such as yahoo.com</a:t>
            </a:r>
            <a:endParaRPr/>
          </a:p>
          <a:p>
            <a:pPr indent="-285750" lvl="1" marL="742950" rtl="0" algn="l">
              <a:spcBef>
                <a:spcPts val="400"/>
              </a:spcBef>
              <a:spcAft>
                <a:spcPts val="0"/>
              </a:spcAft>
              <a:buSzPts val="2000"/>
              <a:buChar char="–"/>
            </a:pPr>
            <a:r>
              <a:rPr lang="en-US" sz="2000"/>
              <a:t>The proxy only </a:t>
            </a:r>
            <a:r>
              <a:rPr lang="en-US" sz="2000" u="sng"/>
              <a:t>fetches one copy</a:t>
            </a:r>
            <a:r>
              <a:rPr lang="en-US" sz="2000"/>
              <a:t>, and </a:t>
            </a:r>
            <a:r>
              <a:rPr lang="en-US" sz="2000" u="sng"/>
              <a:t>distributes</a:t>
            </a:r>
            <a:r>
              <a:rPr lang="en-US" sz="2000"/>
              <a:t> it to all the clients</a:t>
            </a:r>
            <a:endParaRPr/>
          </a:p>
          <a:p>
            <a:pPr indent="-285750" lvl="1" marL="742950" rtl="0" algn="l">
              <a:spcBef>
                <a:spcPts val="400"/>
              </a:spcBef>
              <a:spcAft>
                <a:spcPts val="0"/>
              </a:spcAft>
              <a:buSzPts val="2000"/>
              <a:buChar char="–"/>
            </a:pPr>
            <a:r>
              <a:rPr lang="en-US" sz="2000"/>
              <a:t>Makes network seem faster</a:t>
            </a:r>
            <a:endParaRPr/>
          </a:p>
          <a:p>
            <a:pPr indent="-190500" lvl="1" marL="342900" rtl="0" algn="l">
              <a:spcBef>
                <a:spcPts val="480"/>
              </a:spcBef>
              <a:spcAft>
                <a:spcPts val="0"/>
              </a:spcAft>
              <a:buSzPts val="2400"/>
              <a:buFont typeface="Arial"/>
              <a:buNone/>
            </a:pPr>
            <a:r>
              <a:t/>
            </a:r>
            <a:endParaRPr sz="2400"/>
          </a:p>
        </p:txBody>
      </p:sp>
      <p:sp>
        <p:nvSpPr>
          <p:cNvPr id="141" name="Google Shape;141;p6"/>
          <p:cNvSpPr txBox="1"/>
          <p:nvPr>
            <p:ph type="title"/>
          </p:nvPr>
        </p:nvSpPr>
        <p:spPr>
          <a:xfrm>
            <a:off x="152400" y="152400"/>
            <a:ext cx="88392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5F497A"/>
              </a:buClr>
              <a:buSzPts val="3600"/>
              <a:buFont typeface="Calibri"/>
              <a:buNone/>
            </a:pPr>
            <a:r>
              <a:rPr lang="en-US" sz="3600"/>
              <a:t>Network Infrastructure Security</a:t>
            </a:r>
            <a:endParaRPr sz="36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7"/>
          <p:cNvSpPr txBox="1"/>
          <p:nvPr>
            <p:ph idx="1" type="body"/>
          </p:nvPr>
        </p:nvSpPr>
        <p:spPr>
          <a:xfrm>
            <a:off x="76200" y="1524000"/>
            <a:ext cx="8915400" cy="51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en-US" sz="2800"/>
              <a:t>Applying Network Security Devices: Honeypot </a:t>
            </a:r>
            <a:endParaRPr sz="2400"/>
          </a:p>
          <a:p>
            <a:pPr indent="-342900" lvl="1" marL="342900" rtl="0" algn="l">
              <a:spcBef>
                <a:spcPts val="48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en-US" sz="2400"/>
              <a:t>Intended to trap or trick attackers</a:t>
            </a:r>
            <a:endParaRPr/>
          </a:p>
          <a:p>
            <a:pPr indent="-342900" lvl="1" marL="342900" rtl="0" algn="l">
              <a:spcBef>
                <a:spcPts val="48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en-US" sz="2400"/>
              <a:t>A computer typically located in a DMZ that is loaded with software and data files that appear to be authentic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Char char="–"/>
            </a:pPr>
            <a:r>
              <a:rPr lang="en-US" sz="2000" u="sng"/>
              <a:t>Actually replica of real data files but fake</a:t>
            </a:r>
            <a:endParaRPr u="sng"/>
          </a:p>
          <a:p>
            <a:pPr indent="-342900" lvl="1" marL="342900" rtl="0" algn="l">
              <a:spcBef>
                <a:spcPts val="48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en-US" sz="2400"/>
              <a:t>Three primary purposes of a honeypot: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Char char="–"/>
            </a:pPr>
            <a:r>
              <a:rPr b="1" lang="en-US" sz="2000"/>
              <a:t>Divert attention</a:t>
            </a:r>
            <a:endParaRPr b="1"/>
          </a:p>
          <a:p>
            <a:pPr indent="-285750" lvl="1" marL="74295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Char char="–"/>
            </a:pPr>
            <a:r>
              <a:rPr b="1" lang="en-US" sz="2000"/>
              <a:t>Early warnings of new attacks</a:t>
            </a:r>
            <a:endParaRPr b="1"/>
          </a:p>
          <a:p>
            <a:pPr indent="-285750" lvl="1" marL="74295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Char char="–"/>
            </a:pPr>
            <a:r>
              <a:rPr b="1" lang="en-US" sz="2000"/>
              <a:t>Examine attacker techniques</a:t>
            </a:r>
            <a:endParaRPr b="1"/>
          </a:p>
        </p:txBody>
      </p:sp>
      <p:sp>
        <p:nvSpPr>
          <p:cNvPr id="148" name="Google Shape;148;p7"/>
          <p:cNvSpPr txBox="1"/>
          <p:nvPr>
            <p:ph type="title"/>
          </p:nvPr>
        </p:nvSpPr>
        <p:spPr>
          <a:xfrm>
            <a:off x="152400" y="152400"/>
            <a:ext cx="88392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5F497A"/>
              </a:buClr>
              <a:buSzPts val="3600"/>
              <a:buFont typeface="Calibri"/>
              <a:buNone/>
            </a:pPr>
            <a:r>
              <a:rPr lang="en-US" sz="3600"/>
              <a:t>Network Infrastructure Security</a:t>
            </a:r>
            <a:endParaRPr sz="36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8"/>
          <p:cNvSpPr txBox="1"/>
          <p:nvPr>
            <p:ph idx="1" type="body"/>
          </p:nvPr>
        </p:nvSpPr>
        <p:spPr>
          <a:xfrm>
            <a:off x="76200" y="1524000"/>
            <a:ext cx="8915400" cy="51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en-US" sz="2800"/>
              <a:t>Applying Network Security Devices: Honeypot </a:t>
            </a:r>
            <a:endParaRPr sz="2400"/>
          </a:p>
          <a:p>
            <a:pPr indent="-342900" lvl="1" marL="342900" rtl="0" algn="l">
              <a:spcBef>
                <a:spcPts val="48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en-US" sz="2400"/>
              <a:t>Types of honeypots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Char char="–"/>
            </a:pPr>
            <a:r>
              <a:rPr lang="en-US" sz="2000"/>
              <a:t>Production honeypots</a:t>
            </a:r>
            <a:endParaRPr/>
          </a:p>
          <a:p>
            <a:pPr indent="-228600" lvl="2" marL="1143000" rtl="0" algn="l">
              <a:lnSpc>
                <a:spcPct val="90000"/>
              </a:lnSpc>
              <a:spcBef>
                <a:spcPts val="320"/>
              </a:spcBef>
              <a:spcAft>
                <a:spcPts val="0"/>
              </a:spcAft>
              <a:buSzPts val="1600"/>
              <a:buChar char="•"/>
            </a:pPr>
            <a:r>
              <a:rPr lang="en-US" sz="1600"/>
              <a:t>These are easy to use, capture only </a:t>
            </a:r>
            <a:r>
              <a:rPr lang="en-US" sz="1600" u="sng"/>
              <a:t>limited information</a:t>
            </a:r>
            <a:endParaRPr u="sng"/>
          </a:p>
          <a:p>
            <a:pPr indent="-285750" lvl="1" marL="74295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Char char="–"/>
            </a:pPr>
            <a:r>
              <a:rPr lang="en-US" sz="2000"/>
              <a:t>Research honeypots</a:t>
            </a:r>
            <a:endParaRPr/>
          </a:p>
          <a:p>
            <a:pPr indent="-228600" lvl="2" marL="1143000" rtl="0" algn="l">
              <a:lnSpc>
                <a:spcPct val="90000"/>
              </a:lnSpc>
              <a:spcBef>
                <a:spcPts val="320"/>
              </a:spcBef>
              <a:spcAft>
                <a:spcPts val="0"/>
              </a:spcAft>
              <a:buSzPts val="1600"/>
              <a:buChar char="•"/>
            </a:pPr>
            <a:r>
              <a:rPr lang="en-US" sz="1600"/>
              <a:t>Research honeypots are </a:t>
            </a:r>
            <a:r>
              <a:rPr lang="en-US" sz="1600" u="sng"/>
              <a:t>complex to deploy</a:t>
            </a:r>
            <a:r>
              <a:rPr lang="en-US" sz="1600"/>
              <a:t> and maintain</a:t>
            </a:r>
            <a:endParaRPr/>
          </a:p>
          <a:p>
            <a:pPr indent="-342900" lvl="1" marL="342900" rtl="0" algn="l">
              <a:spcBef>
                <a:spcPts val="48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en-US" sz="2400"/>
              <a:t>Information gained from studies using honeypots can be helpful in identifying attacker behavior and crafting defenses</a:t>
            </a:r>
            <a:endParaRPr/>
          </a:p>
        </p:txBody>
      </p:sp>
      <p:sp>
        <p:nvSpPr>
          <p:cNvPr id="155" name="Google Shape;155;p8"/>
          <p:cNvSpPr txBox="1"/>
          <p:nvPr>
            <p:ph type="title"/>
          </p:nvPr>
        </p:nvSpPr>
        <p:spPr>
          <a:xfrm>
            <a:off x="152400" y="152400"/>
            <a:ext cx="88392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5F497A"/>
              </a:buClr>
              <a:buSzPts val="3600"/>
              <a:buFont typeface="Calibri"/>
              <a:buNone/>
            </a:pPr>
            <a:r>
              <a:rPr lang="en-US" sz="3600"/>
              <a:t>Network Infrastructure Security</a:t>
            </a:r>
            <a:endParaRPr sz="36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9"/>
          <p:cNvSpPr txBox="1"/>
          <p:nvPr>
            <p:ph idx="1" type="body"/>
          </p:nvPr>
        </p:nvSpPr>
        <p:spPr>
          <a:xfrm>
            <a:off x="76200" y="1524000"/>
            <a:ext cx="8915400" cy="51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en-US" sz="2800"/>
              <a:t>Applying Network Security Devices: Honeypot  Deployment</a:t>
            </a:r>
            <a:endParaRPr sz="2400"/>
          </a:p>
        </p:txBody>
      </p:sp>
      <p:sp>
        <p:nvSpPr>
          <p:cNvPr id="162" name="Google Shape;162;p9"/>
          <p:cNvSpPr txBox="1"/>
          <p:nvPr>
            <p:ph type="title"/>
          </p:nvPr>
        </p:nvSpPr>
        <p:spPr>
          <a:xfrm>
            <a:off x="152400" y="152400"/>
            <a:ext cx="88392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5F497A"/>
              </a:buClr>
              <a:buSzPts val="3600"/>
              <a:buFont typeface="Calibri"/>
              <a:buNone/>
            </a:pPr>
            <a:r>
              <a:rPr lang="en-US" sz="3600"/>
              <a:t>Network Infrastructure Security</a:t>
            </a:r>
            <a:endParaRPr sz="3600"/>
          </a:p>
        </p:txBody>
      </p:sp>
      <p:pic>
        <p:nvPicPr>
          <p:cNvPr id="163" name="Google Shape;163;p9"/>
          <p:cNvPicPr preferRelativeResize="0"/>
          <p:nvPr/>
        </p:nvPicPr>
        <p:blipFill rotWithShape="1">
          <a:blip r:embed="rId3">
            <a:alphaModFix/>
          </a:blip>
          <a:srcRect b="10739" l="2316" r="4632" t="7159"/>
          <a:stretch/>
        </p:blipFill>
        <p:spPr>
          <a:xfrm>
            <a:off x="2286000" y="2166938"/>
            <a:ext cx="4108164" cy="46910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0"/>
          <p:cNvSpPr txBox="1"/>
          <p:nvPr>
            <p:ph idx="1" type="body"/>
          </p:nvPr>
        </p:nvSpPr>
        <p:spPr>
          <a:xfrm>
            <a:off x="76200" y="1524000"/>
            <a:ext cx="8915400" cy="51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en-US" sz="2800"/>
              <a:t>Applying Network Security Devices: Network intrusion detection system (NIDS)</a:t>
            </a:r>
            <a:endParaRPr/>
          </a:p>
          <a:p>
            <a:pPr indent="-342900" lvl="1" marL="342900" rtl="0" algn="l">
              <a:spcBef>
                <a:spcPts val="48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en-US" sz="2400"/>
              <a:t>Network intrusion detection system (NIDS)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Char char="–"/>
            </a:pPr>
            <a:r>
              <a:rPr lang="en-US" sz="2000" u="sng"/>
              <a:t>Watches for attempts to penetrate a network</a:t>
            </a:r>
            <a:endParaRPr u="sng"/>
          </a:p>
          <a:p>
            <a:pPr indent="-342900" lvl="1" marL="342900" rtl="0" algn="l">
              <a:spcBef>
                <a:spcPts val="48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en-US" sz="2400"/>
              <a:t>NIDS work on the principle of comparing new behavior against normal or </a:t>
            </a:r>
            <a:r>
              <a:rPr lang="en-US" sz="2400" u="sng"/>
              <a:t>acceptable behavior</a:t>
            </a:r>
            <a:endParaRPr u="sng"/>
          </a:p>
          <a:p>
            <a:pPr indent="-342900" lvl="1" marL="342900" rtl="0" algn="l">
              <a:spcBef>
                <a:spcPts val="48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en-US" sz="2400"/>
              <a:t>A NIDS looks for </a:t>
            </a:r>
            <a:r>
              <a:rPr lang="en-US" sz="2400" u="sng"/>
              <a:t>suspicious patterns</a:t>
            </a:r>
            <a:endParaRPr u="sng"/>
          </a:p>
        </p:txBody>
      </p:sp>
      <p:sp>
        <p:nvSpPr>
          <p:cNvPr id="170" name="Google Shape;170;p10"/>
          <p:cNvSpPr txBox="1"/>
          <p:nvPr>
            <p:ph type="title"/>
          </p:nvPr>
        </p:nvSpPr>
        <p:spPr>
          <a:xfrm>
            <a:off x="152400" y="152400"/>
            <a:ext cx="88392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5F497A"/>
              </a:buClr>
              <a:buSzPts val="3600"/>
              <a:buFont typeface="Calibri"/>
              <a:buNone/>
            </a:pPr>
            <a:r>
              <a:rPr lang="en-US" sz="3600"/>
              <a:t>Network Infrastructure Security</a:t>
            </a:r>
            <a:endParaRPr sz="36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1"/>
          <p:cNvSpPr txBox="1"/>
          <p:nvPr>
            <p:ph idx="1" type="body"/>
          </p:nvPr>
        </p:nvSpPr>
        <p:spPr>
          <a:xfrm>
            <a:off x="76200" y="1524000"/>
            <a:ext cx="8915400" cy="51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en-US" sz="2800"/>
              <a:t>Applying Network Security Devices: Network intrusion detection system (NIDS)</a:t>
            </a:r>
            <a:endParaRPr/>
          </a:p>
        </p:txBody>
      </p:sp>
      <p:sp>
        <p:nvSpPr>
          <p:cNvPr id="177" name="Google Shape;177;p11"/>
          <p:cNvSpPr txBox="1"/>
          <p:nvPr>
            <p:ph type="title"/>
          </p:nvPr>
        </p:nvSpPr>
        <p:spPr>
          <a:xfrm>
            <a:off x="152400" y="152400"/>
            <a:ext cx="88392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5F497A"/>
              </a:buClr>
              <a:buSzPts val="3600"/>
              <a:buFont typeface="Calibri"/>
              <a:buNone/>
            </a:pPr>
            <a:r>
              <a:rPr lang="en-US" sz="3600"/>
              <a:t>Network Infrastructure Security</a:t>
            </a:r>
            <a:endParaRPr sz="3600"/>
          </a:p>
        </p:txBody>
      </p:sp>
      <p:pic>
        <p:nvPicPr>
          <p:cNvPr id="178" name="Google Shape;178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1783" y="2514600"/>
            <a:ext cx="8840434" cy="30103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2"/>
          <p:cNvSpPr txBox="1"/>
          <p:nvPr>
            <p:ph idx="1" type="body"/>
          </p:nvPr>
        </p:nvSpPr>
        <p:spPr>
          <a:xfrm>
            <a:off x="76200" y="1524000"/>
            <a:ext cx="8915400" cy="51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en-US" sz="2800"/>
              <a:t>Applying Network Security Devices: Network intrusion detection system (NIDS)</a:t>
            </a:r>
            <a:endParaRPr/>
          </a:p>
          <a:p>
            <a:pPr indent="-342900" lvl="1" marL="342900" rtl="0" algn="l">
              <a:spcBef>
                <a:spcPts val="48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en-US" sz="2400"/>
              <a:t>Functions a NIDS can perform: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Char char="–"/>
            </a:pPr>
            <a:r>
              <a:rPr lang="en-US" sz="2000" u="sng"/>
              <a:t>Configure the firewall</a:t>
            </a:r>
            <a:r>
              <a:rPr lang="en-US" sz="2000"/>
              <a:t> to filter out the IP address of the intruder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Char char="–"/>
            </a:pPr>
            <a:r>
              <a:rPr lang="en-US" sz="2000"/>
              <a:t>Play an </a:t>
            </a:r>
            <a:r>
              <a:rPr lang="en-US" sz="2000" u="sng"/>
              <a:t>audio file</a:t>
            </a:r>
            <a:r>
              <a:rPr lang="en-US" sz="2000"/>
              <a:t> that says “Attack is taking place”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Char char="–"/>
            </a:pPr>
            <a:r>
              <a:rPr lang="en-US" sz="2000"/>
              <a:t>S</a:t>
            </a:r>
            <a:r>
              <a:rPr lang="en-US" sz="2000" u="sng"/>
              <a:t>ave the packets</a:t>
            </a:r>
            <a:r>
              <a:rPr lang="en-US" sz="2000"/>
              <a:t> in a file for further analysis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Char char="–"/>
            </a:pPr>
            <a:r>
              <a:rPr lang="en-US" sz="2000"/>
              <a:t>Send an entry to a system log file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Char char="–"/>
            </a:pPr>
            <a:r>
              <a:rPr lang="en-US" sz="2000"/>
              <a:t>Send e-mail or a </a:t>
            </a:r>
            <a:r>
              <a:rPr lang="en-US" sz="2000" u="sng"/>
              <a:t>cell phone message to the network administrator</a:t>
            </a:r>
            <a:endParaRPr u="sng"/>
          </a:p>
        </p:txBody>
      </p:sp>
      <p:sp>
        <p:nvSpPr>
          <p:cNvPr id="185" name="Google Shape;185;p12"/>
          <p:cNvSpPr txBox="1"/>
          <p:nvPr>
            <p:ph type="title"/>
          </p:nvPr>
        </p:nvSpPr>
        <p:spPr>
          <a:xfrm>
            <a:off x="152400" y="152400"/>
            <a:ext cx="88392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5F497A"/>
              </a:buClr>
              <a:buSzPts val="3600"/>
              <a:buFont typeface="Calibri"/>
              <a:buNone/>
            </a:pPr>
            <a:r>
              <a:rPr lang="en-US" sz="3600"/>
              <a:t>Network Infrastructure Security</a:t>
            </a:r>
            <a:endParaRPr sz="36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3"/>
          <p:cNvSpPr txBox="1"/>
          <p:nvPr>
            <p:ph idx="1" type="body"/>
          </p:nvPr>
        </p:nvSpPr>
        <p:spPr>
          <a:xfrm>
            <a:off x="76200" y="1524000"/>
            <a:ext cx="8915400" cy="51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en-US" sz="2800"/>
              <a:t>Applying Network Security Devices: Host Intrusion Prevention Systems (Host-IPS)</a:t>
            </a:r>
            <a:endParaRPr/>
          </a:p>
          <a:p>
            <a:pPr indent="-342900" lvl="1" marL="342900" rtl="0" algn="l">
              <a:spcBef>
                <a:spcPts val="48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en-US" sz="2400"/>
              <a:t>Intrusion prevention system (IPS)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Char char="–"/>
            </a:pPr>
            <a:r>
              <a:rPr lang="en-US" sz="2000"/>
              <a:t>Finds malicious traffic and </a:t>
            </a:r>
            <a:r>
              <a:rPr lang="en-US" sz="2000" u="sng"/>
              <a:t>deals with it </a:t>
            </a:r>
            <a:r>
              <a:rPr lang="en-US" sz="2000"/>
              <a:t>immediately</a:t>
            </a:r>
            <a:endParaRPr/>
          </a:p>
          <a:p>
            <a:pPr indent="-342900" lvl="2" marL="742950" rtl="0" algn="l">
              <a:spcBef>
                <a:spcPts val="40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A typical IPS response may be to </a:t>
            </a:r>
            <a:r>
              <a:rPr lang="en-US" sz="2000" u="sng"/>
              <a:t>block all incoming traffic on a specific port</a:t>
            </a:r>
            <a:endParaRPr u="sng"/>
          </a:p>
          <a:p>
            <a:pPr indent="-342900" lvl="1" marL="342900" rtl="0" algn="l">
              <a:spcBef>
                <a:spcPts val="48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en-US" sz="2400"/>
              <a:t>Host intrusion prevention systems (Host-IPS)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Char char="–"/>
            </a:pPr>
            <a:r>
              <a:rPr lang="en-US" sz="2000" u="sng"/>
              <a:t>Installed on each system</a:t>
            </a:r>
            <a:r>
              <a:rPr lang="en-US" sz="2000"/>
              <a:t> that needs to be protected</a:t>
            </a:r>
            <a:endParaRPr/>
          </a:p>
        </p:txBody>
      </p:sp>
      <p:sp>
        <p:nvSpPr>
          <p:cNvPr id="192" name="Google Shape;192;p13"/>
          <p:cNvSpPr txBox="1"/>
          <p:nvPr>
            <p:ph type="title"/>
          </p:nvPr>
        </p:nvSpPr>
        <p:spPr>
          <a:xfrm>
            <a:off x="152400" y="152400"/>
            <a:ext cx="88392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5F497A"/>
              </a:buClr>
              <a:buSzPts val="3600"/>
              <a:buFont typeface="Calibri"/>
              <a:buNone/>
            </a:pPr>
            <a:r>
              <a:rPr lang="en-US" sz="3600"/>
              <a:t>Network Infrastructure Security</a:t>
            </a:r>
            <a:endParaRPr sz="36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4"/>
          <p:cNvSpPr txBox="1"/>
          <p:nvPr>
            <p:ph idx="1" type="body"/>
          </p:nvPr>
        </p:nvSpPr>
        <p:spPr>
          <a:xfrm>
            <a:off x="76200" y="1524000"/>
            <a:ext cx="8915400" cy="51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en-US" sz="2800"/>
              <a:t>Applying Network Security Devices: Host Intrusion Prevention Systems (Host-IPS)</a:t>
            </a:r>
            <a:endParaRPr/>
          </a:p>
          <a:p>
            <a:pPr indent="-342900" lvl="1" marL="342900" rtl="0" algn="l">
              <a:spcBef>
                <a:spcPts val="48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en-US" sz="2400"/>
              <a:t>Most Host-IPS monitor the following desktop functions: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Char char="–"/>
            </a:pPr>
            <a:r>
              <a:rPr lang="en-US" sz="2000" u="sng"/>
              <a:t>System calls</a:t>
            </a:r>
            <a:endParaRPr u="sng"/>
          </a:p>
          <a:p>
            <a:pPr indent="-285750" lvl="1" marL="74295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Char char="–"/>
            </a:pPr>
            <a:r>
              <a:rPr lang="en-US" sz="2000" u="sng"/>
              <a:t>File system access</a:t>
            </a:r>
            <a:endParaRPr u="sng"/>
          </a:p>
          <a:p>
            <a:pPr indent="-285750" lvl="1" marL="74295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Char char="–"/>
            </a:pPr>
            <a:r>
              <a:rPr lang="en-US" sz="2000" u="sng"/>
              <a:t>System Registry settings</a:t>
            </a:r>
            <a:endParaRPr u="sng"/>
          </a:p>
          <a:p>
            <a:pPr indent="-285750" lvl="1" marL="74295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Char char="–"/>
            </a:pPr>
            <a:r>
              <a:rPr lang="en-US" sz="2000" u="sng"/>
              <a:t>Host input/output</a:t>
            </a:r>
            <a:endParaRPr u="sng"/>
          </a:p>
          <a:p>
            <a:pPr indent="-342900" lvl="1" marL="342900" rtl="0" algn="l">
              <a:spcBef>
                <a:spcPts val="48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en-US" sz="2400"/>
              <a:t>Host-IPS are designed to </a:t>
            </a:r>
            <a:r>
              <a:rPr lang="en-US" sz="2400" u="sng"/>
              <a:t>integrate</a:t>
            </a:r>
            <a:r>
              <a:rPr lang="en-US" sz="2400"/>
              <a:t> with existing </a:t>
            </a:r>
            <a:r>
              <a:rPr lang="en-US" sz="2400" u="sng"/>
              <a:t>antivirus</a:t>
            </a:r>
            <a:r>
              <a:rPr lang="en-US" sz="2400"/>
              <a:t>, </a:t>
            </a:r>
            <a:r>
              <a:rPr lang="en-US" sz="2400" u="sng"/>
              <a:t>anti-spyware</a:t>
            </a:r>
            <a:r>
              <a:rPr lang="en-US" sz="2400"/>
              <a:t>, and </a:t>
            </a:r>
            <a:r>
              <a:rPr lang="en-US" sz="2400" u="sng"/>
              <a:t>firewalls</a:t>
            </a:r>
            <a:endParaRPr u="sng"/>
          </a:p>
        </p:txBody>
      </p:sp>
      <p:sp>
        <p:nvSpPr>
          <p:cNvPr id="199" name="Google Shape;199;p14"/>
          <p:cNvSpPr txBox="1"/>
          <p:nvPr>
            <p:ph type="title"/>
          </p:nvPr>
        </p:nvSpPr>
        <p:spPr>
          <a:xfrm>
            <a:off x="152400" y="152400"/>
            <a:ext cx="88392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5F497A"/>
              </a:buClr>
              <a:buSzPts val="3600"/>
              <a:buFont typeface="Calibri"/>
              <a:buNone/>
            </a:pPr>
            <a:r>
              <a:rPr lang="en-US" sz="3600"/>
              <a:t>Network Infrastructure Security</a:t>
            </a:r>
            <a:endParaRPr sz="36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15"/>
          <p:cNvSpPr txBox="1"/>
          <p:nvPr>
            <p:ph idx="1" type="body"/>
          </p:nvPr>
        </p:nvSpPr>
        <p:spPr>
          <a:xfrm>
            <a:off x="76200" y="1524000"/>
            <a:ext cx="8915400" cy="51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en-US" sz="2800"/>
              <a:t>Applying Network Security Devices: Network Intrusion Prevention Systems (NIPS)</a:t>
            </a:r>
            <a:endParaRPr/>
          </a:p>
          <a:p>
            <a:pPr indent="-342900" lvl="1" marL="342900" rtl="0" algn="l">
              <a:spcBef>
                <a:spcPts val="48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en-US" sz="2400"/>
              <a:t>Work to </a:t>
            </a:r>
            <a:r>
              <a:rPr lang="en-US" sz="2400" u="sng"/>
              <a:t>protect the entire network </a:t>
            </a:r>
            <a:r>
              <a:rPr lang="en-US" sz="2400"/>
              <a:t>and all devices that are connected to it</a:t>
            </a:r>
            <a:endParaRPr/>
          </a:p>
          <a:p>
            <a:pPr indent="-342900" lvl="1" marL="342900" rtl="0" algn="l">
              <a:spcBef>
                <a:spcPts val="48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en-US" sz="2400"/>
              <a:t>By monitoring network traffic NIPS can </a:t>
            </a:r>
            <a:r>
              <a:rPr lang="en-US" sz="2400" u="sng"/>
              <a:t>immediately react to block a malicious attack</a:t>
            </a:r>
            <a:endParaRPr u="sng"/>
          </a:p>
          <a:p>
            <a:pPr indent="-342900" lvl="1" marL="342900" rtl="0" algn="l">
              <a:spcBef>
                <a:spcPts val="48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en-US" sz="2400"/>
              <a:t>NIPS are special-purpose hardware platforms that </a:t>
            </a:r>
            <a:r>
              <a:rPr lang="en-US" sz="2400" u="sng"/>
              <a:t>analyze</a:t>
            </a:r>
            <a:r>
              <a:rPr lang="en-US" sz="2400"/>
              <a:t>, </a:t>
            </a:r>
            <a:r>
              <a:rPr lang="en-US" sz="2400" u="sng"/>
              <a:t>detect</a:t>
            </a:r>
            <a:r>
              <a:rPr lang="en-US" sz="2400"/>
              <a:t>, and </a:t>
            </a:r>
            <a:r>
              <a:rPr lang="en-US" sz="2400" u="sng"/>
              <a:t>react</a:t>
            </a:r>
            <a:r>
              <a:rPr lang="en-US" sz="2400"/>
              <a:t> to security-related events</a:t>
            </a:r>
            <a:endParaRPr/>
          </a:p>
        </p:txBody>
      </p:sp>
      <p:sp>
        <p:nvSpPr>
          <p:cNvPr id="206" name="Google Shape;206;p15"/>
          <p:cNvSpPr txBox="1"/>
          <p:nvPr>
            <p:ph type="title"/>
          </p:nvPr>
        </p:nvSpPr>
        <p:spPr>
          <a:xfrm>
            <a:off x="152400" y="152400"/>
            <a:ext cx="88392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5F497A"/>
              </a:buClr>
              <a:buSzPts val="3600"/>
              <a:buFont typeface="Calibri"/>
              <a:buNone/>
            </a:pPr>
            <a:r>
              <a:rPr lang="en-US" sz="3600"/>
              <a:t>Network Infrastructure Security</a:t>
            </a:r>
            <a:endParaRPr sz="36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16"/>
          <p:cNvSpPr txBox="1"/>
          <p:nvPr>
            <p:ph idx="1" type="body"/>
          </p:nvPr>
        </p:nvSpPr>
        <p:spPr>
          <a:xfrm>
            <a:off x="76200" y="1524000"/>
            <a:ext cx="8915400" cy="51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en-US" sz="2800"/>
              <a:t>Applying Network Security Devices: Protocol Analyzers</a:t>
            </a:r>
            <a:endParaRPr/>
          </a:p>
          <a:p>
            <a:pPr indent="-342900" lvl="1" marL="342900" rtl="0" algn="l">
              <a:spcBef>
                <a:spcPts val="48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en-US" sz="2400"/>
              <a:t>Three ways for detecting a potential intrusion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Char char="–"/>
            </a:pPr>
            <a:r>
              <a:rPr lang="en-US" sz="2000"/>
              <a:t>Detecting statistical anomalies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Char char="–"/>
            </a:pPr>
            <a:r>
              <a:rPr lang="en-US" sz="2000"/>
              <a:t>Examine network traffic and look for well-known patterns of attack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Char char="–"/>
            </a:pPr>
            <a:r>
              <a:rPr lang="en-US" sz="2000"/>
              <a:t>Use protocol analyzer technology</a:t>
            </a:r>
            <a:endParaRPr/>
          </a:p>
          <a:p>
            <a:pPr indent="-342900" lvl="1" marL="342900" rtl="0" algn="l">
              <a:spcBef>
                <a:spcPts val="48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en-US" sz="2400"/>
              <a:t>Protocol analyzers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Char char="–"/>
            </a:pPr>
            <a:r>
              <a:rPr lang="en-US" sz="2000"/>
              <a:t>Can fully decode </a:t>
            </a:r>
            <a:r>
              <a:rPr lang="en-US" sz="2000" u="sng"/>
              <a:t>application-layer network protocols</a:t>
            </a:r>
            <a:endParaRPr u="sng"/>
          </a:p>
          <a:p>
            <a:pPr indent="-285750" lvl="1" marL="74295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Char char="–"/>
            </a:pPr>
            <a:r>
              <a:rPr lang="en-US" sz="2000"/>
              <a:t>Different parts of the protocol can be analyzed for any suspicious behavior</a:t>
            </a:r>
            <a:endParaRPr/>
          </a:p>
        </p:txBody>
      </p:sp>
      <p:sp>
        <p:nvSpPr>
          <p:cNvPr id="213" name="Google Shape;213;p16"/>
          <p:cNvSpPr txBox="1"/>
          <p:nvPr>
            <p:ph type="title"/>
          </p:nvPr>
        </p:nvSpPr>
        <p:spPr>
          <a:xfrm>
            <a:off x="152400" y="152400"/>
            <a:ext cx="88392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5F497A"/>
              </a:buClr>
              <a:buSzPts val="3600"/>
              <a:buFont typeface="Calibri"/>
              <a:buNone/>
            </a:pPr>
            <a:r>
              <a:rPr lang="en-US" sz="3600"/>
              <a:t>Network Infrastructure Security</a:t>
            </a:r>
            <a:endParaRPr sz="36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17"/>
          <p:cNvSpPr txBox="1"/>
          <p:nvPr>
            <p:ph idx="1" type="body"/>
          </p:nvPr>
        </p:nvSpPr>
        <p:spPr>
          <a:xfrm>
            <a:off x="76200" y="1524000"/>
            <a:ext cx="8915400" cy="51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en-US" sz="2800"/>
              <a:t>Applying Network Security Devices: Internet content filters</a:t>
            </a:r>
            <a:endParaRPr/>
          </a:p>
          <a:p>
            <a:pPr indent="-342900" lvl="1" marL="342900" rtl="0" algn="l">
              <a:spcBef>
                <a:spcPts val="48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en-US" sz="2400"/>
              <a:t>Monitor Internet traffic and block access to preselected Web sites and files</a:t>
            </a:r>
            <a:endParaRPr/>
          </a:p>
          <a:p>
            <a:pPr indent="-342900" lvl="1" marL="342900" rtl="0" algn="l">
              <a:spcBef>
                <a:spcPts val="48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en-US" sz="2400"/>
              <a:t>A requested Web page is only displayed if it follows the specified filters</a:t>
            </a:r>
            <a:endParaRPr/>
          </a:p>
          <a:p>
            <a:pPr indent="-342900" lvl="1" marL="342900" rtl="0" algn="l">
              <a:spcBef>
                <a:spcPts val="48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en-US" sz="2400"/>
              <a:t>Unapproved Web sites can be restricted based on the Uniform Resource Locator (URL) or by matching keywords</a:t>
            </a:r>
            <a:endParaRPr/>
          </a:p>
        </p:txBody>
      </p:sp>
      <p:sp>
        <p:nvSpPr>
          <p:cNvPr id="220" name="Google Shape;220;p17"/>
          <p:cNvSpPr txBox="1"/>
          <p:nvPr>
            <p:ph type="title"/>
          </p:nvPr>
        </p:nvSpPr>
        <p:spPr>
          <a:xfrm>
            <a:off x="152400" y="152400"/>
            <a:ext cx="88392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5F497A"/>
              </a:buClr>
              <a:buSzPts val="3600"/>
              <a:buFont typeface="Calibri"/>
              <a:buNone/>
            </a:pPr>
            <a:r>
              <a:rPr lang="en-US" sz="3600"/>
              <a:t>Network Infrastructure Security</a:t>
            </a:r>
            <a:endParaRPr sz="36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18"/>
          <p:cNvSpPr txBox="1"/>
          <p:nvPr>
            <p:ph idx="1" type="body"/>
          </p:nvPr>
        </p:nvSpPr>
        <p:spPr>
          <a:xfrm>
            <a:off x="76200" y="1524000"/>
            <a:ext cx="8915400" cy="51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en-US" sz="2800"/>
              <a:t>Applying Network Security Devices: Internet content filters</a:t>
            </a:r>
            <a:endParaRPr/>
          </a:p>
        </p:txBody>
      </p:sp>
      <p:sp>
        <p:nvSpPr>
          <p:cNvPr id="227" name="Google Shape;227;p18"/>
          <p:cNvSpPr txBox="1"/>
          <p:nvPr>
            <p:ph type="title"/>
          </p:nvPr>
        </p:nvSpPr>
        <p:spPr>
          <a:xfrm>
            <a:off x="152400" y="152400"/>
            <a:ext cx="88392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5F497A"/>
              </a:buClr>
              <a:buSzPts val="3600"/>
              <a:buFont typeface="Calibri"/>
              <a:buNone/>
            </a:pPr>
            <a:r>
              <a:rPr lang="en-US" sz="3600"/>
              <a:t>Network Infrastructure Security</a:t>
            </a:r>
            <a:endParaRPr sz="3600"/>
          </a:p>
        </p:txBody>
      </p:sp>
      <p:pic>
        <p:nvPicPr>
          <p:cNvPr id="228" name="Google Shape;228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7872" y="2057400"/>
            <a:ext cx="8621328" cy="327705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19"/>
          <p:cNvSpPr txBox="1"/>
          <p:nvPr>
            <p:ph idx="1" type="body"/>
          </p:nvPr>
        </p:nvSpPr>
        <p:spPr>
          <a:xfrm>
            <a:off x="76200" y="1524000"/>
            <a:ext cx="8915400" cy="51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en-US" sz="2800"/>
              <a:t>Applying Network Security Devices: Integrated Network Security Hardware</a:t>
            </a:r>
            <a:endParaRPr/>
          </a:p>
          <a:p>
            <a:pPr indent="-342900" lvl="1" marL="342900" rtl="0" algn="l">
              <a:spcBef>
                <a:spcPts val="48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en-US" sz="2400"/>
              <a:t>Types of hardware security appliances: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Char char="–"/>
            </a:pPr>
            <a:r>
              <a:rPr lang="en-US" sz="2000"/>
              <a:t>Dedicated security appliances provide a single security service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Char char="–"/>
            </a:pPr>
            <a:r>
              <a:rPr lang="en-US" sz="2000"/>
              <a:t>Multipurpose security appliances that provide multiple security functions</a:t>
            </a:r>
            <a:endParaRPr/>
          </a:p>
          <a:p>
            <a:pPr indent="-342900" lvl="1" marL="342900" rtl="0" algn="l">
              <a:spcBef>
                <a:spcPts val="48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en-US" sz="2400"/>
              <a:t>Integrated network security hardware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Char char="–"/>
            </a:pPr>
            <a:r>
              <a:rPr lang="en-US" sz="2000"/>
              <a:t>Combines or integrates multipurpose security appliances with a traditional network device such as a switch or router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Char char="–"/>
            </a:pPr>
            <a:r>
              <a:rPr lang="en-US" sz="2000"/>
              <a:t>Particularly attractive for networks that use IDS</a:t>
            </a:r>
            <a:endParaRPr/>
          </a:p>
        </p:txBody>
      </p:sp>
      <p:sp>
        <p:nvSpPr>
          <p:cNvPr id="235" name="Google Shape;235;p19"/>
          <p:cNvSpPr txBox="1"/>
          <p:nvPr>
            <p:ph type="title"/>
          </p:nvPr>
        </p:nvSpPr>
        <p:spPr>
          <a:xfrm>
            <a:off x="152400" y="152400"/>
            <a:ext cx="88392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5F497A"/>
              </a:buClr>
              <a:buSzPts val="3600"/>
              <a:buFont typeface="Calibri"/>
              <a:buNone/>
            </a:pPr>
            <a:r>
              <a:rPr lang="en-US" sz="3600"/>
              <a:t>Network Infrastructure Security</a:t>
            </a:r>
            <a:endParaRPr sz="36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20"/>
          <p:cNvSpPr txBox="1"/>
          <p:nvPr>
            <p:ph idx="1" type="body"/>
          </p:nvPr>
        </p:nvSpPr>
        <p:spPr>
          <a:xfrm>
            <a:off x="76200" y="1524000"/>
            <a:ext cx="8915400" cy="51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en-US" sz="2800"/>
              <a:t>Applying Network Security Devices: Unified Threat Management</a:t>
            </a:r>
            <a:endParaRPr/>
          </a:p>
          <a:p>
            <a:pPr indent="-342900" lvl="1" marL="342900" rtl="0" algn="l">
              <a:spcBef>
                <a:spcPts val="48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en-US" sz="2400"/>
              <a:t>Web Security Gateway or UTM Security Appliances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Char char="–"/>
            </a:pPr>
            <a:r>
              <a:rPr lang="en-US" sz="2000"/>
              <a:t>Combines many security functions, such as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Char char="–"/>
            </a:pPr>
            <a:r>
              <a:rPr lang="en-US" sz="2000"/>
              <a:t>URL filtering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Char char="–"/>
            </a:pPr>
            <a:r>
              <a:rPr lang="en-US" sz="2000"/>
              <a:t>Firewall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Char char="–"/>
            </a:pPr>
            <a:r>
              <a:rPr lang="en-US" sz="2000"/>
              <a:t>Antivirus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Char char="–"/>
            </a:pPr>
            <a:r>
              <a:rPr lang="en-US" sz="2000"/>
              <a:t>Spam-blocking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Char char="–"/>
            </a:pPr>
            <a:r>
              <a:rPr lang="en-US" sz="2000"/>
              <a:t>Content filtering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Char char="–"/>
            </a:pPr>
            <a:r>
              <a:rPr lang="en-US" sz="2000"/>
              <a:t>Data Loss Prevention (DLP)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 sz="2000"/>
          </a:p>
        </p:txBody>
      </p:sp>
      <p:sp>
        <p:nvSpPr>
          <p:cNvPr id="242" name="Google Shape;242;p20"/>
          <p:cNvSpPr txBox="1"/>
          <p:nvPr>
            <p:ph type="title"/>
          </p:nvPr>
        </p:nvSpPr>
        <p:spPr>
          <a:xfrm>
            <a:off x="152400" y="152400"/>
            <a:ext cx="88392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5F497A"/>
              </a:buClr>
              <a:buSzPts val="3600"/>
              <a:buFont typeface="Calibri"/>
              <a:buNone/>
            </a:pPr>
            <a:r>
              <a:rPr lang="en-US" sz="3600"/>
              <a:t>Network Infrastructure Security</a:t>
            </a:r>
            <a:endParaRPr sz="36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21"/>
          <p:cNvSpPr txBox="1"/>
          <p:nvPr>
            <p:ph idx="1" type="body"/>
          </p:nvPr>
        </p:nvSpPr>
        <p:spPr>
          <a:xfrm>
            <a:off x="76200" y="1524000"/>
            <a:ext cx="8915400" cy="51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en-US" sz="2800"/>
              <a:t>Hardening Systems</a:t>
            </a:r>
            <a:endParaRPr/>
          </a:p>
          <a:p>
            <a:pPr indent="-342900" lvl="1" marL="342900" rtl="0" algn="l">
              <a:spcBef>
                <a:spcPts val="48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en-US" sz="2400"/>
              <a:t>A host  is any device with an IP address; such as servers, workstations, printers, etc.</a:t>
            </a:r>
            <a:endParaRPr/>
          </a:p>
          <a:p>
            <a:pPr indent="-342900" lvl="1" marL="342900" rtl="0" algn="l">
              <a:spcBef>
                <a:spcPts val="48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en-US" sz="2400"/>
              <a:t>Hardening is the practice of making the system more secure than a default installation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Char char="–"/>
            </a:pPr>
            <a:r>
              <a:rPr lang="en-US" sz="2000" u="sng"/>
              <a:t>Disabling unnecessary services</a:t>
            </a:r>
            <a:endParaRPr u="sng"/>
          </a:p>
          <a:p>
            <a:pPr indent="-285750" lvl="1" marL="74295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Char char="–"/>
            </a:pPr>
            <a:r>
              <a:rPr lang="en-US" sz="2000" u="sng"/>
              <a:t>Disabling unneeded applications</a:t>
            </a:r>
            <a:endParaRPr u="sng"/>
          </a:p>
          <a:p>
            <a:pPr indent="-285750" lvl="1" marL="74295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Char char="–"/>
            </a:pPr>
            <a:r>
              <a:rPr lang="en-US" sz="2000" u="sng"/>
              <a:t>Protecting management interfaces and applications</a:t>
            </a:r>
            <a:endParaRPr u="sng"/>
          </a:p>
        </p:txBody>
      </p:sp>
      <p:sp>
        <p:nvSpPr>
          <p:cNvPr id="249" name="Google Shape;249;p21"/>
          <p:cNvSpPr txBox="1"/>
          <p:nvPr>
            <p:ph type="title"/>
          </p:nvPr>
        </p:nvSpPr>
        <p:spPr>
          <a:xfrm>
            <a:off x="152400" y="152400"/>
            <a:ext cx="88392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5F497A"/>
              </a:buClr>
              <a:buSzPts val="3600"/>
              <a:buFont typeface="Calibri"/>
              <a:buNone/>
            </a:pPr>
            <a:r>
              <a:rPr lang="en-US" sz="3600"/>
              <a:t>Network Infrastructure Security</a:t>
            </a:r>
            <a:endParaRPr sz="36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22"/>
          <p:cNvSpPr txBox="1"/>
          <p:nvPr>
            <p:ph idx="1" type="body"/>
          </p:nvPr>
        </p:nvSpPr>
        <p:spPr>
          <a:xfrm>
            <a:off x="76200" y="1524000"/>
            <a:ext cx="8915400" cy="51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en-US" sz="2800"/>
              <a:t>Hardening Systems: Disabling Unnecessary Services</a:t>
            </a:r>
            <a:endParaRPr/>
          </a:p>
          <a:p>
            <a:pPr indent="-342900" lvl="1" marL="342900" rtl="0" algn="l">
              <a:spcBef>
                <a:spcPts val="48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en-US" sz="2400"/>
              <a:t>Improves overall security position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Char char="–"/>
            </a:pPr>
            <a:r>
              <a:rPr lang="en-US" sz="2000"/>
              <a:t>Less vulnerable to attacks</a:t>
            </a:r>
            <a:endParaRPr/>
          </a:p>
          <a:p>
            <a:pPr indent="-342900" lvl="1" marL="342900" rtl="0" algn="l">
              <a:spcBef>
                <a:spcPts val="48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en-US" sz="2400"/>
              <a:t>Reduces the attack surface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Char char="–"/>
            </a:pPr>
            <a:r>
              <a:rPr lang="en-US" sz="2000"/>
              <a:t>Prevents both known and 0day attacks against the disabled services</a:t>
            </a:r>
            <a:endParaRPr/>
          </a:p>
          <a:p>
            <a:pPr indent="-342900" lvl="1" marL="342900" rtl="0" algn="l">
              <a:spcBef>
                <a:spcPts val="48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en-US" sz="2400"/>
              <a:t>Reduces risks from open ports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Char char="–"/>
            </a:pPr>
            <a:r>
              <a:rPr lang="en-US" sz="2000"/>
              <a:t>Ports won’t be open when scanned</a:t>
            </a:r>
            <a:endParaRPr/>
          </a:p>
        </p:txBody>
      </p:sp>
      <p:sp>
        <p:nvSpPr>
          <p:cNvPr id="256" name="Google Shape;256;p22"/>
          <p:cNvSpPr txBox="1"/>
          <p:nvPr>
            <p:ph type="title"/>
          </p:nvPr>
        </p:nvSpPr>
        <p:spPr>
          <a:xfrm>
            <a:off x="152400" y="152400"/>
            <a:ext cx="88392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5F497A"/>
              </a:buClr>
              <a:buSzPts val="3600"/>
              <a:buFont typeface="Calibri"/>
              <a:buNone/>
            </a:pPr>
            <a:r>
              <a:rPr lang="en-US" sz="3600"/>
              <a:t>Network Infrastructure Security</a:t>
            </a:r>
            <a:endParaRPr sz="36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23"/>
          <p:cNvSpPr txBox="1"/>
          <p:nvPr>
            <p:ph idx="1" type="body"/>
          </p:nvPr>
        </p:nvSpPr>
        <p:spPr>
          <a:xfrm>
            <a:off x="76200" y="1524000"/>
            <a:ext cx="8915400" cy="51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en-US" sz="2800"/>
              <a:t>Hardening Systems: Other Hardening Steps</a:t>
            </a:r>
            <a:endParaRPr/>
          </a:p>
          <a:p>
            <a:pPr indent="-342900" lvl="1" marL="342900" rtl="0" algn="l">
              <a:spcBef>
                <a:spcPts val="48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en-US" sz="2400"/>
              <a:t>Uninstall Unneeded Applications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Char char="–"/>
            </a:pPr>
            <a:r>
              <a:rPr lang="en-US" sz="2000"/>
              <a:t>For best protection</a:t>
            </a:r>
            <a:endParaRPr/>
          </a:p>
          <a:p>
            <a:pPr indent="-342900" lvl="1" marL="342900" rtl="0" algn="l">
              <a:spcBef>
                <a:spcPts val="48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en-US" sz="2400"/>
              <a:t>Disable unnecessary accounts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Char char="–"/>
            </a:pPr>
            <a:r>
              <a:rPr lang="en-US" sz="2000"/>
              <a:t>Watch for default and backdoor accounts</a:t>
            </a:r>
            <a:endParaRPr/>
          </a:p>
          <a:p>
            <a:pPr indent="-342900" lvl="1" marL="342900" rtl="0" algn="l">
              <a:spcBef>
                <a:spcPts val="48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en-US" sz="2400"/>
              <a:t>Protect management interfaces and applications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Char char="–"/>
            </a:pPr>
            <a:r>
              <a:rPr lang="en-US" sz="2000"/>
              <a:t>Change default passwords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Char char="–"/>
            </a:pPr>
            <a:r>
              <a:rPr lang="en-US" sz="2000"/>
              <a:t>Disallow administration from WAN, or limit it to specific source IP addresses</a:t>
            </a:r>
            <a:endParaRPr/>
          </a:p>
        </p:txBody>
      </p:sp>
      <p:sp>
        <p:nvSpPr>
          <p:cNvPr id="263" name="Google Shape;263;p23"/>
          <p:cNvSpPr txBox="1"/>
          <p:nvPr>
            <p:ph type="title"/>
          </p:nvPr>
        </p:nvSpPr>
        <p:spPr>
          <a:xfrm>
            <a:off x="152400" y="152400"/>
            <a:ext cx="88392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5F497A"/>
              </a:buClr>
              <a:buSzPts val="3600"/>
              <a:buFont typeface="Calibri"/>
              <a:buNone/>
            </a:pPr>
            <a:r>
              <a:rPr lang="en-US" sz="3600"/>
              <a:t>Network Infrastructure Security</a:t>
            </a:r>
            <a:endParaRPr sz="36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24"/>
          <p:cNvSpPr txBox="1"/>
          <p:nvPr>
            <p:ph idx="1" type="body"/>
          </p:nvPr>
        </p:nvSpPr>
        <p:spPr>
          <a:xfrm>
            <a:off x="76200" y="1524000"/>
            <a:ext cx="8915400" cy="51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en-US" sz="2800"/>
              <a:t>Hardening Systems: Using Baselines</a:t>
            </a:r>
            <a:endParaRPr/>
          </a:p>
          <a:p>
            <a:pPr indent="-342900" lvl="1" marL="342900" rtl="0" algn="l">
              <a:spcBef>
                <a:spcPts val="48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en-US" sz="2400"/>
              <a:t>Security baseline</a:t>
            </a:r>
            <a:endParaRPr/>
          </a:p>
          <a:p>
            <a:pPr indent="-342900" lvl="1" marL="342900" rtl="0" algn="l">
              <a:spcBef>
                <a:spcPts val="48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en-US" sz="2400"/>
              <a:t>Configuration baseline</a:t>
            </a:r>
            <a:endParaRPr/>
          </a:p>
          <a:p>
            <a:pPr indent="-342900" lvl="1" marL="342900" rtl="0" algn="l">
              <a:spcBef>
                <a:spcPts val="48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en-US" sz="2400"/>
              <a:t>Host software baseline</a:t>
            </a:r>
            <a:endParaRPr/>
          </a:p>
          <a:p>
            <a:pPr indent="-342900" lvl="1" marL="342900" rtl="0" algn="l">
              <a:spcBef>
                <a:spcPts val="48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en-US" sz="2400"/>
              <a:t>Application configuration baseline</a:t>
            </a:r>
            <a:endParaRPr/>
          </a:p>
          <a:p>
            <a:pPr indent="-342900" lvl="1" marL="342900" rtl="0" algn="l">
              <a:spcBef>
                <a:spcPts val="48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en-US" sz="2400"/>
              <a:t>Performance baseline</a:t>
            </a:r>
            <a:endParaRPr/>
          </a:p>
        </p:txBody>
      </p:sp>
      <p:sp>
        <p:nvSpPr>
          <p:cNvPr id="270" name="Google Shape;270;p24"/>
          <p:cNvSpPr txBox="1"/>
          <p:nvPr>
            <p:ph type="title"/>
          </p:nvPr>
        </p:nvSpPr>
        <p:spPr>
          <a:xfrm>
            <a:off x="152400" y="152400"/>
            <a:ext cx="88392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5F497A"/>
              </a:buClr>
              <a:buSzPts val="3600"/>
              <a:buFont typeface="Calibri"/>
              <a:buNone/>
            </a:pPr>
            <a:r>
              <a:rPr lang="en-US" sz="3600"/>
              <a:t>Network Infrastructure Security</a:t>
            </a:r>
            <a:endParaRPr sz="36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25"/>
          <p:cNvSpPr txBox="1"/>
          <p:nvPr>
            <p:ph idx="1" type="body"/>
          </p:nvPr>
        </p:nvSpPr>
        <p:spPr>
          <a:xfrm>
            <a:off x="76200" y="1524000"/>
            <a:ext cx="8915400" cy="51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en-US" sz="2800"/>
              <a:t>Hardening Systems: Security Baseline</a:t>
            </a:r>
            <a:endParaRPr/>
          </a:p>
          <a:p>
            <a:pPr indent="-342900" lvl="1" marL="342900" rtl="0" algn="l">
              <a:spcBef>
                <a:spcPts val="48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en-US" sz="2400"/>
              <a:t>Starting point for OS or application</a:t>
            </a:r>
            <a:endParaRPr/>
          </a:p>
          <a:p>
            <a:pPr indent="-342900" lvl="1" marL="342900" rtl="0" algn="l">
              <a:spcBef>
                <a:spcPts val="48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en-US" sz="2400"/>
              <a:t>Deployed by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Char char="–"/>
            </a:pPr>
            <a:r>
              <a:rPr lang="en-US" sz="2000"/>
              <a:t>Group policy</a:t>
            </a:r>
            <a:endParaRPr/>
          </a:p>
          <a:p>
            <a:pPr indent="-228600" lvl="2" marL="1143000" rtl="0" algn="l">
              <a:lnSpc>
                <a:spcPct val="90000"/>
              </a:lnSpc>
              <a:spcBef>
                <a:spcPts val="320"/>
              </a:spcBef>
              <a:spcAft>
                <a:spcPts val="0"/>
              </a:spcAft>
              <a:buSzPts val="1600"/>
              <a:buChar char="•"/>
            </a:pPr>
            <a:r>
              <a:rPr lang="en-US" sz="1600"/>
              <a:t>Group Policy Objects (GPOs)</a:t>
            </a:r>
            <a:endParaRPr/>
          </a:p>
          <a:p>
            <a:pPr indent="-228600" lvl="2" marL="1143000" rtl="0" algn="l">
              <a:lnSpc>
                <a:spcPct val="90000"/>
              </a:lnSpc>
              <a:spcBef>
                <a:spcPts val="320"/>
              </a:spcBef>
              <a:spcAft>
                <a:spcPts val="0"/>
              </a:spcAft>
              <a:buSzPts val="1600"/>
              <a:buChar char="•"/>
            </a:pPr>
            <a:r>
              <a:rPr lang="en-US" sz="1600"/>
              <a:t>On Windows domains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Char char="–"/>
            </a:pPr>
            <a:r>
              <a:rPr lang="en-US" sz="2000"/>
              <a:t>Security templates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Char char="–"/>
            </a:pPr>
            <a:r>
              <a:rPr lang="en-US" sz="2000"/>
              <a:t>Imaging</a:t>
            </a:r>
            <a:endParaRPr/>
          </a:p>
        </p:txBody>
      </p:sp>
      <p:sp>
        <p:nvSpPr>
          <p:cNvPr id="277" name="Google Shape;277;p25"/>
          <p:cNvSpPr txBox="1"/>
          <p:nvPr>
            <p:ph type="title"/>
          </p:nvPr>
        </p:nvSpPr>
        <p:spPr>
          <a:xfrm>
            <a:off x="152400" y="152400"/>
            <a:ext cx="88392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5F497A"/>
              </a:buClr>
              <a:buSzPts val="3600"/>
              <a:buFont typeface="Calibri"/>
              <a:buNone/>
            </a:pPr>
            <a:r>
              <a:rPr lang="en-US" sz="3600"/>
              <a:t>Network Infrastructure Security</a:t>
            </a:r>
            <a:endParaRPr sz="36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26"/>
          <p:cNvSpPr txBox="1"/>
          <p:nvPr>
            <p:ph idx="1" type="body"/>
          </p:nvPr>
        </p:nvSpPr>
        <p:spPr>
          <a:xfrm>
            <a:off x="76200" y="1524000"/>
            <a:ext cx="8915400" cy="51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en-US" sz="2800"/>
              <a:t>Hardening Systems: Security Baseline</a:t>
            </a:r>
            <a:endParaRPr/>
          </a:p>
          <a:p>
            <a:pPr indent="-342900" lvl="1" marL="342900" rtl="0" algn="l">
              <a:spcBef>
                <a:spcPts val="48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en-US" sz="2400"/>
              <a:t>Security Templates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Char char="–"/>
            </a:pPr>
            <a:r>
              <a:rPr lang="en-US" sz="2000"/>
              <a:t>Preconfigured settings for various common computer types</a:t>
            </a:r>
            <a:endParaRPr/>
          </a:p>
          <a:p>
            <a:pPr indent="-228600" lvl="2" marL="1143000" rtl="0" algn="l">
              <a:lnSpc>
                <a:spcPct val="90000"/>
              </a:lnSpc>
              <a:spcBef>
                <a:spcPts val="320"/>
              </a:spcBef>
              <a:spcAft>
                <a:spcPts val="0"/>
              </a:spcAft>
              <a:buSzPts val="1600"/>
              <a:buChar char="•"/>
            </a:pPr>
            <a:r>
              <a:rPr lang="en-US" sz="1600"/>
              <a:t>Domain Controller</a:t>
            </a:r>
            <a:endParaRPr/>
          </a:p>
          <a:p>
            <a:pPr indent="-228600" lvl="2" marL="1143000" rtl="0" algn="l">
              <a:lnSpc>
                <a:spcPct val="90000"/>
              </a:lnSpc>
              <a:spcBef>
                <a:spcPts val="320"/>
              </a:spcBef>
              <a:spcAft>
                <a:spcPts val="0"/>
              </a:spcAft>
              <a:buSzPts val="1600"/>
              <a:buChar char="•"/>
            </a:pPr>
            <a:r>
              <a:rPr lang="en-US" sz="1600"/>
              <a:t>Email server</a:t>
            </a:r>
            <a:endParaRPr/>
          </a:p>
          <a:p>
            <a:pPr indent="-228600" lvl="2" marL="1143000" rtl="0" algn="l">
              <a:lnSpc>
                <a:spcPct val="90000"/>
              </a:lnSpc>
              <a:spcBef>
                <a:spcPts val="320"/>
              </a:spcBef>
              <a:spcAft>
                <a:spcPts val="0"/>
              </a:spcAft>
              <a:buSzPts val="1600"/>
              <a:buChar char="•"/>
            </a:pPr>
            <a:r>
              <a:rPr lang="en-US" sz="1600"/>
              <a:t>Web server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Char char="–"/>
            </a:pPr>
            <a:r>
              <a:rPr lang="en-US" sz="2000"/>
              <a:t>Security Templates contain</a:t>
            </a:r>
            <a:endParaRPr/>
          </a:p>
          <a:p>
            <a:pPr indent="-228600" lvl="2" marL="1143000" rtl="0" algn="l">
              <a:lnSpc>
                <a:spcPct val="90000"/>
              </a:lnSpc>
              <a:spcBef>
                <a:spcPts val="320"/>
              </a:spcBef>
              <a:spcAft>
                <a:spcPts val="0"/>
              </a:spcAft>
              <a:buSzPts val="1600"/>
              <a:buChar char="•"/>
            </a:pPr>
            <a:r>
              <a:rPr lang="en-US" sz="1600"/>
              <a:t>Account polices (like disabling Guest)</a:t>
            </a:r>
            <a:endParaRPr/>
          </a:p>
          <a:p>
            <a:pPr indent="-228600" lvl="2" marL="1143000" rtl="0" algn="l">
              <a:lnSpc>
                <a:spcPct val="90000"/>
              </a:lnSpc>
              <a:spcBef>
                <a:spcPts val="320"/>
              </a:spcBef>
              <a:spcAft>
                <a:spcPts val="0"/>
              </a:spcAft>
              <a:buSzPts val="1600"/>
              <a:buChar char="•"/>
            </a:pPr>
            <a:r>
              <a:rPr lang="en-US" sz="1600"/>
              <a:t>Password and lockout settings</a:t>
            </a:r>
            <a:endParaRPr/>
          </a:p>
          <a:p>
            <a:pPr indent="-228600" lvl="2" marL="1143000" rtl="0" algn="l">
              <a:lnSpc>
                <a:spcPct val="90000"/>
              </a:lnSpc>
              <a:spcBef>
                <a:spcPts val="320"/>
              </a:spcBef>
              <a:spcAft>
                <a:spcPts val="0"/>
              </a:spcAft>
              <a:buSzPts val="1600"/>
              <a:buChar char="•"/>
            </a:pPr>
            <a:r>
              <a:rPr lang="en-US" sz="1600"/>
              <a:t>Audit policies</a:t>
            </a:r>
            <a:endParaRPr/>
          </a:p>
          <a:p>
            <a:pPr indent="-228600" lvl="2" marL="1143000" rtl="0" algn="l">
              <a:lnSpc>
                <a:spcPct val="90000"/>
              </a:lnSpc>
              <a:spcBef>
                <a:spcPts val="320"/>
              </a:spcBef>
              <a:spcAft>
                <a:spcPts val="0"/>
              </a:spcAft>
              <a:buSzPts val="1600"/>
              <a:buChar char="•"/>
            </a:pPr>
            <a:r>
              <a:rPr lang="en-US" sz="1600"/>
              <a:t>User rights</a:t>
            </a:r>
            <a:endParaRPr/>
          </a:p>
          <a:p>
            <a:pPr indent="-228600" lvl="2" marL="1143000" rtl="0" algn="l">
              <a:lnSpc>
                <a:spcPct val="90000"/>
              </a:lnSpc>
              <a:spcBef>
                <a:spcPts val="320"/>
              </a:spcBef>
              <a:spcAft>
                <a:spcPts val="0"/>
              </a:spcAft>
              <a:buSzPts val="1600"/>
              <a:buChar char="•"/>
            </a:pPr>
            <a:r>
              <a:rPr lang="en-US" sz="1600"/>
              <a:t>System services</a:t>
            </a:r>
            <a:endParaRPr/>
          </a:p>
          <a:p>
            <a:pPr indent="-228600" lvl="2" marL="1143000" rtl="0" algn="l">
              <a:lnSpc>
                <a:spcPct val="90000"/>
              </a:lnSpc>
              <a:spcBef>
                <a:spcPts val="320"/>
              </a:spcBef>
              <a:spcAft>
                <a:spcPts val="0"/>
              </a:spcAft>
              <a:buSzPts val="1600"/>
              <a:buChar char="•"/>
            </a:pPr>
            <a:r>
              <a:rPr lang="en-US" sz="1600"/>
              <a:t>Software restrictions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 sz="2000"/>
          </a:p>
        </p:txBody>
      </p:sp>
      <p:sp>
        <p:nvSpPr>
          <p:cNvPr id="284" name="Google Shape;284;p26"/>
          <p:cNvSpPr txBox="1"/>
          <p:nvPr>
            <p:ph type="title"/>
          </p:nvPr>
        </p:nvSpPr>
        <p:spPr>
          <a:xfrm>
            <a:off x="152400" y="152400"/>
            <a:ext cx="88392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5F497A"/>
              </a:buClr>
              <a:buSzPts val="3600"/>
              <a:buFont typeface="Calibri"/>
              <a:buNone/>
            </a:pPr>
            <a:r>
              <a:rPr lang="en-US" sz="3600"/>
              <a:t>Network Infrastructure Security</a:t>
            </a:r>
            <a:endParaRPr sz="36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">
                                            <p:txEl>
                                              <p:pRg end="11" st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">
                                            <p:txEl>
                                              <p:pRg end="12" st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">
                                            <p:txEl>
                                              <p:pRg end="13" st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27"/>
          <p:cNvSpPr txBox="1"/>
          <p:nvPr>
            <p:ph idx="1" type="body"/>
          </p:nvPr>
        </p:nvSpPr>
        <p:spPr>
          <a:xfrm>
            <a:off x="76200" y="1524000"/>
            <a:ext cx="8915400" cy="51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en-US" sz="2800"/>
              <a:t>Hardening Systems: Security Baseline</a:t>
            </a:r>
            <a:endParaRPr/>
          </a:p>
          <a:p>
            <a:pPr indent="-342900" lvl="1" marL="342900" rtl="0" algn="l">
              <a:spcBef>
                <a:spcPts val="48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en-US" sz="2400"/>
              <a:t>Capturing and Deploying Images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Char char="–"/>
            </a:pPr>
            <a:r>
              <a:rPr lang="en-US" sz="2000"/>
              <a:t>Prepare a reference computer with everything installed and configured properly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Char char="–"/>
            </a:pPr>
            <a:r>
              <a:rPr lang="en-US" sz="2000"/>
              <a:t>Capture an image of the reference computer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Char char="–"/>
            </a:pPr>
            <a:r>
              <a:rPr lang="en-US" sz="2000"/>
              <a:t>Deploy the image to many computers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 sz="2000"/>
          </a:p>
        </p:txBody>
      </p:sp>
      <p:sp>
        <p:nvSpPr>
          <p:cNvPr id="291" name="Google Shape;291;p27"/>
          <p:cNvSpPr txBox="1"/>
          <p:nvPr>
            <p:ph type="title"/>
          </p:nvPr>
        </p:nvSpPr>
        <p:spPr>
          <a:xfrm>
            <a:off x="152400" y="152400"/>
            <a:ext cx="88392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5F497A"/>
              </a:buClr>
              <a:buSzPts val="3600"/>
              <a:buFont typeface="Calibri"/>
              <a:buNone/>
            </a:pPr>
            <a:r>
              <a:rPr lang="en-US" sz="3600"/>
              <a:t>Network Infrastructure Security</a:t>
            </a:r>
            <a:endParaRPr sz="3600"/>
          </a:p>
        </p:txBody>
      </p:sp>
      <p:pic>
        <p:nvPicPr>
          <p:cNvPr descr="Screen Shot 2012-09-20 at 8.07.28 AM.png" id="292" name="Google Shape;292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4400" y="3823964"/>
            <a:ext cx="4191000" cy="296566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28"/>
          <p:cNvSpPr txBox="1"/>
          <p:nvPr>
            <p:ph idx="1" type="body"/>
          </p:nvPr>
        </p:nvSpPr>
        <p:spPr>
          <a:xfrm>
            <a:off x="76200" y="1524000"/>
            <a:ext cx="8915400" cy="51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en-US" sz="2800"/>
              <a:t>Hardening Systems: Security Baseline</a:t>
            </a:r>
            <a:endParaRPr/>
          </a:p>
          <a:p>
            <a:pPr indent="-342900" lvl="1" marL="342900" rtl="0" algn="l">
              <a:spcBef>
                <a:spcPts val="48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en-US" sz="2400"/>
              <a:t>Image Deployment Tools</a:t>
            </a:r>
            <a:endParaRPr sz="2000"/>
          </a:p>
          <a:p>
            <a:pPr indent="-285750" lvl="1" marL="74295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Char char="–"/>
            </a:pPr>
            <a:r>
              <a:rPr lang="en-US" sz="2000"/>
              <a:t>Norton Ghost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Char char="–"/>
            </a:pPr>
            <a:r>
              <a:rPr lang="en-US" sz="2000"/>
              <a:t>Acronis TrueImage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Char char="–"/>
            </a:pPr>
            <a:r>
              <a:rPr lang="en-US" sz="2000"/>
              <a:t>Microsoft Windows Image Backup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Char char="–"/>
            </a:pPr>
            <a:r>
              <a:rPr lang="en-US" sz="2000"/>
              <a:t>Windows Automated Installation Kit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Char char="–"/>
            </a:pPr>
            <a:r>
              <a:rPr lang="en-US" sz="2000"/>
              <a:t>Windows Deployment Services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Char char="–"/>
            </a:pPr>
            <a:r>
              <a:rPr lang="en-US" sz="2000"/>
              <a:t>Many others</a:t>
            </a:r>
            <a:endParaRPr/>
          </a:p>
        </p:txBody>
      </p:sp>
      <p:sp>
        <p:nvSpPr>
          <p:cNvPr id="299" name="Google Shape;299;p28"/>
          <p:cNvSpPr txBox="1"/>
          <p:nvPr>
            <p:ph type="title"/>
          </p:nvPr>
        </p:nvSpPr>
        <p:spPr>
          <a:xfrm>
            <a:off x="152400" y="152400"/>
            <a:ext cx="88392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5F497A"/>
              </a:buClr>
              <a:buSzPts val="3600"/>
              <a:buFont typeface="Calibri"/>
              <a:buNone/>
            </a:pPr>
            <a:r>
              <a:rPr lang="en-US" sz="3600"/>
              <a:t>Network Infrastructure Security</a:t>
            </a:r>
            <a:endParaRPr sz="36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8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8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8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29"/>
          <p:cNvSpPr txBox="1"/>
          <p:nvPr>
            <p:ph idx="1" type="body"/>
          </p:nvPr>
        </p:nvSpPr>
        <p:spPr>
          <a:xfrm>
            <a:off x="76200" y="1524000"/>
            <a:ext cx="8915400" cy="51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en-US" sz="2800"/>
              <a:t>Hardening Systems: Security Baseline</a:t>
            </a:r>
            <a:endParaRPr/>
          </a:p>
          <a:p>
            <a:pPr indent="-342900" lvl="1" marL="342900" rtl="0" algn="l">
              <a:spcBef>
                <a:spcPts val="48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en-US" sz="2400"/>
              <a:t>Imaging Benefits</a:t>
            </a:r>
            <a:endParaRPr sz="2000"/>
          </a:p>
          <a:p>
            <a:pPr indent="-285750" lvl="1" marL="74295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Char char="–"/>
            </a:pPr>
            <a:r>
              <a:rPr lang="en-US" sz="2000"/>
              <a:t>Secure starting point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Char char="–"/>
            </a:pPr>
            <a:r>
              <a:rPr lang="en-US" sz="2000"/>
              <a:t>Reduced costs</a:t>
            </a:r>
            <a:endParaRPr sz="2000"/>
          </a:p>
        </p:txBody>
      </p:sp>
      <p:sp>
        <p:nvSpPr>
          <p:cNvPr id="306" name="Google Shape;306;p29"/>
          <p:cNvSpPr txBox="1"/>
          <p:nvPr>
            <p:ph type="title"/>
          </p:nvPr>
        </p:nvSpPr>
        <p:spPr>
          <a:xfrm>
            <a:off x="152400" y="152400"/>
            <a:ext cx="88392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5F497A"/>
              </a:buClr>
              <a:buSzPts val="3600"/>
              <a:buFont typeface="Calibri"/>
              <a:buNone/>
            </a:pPr>
            <a:r>
              <a:rPr lang="en-US" sz="3600"/>
              <a:t>Network Infrastructure Security</a:t>
            </a:r>
            <a:endParaRPr sz="36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30"/>
          <p:cNvSpPr txBox="1"/>
          <p:nvPr>
            <p:ph idx="1" type="body"/>
          </p:nvPr>
        </p:nvSpPr>
        <p:spPr>
          <a:xfrm>
            <a:off x="76200" y="1524000"/>
            <a:ext cx="8915400" cy="51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en-US" sz="2800"/>
              <a:t>Hardening Systems: Configuration Baseline</a:t>
            </a:r>
            <a:endParaRPr/>
          </a:p>
          <a:p>
            <a:pPr indent="-342900" lvl="1" marL="342900" rtl="0" algn="l">
              <a:spcBef>
                <a:spcPts val="48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en-US" sz="2400"/>
              <a:t>A record of all the settings on a system, including non-security settings and security settings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Char char="–"/>
            </a:pPr>
            <a:r>
              <a:rPr lang="en-US" sz="2000"/>
              <a:t>The security baseline contains only the security settings</a:t>
            </a:r>
            <a:endParaRPr/>
          </a:p>
          <a:p>
            <a:pPr indent="-342900" lvl="1" marL="342900" rtl="0" algn="l">
              <a:spcBef>
                <a:spcPts val="48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en-US" sz="2400"/>
              <a:t>Every time a system is changed, the configuration baseline must be updated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Char char="–"/>
            </a:pPr>
            <a:r>
              <a:rPr lang="en-US" sz="2000"/>
              <a:t>Change management</a:t>
            </a:r>
            <a:endParaRPr/>
          </a:p>
        </p:txBody>
      </p:sp>
      <p:sp>
        <p:nvSpPr>
          <p:cNvPr id="313" name="Google Shape;313;p30"/>
          <p:cNvSpPr txBox="1"/>
          <p:nvPr>
            <p:ph type="title"/>
          </p:nvPr>
        </p:nvSpPr>
        <p:spPr>
          <a:xfrm>
            <a:off x="152400" y="152400"/>
            <a:ext cx="88392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5F497A"/>
              </a:buClr>
              <a:buSzPts val="3600"/>
              <a:buFont typeface="Calibri"/>
              <a:buNone/>
            </a:pPr>
            <a:r>
              <a:rPr lang="en-US" sz="3600"/>
              <a:t>Network Infrastructure Security</a:t>
            </a:r>
            <a:endParaRPr sz="36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2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31"/>
          <p:cNvSpPr txBox="1"/>
          <p:nvPr>
            <p:ph idx="1" type="body"/>
          </p:nvPr>
        </p:nvSpPr>
        <p:spPr>
          <a:xfrm>
            <a:off x="76200" y="1524000"/>
            <a:ext cx="8915400" cy="51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en-US" sz="2800"/>
              <a:t>Hardening Systems: Host Software Baseline</a:t>
            </a:r>
            <a:endParaRPr/>
          </a:p>
          <a:p>
            <a:pPr indent="-342900" lvl="1" marL="342900" rtl="0" algn="l">
              <a:spcBef>
                <a:spcPts val="48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en-US" sz="2400"/>
              <a:t>Lists all software installed on a system</a:t>
            </a:r>
            <a:endParaRPr/>
          </a:p>
          <a:p>
            <a:pPr indent="-342900" lvl="1" marL="342900" rtl="0" algn="l">
              <a:spcBef>
                <a:spcPts val="48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en-US" sz="2400"/>
              <a:t>Lists all approved software</a:t>
            </a:r>
            <a:endParaRPr/>
          </a:p>
          <a:p>
            <a:pPr indent="-342900" lvl="1" marL="342900" rtl="0" algn="l">
              <a:spcBef>
                <a:spcPts val="48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en-US" sz="2400"/>
              <a:t>Also called Application baseline</a:t>
            </a:r>
            <a:endParaRPr/>
          </a:p>
          <a:p>
            <a:pPr indent="-342900" lvl="1" marL="342900" rtl="0" algn="l">
              <a:spcBef>
                <a:spcPts val="48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en-US" sz="2400"/>
              <a:t>Can be compared with a scan that finds all installed software</a:t>
            </a:r>
            <a:endParaRPr/>
          </a:p>
        </p:txBody>
      </p:sp>
      <p:sp>
        <p:nvSpPr>
          <p:cNvPr id="320" name="Google Shape;320;p31"/>
          <p:cNvSpPr txBox="1"/>
          <p:nvPr>
            <p:ph type="title"/>
          </p:nvPr>
        </p:nvSpPr>
        <p:spPr>
          <a:xfrm>
            <a:off x="152400" y="152400"/>
            <a:ext cx="88392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5F497A"/>
              </a:buClr>
              <a:buSzPts val="3600"/>
              <a:buFont typeface="Calibri"/>
              <a:buNone/>
            </a:pPr>
            <a:r>
              <a:rPr lang="en-US" sz="3600"/>
              <a:t>Network Infrastructure Security</a:t>
            </a:r>
            <a:endParaRPr sz="36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32"/>
          <p:cNvSpPr txBox="1"/>
          <p:nvPr>
            <p:ph idx="1" type="body"/>
          </p:nvPr>
        </p:nvSpPr>
        <p:spPr>
          <a:xfrm>
            <a:off x="76200" y="1524000"/>
            <a:ext cx="8915400" cy="51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en-US" sz="2800"/>
              <a:t>Hardening Systems: Application Configuration Baselines</a:t>
            </a:r>
            <a:endParaRPr/>
          </a:p>
          <a:p>
            <a:pPr indent="-342900" lvl="1" marL="342900" rtl="0" algn="l">
              <a:spcBef>
                <a:spcPts val="48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en-US" sz="2400"/>
              <a:t>Proper settings for applications</a:t>
            </a:r>
            <a:endParaRPr/>
          </a:p>
          <a:p>
            <a:pPr indent="-342900" lvl="1" marL="342900" rtl="0" algn="l">
              <a:spcBef>
                <a:spcPts val="48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en-US" sz="2400"/>
              <a:t>Makes it easier to audit servers</a:t>
            </a:r>
            <a:endParaRPr/>
          </a:p>
        </p:txBody>
      </p:sp>
      <p:sp>
        <p:nvSpPr>
          <p:cNvPr id="327" name="Google Shape;327;p32"/>
          <p:cNvSpPr txBox="1"/>
          <p:nvPr>
            <p:ph type="title"/>
          </p:nvPr>
        </p:nvSpPr>
        <p:spPr>
          <a:xfrm>
            <a:off x="152400" y="152400"/>
            <a:ext cx="88392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5F497A"/>
              </a:buClr>
              <a:buSzPts val="3600"/>
              <a:buFont typeface="Calibri"/>
              <a:buNone/>
            </a:pPr>
            <a:r>
              <a:rPr lang="en-US" sz="3600"/>
              <a:t>Network Infrastructure Security</a:t>
            </a:r>
            <a:endParaRPr sz="36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33"/>
          <p:cNvSpPr txBox="1"/>
          <p:nvPr>
            <p:ph idx="1" type="body"/>
          </p:nvPr>
        </p:nvSpPr>
        <p:spPr>
          <a:xfrm>
            <a:off x="76200" y="1524000"/>
            <a:ext cx="8915400" cy="51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en-US" sz="2800"/>
              <a:t>Hardening Systems: Performance Baselines</a:t>
            </a:r>
            <a:endParaRPr/>
          </a:p>
          <a:p>
            <a:pPr indent="-342900" lvl="1" marL="342900" rtl="0" algn="l">
              <a:spcBef>
                <a:spcPts val="48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en-US" sz="2400"/>
              <a:t>Documents the overall performance of a system at a point in time</a:t>
            </a:r>
            <a:endParaRPr/>
          </a:p>
          <a:p>
            <a:pPr indent="-342900" lvl="1" marL="342900" rtl="0" algn="l">
              <a:spcBef>
                <a:spcPts val="48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en-US" sz="2400"/>
              <a:t>Useful for reference later when performance changes</a:t>
            </a:r>
            <a:endParaRPr/>
          </a:p>
        </p:txBody>
      </p:sp>
      <p:sp>
        <p:nvSpPr>
          <p:cNvPr id="334" name="Google Shape;334;p33"/>
          <p:cNvSpPr txBox="1"/>
          <p:nvPr>
            <p:ph type="title"/>
          </p:nvPr>
        </p:nvSpPr>
        <p:spPr>
          <a:xfrm>
            <a:off x="152400" y="152400"/>
            <a:ext cx="88392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5F497A"/>
              </a:buClr>
              <a:buSzPts val="3600"/>
              <a:buFont typeface="Calibri"/>
              <a:buNone/>
            </a:pPr>
            <a:r>
              <a:rPr lang="en-US" sz="3600"/>
              <a:t>Network Infrastructure Security</a:t>
            </a:r>
            <a:endParaRPr sz="36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2017-01-30T04:28:05Z</dcterms:created>
</cp:coreProperties>
</file>