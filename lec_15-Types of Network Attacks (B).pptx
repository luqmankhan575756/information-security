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6858000" cx="9144000"/>
  <p:notesSz cx="6858000" cy="9144000"/>
  <p:embeddedFontLst>
    <p:embeddedFont>
      <p:font typeface="Arial Black"/>
      <p:regular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7" roundtripDataSignature="AMtx7mi7q0SsychlS79cQUJsS03ynGZ3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ArialBlack-regular.fntdata"/><Relationship Id="rId25" Type="http://schemas.openxmlformats.org/officeDocument/2006/relationships/slide" Target="slides/slide20.xml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Masquerade: </a:t>
            </a:r>
            <a:r>
              <a:rPr lang="en-US"/>
              <a:t>ma·skuh·</a:t>
            </a:r>
            <a:r>
              <a:rPr b="1" lang="en-US"/>
              <a:t>reid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Google Shape;127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Fraudulent: fraa</a:t>
            </a:r>
            <a:r>
              <a:rPr lang="en-US"/>
              <a:t>·juh·luhnt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dishonest, cheating, corrupt, criminal, illegal, unlawful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" name="Google Shape;141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2" name="Google Shape;14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9" name="Google Shape;14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" name="Google Shape;156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7" name="Google Shape;15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" name="Google Shape;163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4" name="Google Shape;16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" name="Google Shape;170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1" name="Google Shape;17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" name="Google Shape;177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8" name="Google Shape;17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" name="Google Shape;185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6" name="Google Shape;18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" name="Google Shape;192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3" name="Google Shape;19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9" name="Google Shape;199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0" name="Google Shape;20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" name="Google Shape;206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7" name="Google Shape;20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" name="Google Shape;214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5" name="Google Shape;21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Parsing: </a:t>
            </a:r>
            <a:r>
              <a:rPr lang="en-US"/>
              <a:t>syntax analysis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" name="Google Shape;221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2" name="Google Shape;22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" name="Google Shape;228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9" name="Google Shape;22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2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2"/>
          <p:cNvSpPr txBox="1"/>
          <p:nvPr>
            <p:ph idx="1" type="body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22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p22"/>
          <p:cNvSpPr txBox="1"/>
          <p:nvPr>
            <p:ph idx="2" type="body"/>
          </p:nvPr>
        </p:nvSpPr>
        <p:spPr>
          <a:xfrm>
            <a:off x="152400" y="64008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22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3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3"/>
          <p:cNvSpPr txBox="1"/>
          <p:nvPr>
            <p:ph idx="1" type="body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23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23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3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4"/>
          <p:cNvSpPr txBox="1"/>
          <p:nvPr/>
        </p:nvSpPr>
        <p:spPr>
          <a:xfrm>
            <a:off x="1219200" y="5486400"/>
            <a:ext cx="3581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Black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Your Interactive Guide to the Digital World</a:t>
            </a:r>
            <a:endParaRPr/>
          </a:p>
        </p:txBody>
      </p:sp>
      <p:sp>
        <p:nvSpPr>
          <p:cNvPr id="30" name="Google Shape;30;p24"/>
          <p:cNvSpPr/>
          <p:nvPr/>
        </p:nvSpPr>
        <p:spPr>
          <a:xfrm>
            <a:off x="0" y="4267200"/>
            <a:ext cx="487680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Discovering </a:t>
            </a:r>
            <a:br>
              <a:rPr b="0" i="0" lang="en-US" sz="3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n-US" sz="3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	Computers 2012</a:t>
            </a:r>
            <a:endParaRPr/>
          </a:p>
        </p:txBody>
      </p:sp>
      <p:pic>
        <p:nvPicPr>
          <p:cNvPr id="31" name="Google Shape;31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86606" y="3276600"/>
            <a:ext cx="3957394" cy="358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323589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6" name="Google Shape;36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p25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5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6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2" name="Google Shape;42;p2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3" name="Google Shape;43;p26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6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26"/>
          <p:cNvSpPr txBox="1"/>
          <p:nvPr>
            <p:ph idx="3" type="body"/>
          </p:nvPr>
        </p:nvSpPr>
        <p:spPr>
          <a:xfrm>
            <a:off x="152400" y="6400800"/>
            <a:ext cx="1676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40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2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2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2" name="Google Shape;52;p27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" name="Google Shape;54;p27"/>
          <p:cNvSpPr txBox="1"/>
          <p:nvPr>
            <p:ph idx="5" type="body"/>
          </p:nvPr>
        </p:nvSpPr>
        <p:spPr>
          <a:xfrm>
            <a:off x="152400" y="6400800"/>
            <a:ext cx="1676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8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p28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8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29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9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7" name="Google Shape;67;p3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8" name="Google Shape;68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30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0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3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5" name="Google Shape;75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" name="Google Shape;76;p31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1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2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2"/>
          <p:cNvSpPr txBox="1"/>
          <p:nvPr>
            <p:ph idx="1" type="body"/>
          </p:nvPr>
        </p:nvSpPr>
        <p:spPr>
          <a:xfrm rot="5400000">
            <a:off x="2247900" y="-495300"/>
            <a:ext cx="4648200" cy="88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p32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2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p33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3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5DFEC"/>
            </a:gs>
            <a:gs pos="64999">
              <a:srgbClr val="F0EBD5"/>
            </a:gs>
            <a:gs pos="100000">
              <a:srgbClr val="D1C39F"/>
            </a:gs>
          </a:gsLst>
          <a:path path="circle">
            <a:fillToRect b="0%" l="100%" r="0%" t="100%"/>
          </a:path>
          <a:tileRect b="-100%" l="0%" r="-100%" t="0%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4000"/>
              <a:buFont typeface="Calibri"/>
              <a:buNone/>
              <a:defRPr b="1" i="0" sz="4000" u="none" cap="none" strike="noStrike">
                <a:solidFill>
                  <a:srgbClr val="5F497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1"/>
          <p:cNvSpPr txBox="1"/>
          <p:nvPr>
            <p:ph idx="1" type="body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rgbClr val="5F497A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rgbClr val="5F497A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rgbClr val="5F497A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5F497A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5F497A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1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1"/>
          <p:cNvSpPr/>
          <p:nvPr/>
        </p:nvSpPr>
        <p:spPr>
          <a:xfrm>
            <a:off x="0" y="1219200"/>
            <a:ext cx="9144000" cy="457200"/>
          </a:xfrm>
          <a:prstGeom prst="rect">
            <a:avLst/>
          </a:prstGeom>
          <a:gradFill>
            <a:gsLst>
              <a:gs pos="0">
                <a:srgbClr val="DB7531"/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21"/>
          <p:cNvSpPr/>
          <p:nvPr/>
        </p:nvSpPr>
        <p:spPr>
          <a:xfrm>
            <a:off x="8534400" y="6248400"/>
            <a:ext cx="609600" cy="609600"/>
          </a:xfrm>
          <a:prstGeom prst="rect">
            <a:avLst/>
          </a:prstGeom>
          <a:solidFill>
            <a:srgbClr val="DB7531"/>
          </a:solidFill>
          <a:ln>
            <a:noFill/>
          </a:ln>
          <a:effectLst>
            <a:outerShdw blurRad="76200" kx="1200000" rotWithShape="0" algn="br" sy="23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21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fade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2400"/>
              <a:buFont typeface="Calibri"/>
              <a:buNone/>
            </a:pPr>
            <a:r>
              <a:rPr lang="en-US" sz="2400"/>
              <a:t>Types of Network Attacks</a:t>
            </a:r>
            <a:endParaRPr/>
          </a:p>
        </p:txBody>
      </p:sp>
      <p:sp>
        <p:nvSpPr>
          <p:cNvPr id="95" name="Google Shape;95;p1"/>
          <p:cNvSpPr txBox="1"/>
          <p:nvPr>
            <p:ph idx="1" type="body"/>
          </p:nvPr>
        </p:nvSpPr>
        <p:spPr>
          <a:xfrm>
            <a:off x="152400" y="1524000"/>
            <a:ext cx="8839200" cy="37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SzPts val="4000"/>
              <a:buNone/>
            </a:pPr>
            <a:r>
              <a:t/>
            </a:r>
            <a:endParaRPr b="1" sz="4000">
              <a:solidFill>
                <a:srgbClr val="5F497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880"/>
              </a:spcBef>
              <a:spcAft>
                <a:spcPts val="0"/>
              </a:spcAft>
              <a:buSzPts val="4400"/>
              <a:buNone/>
            </a:pPr>
            <a:r>
              <a:rPr b="1" lang="en-US" sz="4400">
                <a:solidFill>
                  <a:srgbClr val="5F497A"/>
                </a:solidFill>
                <a:latin typeface="Calibri"/>
                <a:ea typeface="Calibri"/>
                <a:cs typeface="Calibri"/>
                <a:sym typeface="Calibri"/>
              </a:rPr>
              <a:t>Information Security</a:t>
            </a:r>
            <a:endParaRPr b="1" sz="2000">
              <a:solidFill>
                <a:srgbClr val="5F497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/>
          <p:nvPr>
            <p:ph type="title"/>
          </p:nvPr>
        </p:nvSpPr>
        <p:spPr>
          <a:xfrm>
            <a:off x="134155" y="381000"/>
            <a:ext cx="8145462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Types of Network Attacks</a:t>
            </a:r>
            <a:endParaRPr sz="3600"/>
          </a:p>
        </p:txBody>
      </p:sp>
      <p:sp>
        <p:nvSpPr>
          <p:cNvPr id="103" name="Google Shape;103;p2"/>
          <p:cNvSpPr txBox="1"/>
          <p:nvPr>
            <p:ph idx="1" type="body"/>
          </p:nvPr>
        </p:nvSpPr>
        <p:spPr>
          <a:xfrm>
            <a:off x="152400" y="1600200"/>
            <a:ext cx="88392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What is Attack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Types of Network Attacks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Reconnaissance Attack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Passive Attack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Active Attack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Distributed Attack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Insider Attack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Phishing Attack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Back Door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Password Attacks</a:t>
            </a:r>
            <a:endParaRPr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 txBox="1"/>
          <p:nvPr>
            <p:ph type="title"/>
          </p:nvPr>
        </p:nvSpPr>
        <p:spPr>
          <a:xfrm>
            <a:off x="134155" y="381000"/>
            <a:ext cx="8145462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Types of Network Attacks</a:t>
            </a:r>
            <a:endParaRPr sz="3600"/>
          </a:p>
        </p:txBody>
      </p:sp>
      <p:sp>
        <p:nvSpPr>
          <p:cNvPr id="110" name="Google Shape;110;p3"/>
          <p:cNvSpPr txBox="1"/>
          <p:nvPr>
            <p:ph idx="1" type="body"/>
          </p:nvPr>
        </p:nvSpPr>
        <p:spPr>
          <a:xfrm>
            <a:off x="152400" y="1600200"/>
            <a:ext cx="88392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Types of Network Attacks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IP Address Spoofing Attack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ARP (Address Resolution Protocol) Spoofing Attack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DNS (Domain Name System) Spoofing Attack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SYN Flood Attack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Sniffer Attack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Man-In-The-Middle (MITM) Attack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Denial of Service (DoS) Attack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Distributed Denial of Service (DDoS) Attack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SQL Injection Attack</a:t>
            </a:r>
            <a:endParaRPr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4000"/>
              <a:buFont typeface="Calibri"/>
              <a:buNone/>
            </a:pPr>
            <a:r>
              <a:rPr lang="en-US"/>
              <a:t>Types of Network Attacks</a:t>
            </a:r>
            <a:endParaRPr/>
          </a:p>
        </p:txBody>
      </p:sp>
      <p:sp>
        <p:nvSpPr>
          <p:cNvPr id="117" name="Google Shape;117;p4"/>
          <p:cNvSpPr txBox="1"/>
          <p:nvPr>
            <p:ph idx="1" type="body"/>
          </p:nvPr>
        </p:nvSpPr>
        <p:spPr>
          <a:xfrm>
            <a:off x="152400" y="1600200"/>
            <a:ext cx="83058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IP Address Spoofing Attack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In this kind of attack an adversary </a:t>
            </a:r>
            <a:r>
              <a:rPr lang="en-US" sz="2400" u="sng"/>
              <a:t>changes the </a:t>
            </a:r>
            <a:r>
              <a:rPr lang="en-US" sz="2400" u="sng"/>
              <a:t>source</a:t>
            </a:r>
            <a:r>
              <a:rPr lang="en-US" sz="2400" u="sng"/>
              <a:t> address</a:t>
            </a:r>
            <a:r>
              <a:rPr lang="en-US" sz="2400"/>
              <a:t> </a:t>
            </a:r>
            <a:r>
              <a:rPr lang="en-US" sz="2400" u="sng"/>
              <a:t>of packet</a:t>
            </a:r>
            <a:r>
              <a:rPr lang="en-US" sz="2400"/>
              <a:t> so receiver assumes that the packet is coming from another valid IP address. 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In IP address spoofing, </a:t>
            </a:r>
            <a:r>
              <a:rPr lang="en-US" sz="2400" u="sng"/>
              <a:t>IP packets are generated with fake source IP addresses</a:t>
            </a:r>
            <a:r>
              <a:rPr lang="en-US" sz="2400"/>
              <a:t> in order to masquerade as other systems 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This technique is typically used to </a:t>
            </a:r>
            <a:r>
              <a:rPr lang="en-US" sz="2400" u="sng"/>
              <a:t>bypass the firewall rules</a:t>
            </a:r>
            <a:r>
              <a:rPr lang="en-US" sz="2400"/>
              <a:t>.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4000"/>
              <a:buFont typeface="Calibri"/>
              <a:buNone/>
            </a:pPr>
            <a:r>
              <a:rPr lang="en-US"/>
              <a:t>Types of Network Attacks</a:t>
            </a:r>
            <a:endParaRPr/>
          </a:p>
        </p:txBody>
      </p:sp>
      <p:sp>
        <p:nvSpPr>
          <p:cNvPr id="124" name="Google Shape;124;p5"/>
          <p:cNvSpPr txBox="1"/>
          <p:nvPr>
            <p:ph idx="1" type="body"/>
          </p:nvPr>
        </p:nvSpPr>
        <p:spPr>
          <a:xfrm>
            <a:off x="152400" y="1600200"/>
            <a:ext cx="83058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ARP (Address Resolution Protocol) Spoofing Attack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Address Resolution Protocol (ARP)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Used by </a:t>
            </a:r>
            <a:r>
              <a:rPr lang="en-US" sz="2000" u="sng"/>
              <a:t>TCP/IP</a:t>
            </a:r>
            <a:r>
              <a:rPr lang="en-US" sz="2000"/>
              <a:t> on an Ethernet network to find the </a:t>
            </a:r>
            <a:r>
              <a:rPr lang="en-US" sz="2000" u="sng"/>
              <a:t>MAC</a:t>
            </a:r>
            <a:r>
              <a:rPr lang="en-US" sz="2000"/>
              <a:t> address of another device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The IP address and the corresponding MAC address are stored in an ARP cache for future reference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An attacker could alter the MAC address in the ARP cache so that the corresponding IP address would point to a different computer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4000"/>
              <a:buFont typeface="Calibri"/>
              <a:buNone/>
            </a:pPr>
            <a:r>
              <a:rPr lang="en-US"/>
              <a:t>Types of Network Attacks</a:t>
            </a:r>
            <a:endParaRPr/>
          </a:p>
        </p:txBody>
      </p:sp>
      <p:sp>
        <p:nvSpPr>
          <p:cNvPr id="131" name="Google Shape;131;p6"/>
          <p:cNvSpPr txBox="1"/>
          <p:nvPr>
            <p:ph idx="1" type="body"/>
          </p:nvPr>
        </p:nvSpPr>
        <p:spPr>
          <a:xfrm>
            <a:off x="152400" y="1600200"/>
            <a:ext cx="83058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DNS (Domain Name System) Spoofing Attack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Domain Name System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Domain Name System (DNS) is the basis for name resolution to IP addresses today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DNS Cache Poisoning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Like ARP poisoning, tricks the target machine into resolving domain names to incorrect IP addresses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Changing the hosts file to redirect traffic to a spoofed website</a:t>
            </a:r>
            <a:endParaRPr/>
          </a:p>
          <a:p>
            <a:pPr indent="0" lvl="1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 txBox="1"/>
          <p:nvPr>
            <p:ph type="title"/>
          </p:nvPr>
        </p:nvSpPr>
        <p:spPr>
          <a:xfrm>
            <a:off x="152400" y="119703"/>
            <a:ext cx="80772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4000"/>
              <a:buFont typeface="Calibri"/>
              <a:buNone/>
            </a:pPr>
            <a:r>
              <a:rPr lang="en-US"/>
              <a:t>Types of Network Attacks</a:t>
            </a:r>
            <a:endParaRPr/>
          </a:p>
        </p:txBody>
      </p:sp>
      <p:pic>
        <p:nvPicPr>
          <p:cNvPr id="138" name="Google Shape;13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752600"/>
            <a:ext cx="7773485" cy="45345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4000"/>
              <a:buFont typeface="Calibri"/>
              <a:buNone/>
            </a:pPr>
            <a:r>
              <a:rPr lang="en-US"/>
              <a:t>Types of Network Attacks</a:t>
            </a:r>
            <a:endParaRPr/>
          </a:p>
        </p:txBody>
      </p:sp>
      <p:sp>
        <p:nvSpPr>
          <p:cNvPr id="145" name="Google Shape;145;p8"/>
          <p:cNvSpPr txBox="1"/>
          <p:nvPr>
            <p:ph idx="1" type="body"/>
          </p:nvPr>
        </p:nvSpPr>
        <p:spPr>
          <a:xfrm>
            <a:off x="152400" y="1600200"/>
            <a:ext cx="83058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SYN Flood Attack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TCP handshake: SYN, SYN/ACK, ACK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Each SYN sent burdens the server because it has to calculate the SYN/ACK and remember to wait for the ACK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The attack occurs when the attacker sends large number of SYN packets to the victim, forcing them to wait for replies that never come. 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The third part of the TCP three-way handshake is not executed. 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Since the host is waiting for large number of replies, the real service requests are not processed, bringing down the service.</a:t>
            </a:r>
            <a:endParaRPr/>
          </a:p>
          <a:p>
            <a:pPr indent="-1905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1905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4000"/>
              <a:buFont typeface="Calibri"/>
              <a:buNone/>
            </a:pPr>
            <a:r>
              <a:rPr lang="en-US"/>
              <a:t>Types of Network Attacks</a:t>
            </a:r>
            <a:endParaRPr/>
          </a:p>
        </p:txBody>
      </p:sp>
      <p:sp>
        <p:nvSpPr>
          <p:cNvPr id="152" name="Google Shape;152;p9"/>
          <p:cNvSpPr txBox="1"/>
          <p:nvPr>
            <p:ph idx="1" type="body"/>
          </p:nvPr>
        </p:nvSpPr>
        <p:spPr>
          <a:xfrm>
            <a:off x="152400" y="1600200"/>
            <a:ext cx="83058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SYN Flood Attack</a:t>
            </a:r>
            <a:endParaRPr/>
          </a:p>
        </p:txBody>
      </p:sp>
      <p:pic>
        <p:nvPicPr>
          <p:cNvPr descr="Screen Shot 2014-12-23 at 7.02.16 AM.png" id="153" name="Google Shape;15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6855" y="2286000"/>
            <a:ext cx="8676673" cy="236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4000"/>
              <a:buFont typeface="Calibri"/>
              <a:buNone/>
            </a:pPr>
            <a:r>
              <a:rPr lang="en-US"/>
              <a:t>Types of Network Attacks</a:t>
            </a:r>
            <a:endParaRPr/>
          </a:p>
        </p:txBody>
      </p:sp>
      <p:sp>
        <p:nvSpPr>
          <p:cNvPr id="160" name="Google Shape;160;p10"/>
          <p:cNvSpPr txBox="1"/>
          <p:nvPr>
            <p:ph idx="1" type="body"/>
          </p:nvPr>
        </p:nvSpPr>
        <p:spPr>
          <a:xfrm>
            <a:off x="152400" y="1600200"/>
            <a:ext cx="83058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Sniffer Attack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A sniffer is an application that can capture network packets. Sniffers are also known as network protocol analyzers. 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While protocol analyzers are really network troubleshooting tools, they are also used by hackers for hacking network. 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If the network packets are not encrypted, the data within the network packet can be read using a sniffer. </a:t>
            </a:r>
            <a:endParaRPr/>
          </a:p>
          <a:p>
            <a:pPr indent="-1905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1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4000"/>
              <a:buFont typeface="Calibri"/>
              <a:buNone/>
            </a:pPr>
            <a:r>
              <a:rPr lang="en-US"/>
              <a:t>Types of Network Attacks</a:t>
            </a:r>
            <a:endParaRPr/>
          </a:p>
        </p:txBody>
      </p:sp>
      <p:sp>
        <p:nvSpPr>
          <p:cNvPr id="167" name="Google Shape;167;p11"/>
          <p:cNvSpPr txBox="1"/>
          <p:nvPr>
            <p:ph idx="1" type="body"/>
          </p:nvPr>
        </p:nvSpPr>
        <p:spPr>
          <a:xfrm>
            <a:off x="152400" y="1600200"/>
            <a:ext cx="83058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Sniffer Attack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Sniffing refers to the process used by attackers to capture network traffic using a sniffer. 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Once the packet is captured using a sniffer, the contents of packets can be analyzed. 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Sniffers are used by hackers to capture sensitive network information, such as passwords, account information etc. </a:t>
            </a:r>
            <a:endParaRPr/>
          </a:p>
          <a:p>
            <a:pPr indent="-1905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4000"/>
              <a:buFont typeface="Calibri"/>
              <a:buNone/>
            </a:pPr>
            <a:r>
              <a:rPr lang="en-US"/>
              <a:t>Types of Network Attacks</a:t>
            </a:r>
            <a:endParaRPr/>
          </a:p>
        </p:txBody>
      </p:sp>
      <p:sp>
        <p:nvSpPr>
          <p:cNvPr id="174" name="Google Shape;174;p12"/>
          <p:cNvSpPr txBox="1"/>
          <p:nvPr>
            <p:ph idx="1" type="body"/>
          </p:nvPr>
        </p:nvSpPr>
        <p:spPr>
          <a:xfrm>
            <a:off x="152400" y="1600200"/>
            <a:ext cx="83058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Man-In-The-Middle (MITM) Attack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In this attack an adversary captures data from middle of transmission and changes it, then send it again to the destination. 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Receiving person thinks that this message came from original source. 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Man-in-the-Middle (MITM) attacks are also known as "session hijacking attacks", which means that the attacker hijacks a authorized user's session to control the communication.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3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4000"/>
              <a:buFont typeface="Calibri"/>
              <a:buNone/>
            </a:pPr>
            <a:r>
              <a:rPr lang="en-US"/>
              <a:t>Types of Network Attacks</a:t>
            </a:r>
            <a:endParaRPr/>
          </a:p>
        </p:txBody>
      </p:sp>
      <p:sp>
        <p:nvSpPr>
          <p:cNvPr id="181" name="Google Shape;181;p13"/>
          <p:cNvSpPr txBox="1"/>
          <p:nvPr>
            <p:ph idx="1" type="body"/>
          </p:nvPr>
        </p:nvSpPr>
        <p:spPr>
          <a:xfrm>
            <a:off x="152400" y="1600200"/>
            <a:ext cx="83058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Man-In-The-Middle (MITM) Attack</a:t>
            </a:r>
            <a:endParaRPr/>
          </a:p>
        </p:txBody>
      </p:sp>
      <p:pic>
        <p:nvPicPr>
          <p:cNvPr id="182" name="Google Shape;18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5992" y="2438400"/>
            <a:ext cx="8549641" cy="25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4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4000"/>
              <a:buFont typeface="Calibri"/>
              <a:buNone/>
            </a:pPr>
            <a:r>
              <a:rPr lang="en-US"/>
              <a:t>Types of Network Attacks</a:t>
            </a:r>
            <a:endParaRPr/>
          </a:p>
        </p:txBody>
      </p:sp>
      <p:sp>
        <p:nvSpPr>
          <p:cNvPr id="189" name="Google Shape;189;p14"/>
          <p:cNvSpPr txBox="1"/>
          <p:nvPr>
            <p:ph idx="1" type="body"/>
          </p:nvPr>
        </p:nvSpPr>
        <p:spPr>
          <a:xfrm>
            <a:off x="152400" y="1600200"/>
            <a:ext cx="83058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Denial of Service (DoS) Attack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The idea of DOS attack is to reduce the quality of service offered by server, or to crash server with heavy work load. </a:t>
            </a:r>
            <a:endParaRPr sz="2400"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Denial-of-service (DoS): Attacker sends large number of connection or information requests to a target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Target system cannot handle successfully along with other, valid service requests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May result in system crash or inability to perform ordinary functions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5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4000"/>
              <a:buFont typeface="Calibri"/>
              <a:buNone/>
            </a:pPr>
            <a:r>
              <a:rPr lang="en-US"/>
              <a:t>Types of Network Attacks</a:t>
            </a:r>
            <a:endParaRPr/>
          </a:p>
        </p:txBody>
      </p:sp>
      <p:sp>
        <p:nvSpPr>
          <p:cNvPr id="196" name="Google Shape;196;p15"/>
          <p:cNvSpPr txBox="1"/>
          <p:nvPr>
            <p:ph idx="1" type="body"/>
          </p:nvPr>
        </p:nvSpPr>
        <p:spPr>
          <a:xfrm>
            <a:off x="152400" y="1600200"/>
            <a:ext cx="83058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Distributed Denial of Service (DDoS) Attack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Distributed denial-of-service (DDoS): coordinated stream of requests is launched against target from many locations simultaneously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In Distributed Denial of Service (DDoS), an intruder compromise one computer and make it Distributed Denial of Service (DDoS) master. 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Using this Distributed Denial of Service (DDoS) master, the intruder identifies and communicates with other systems that can be compromised.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6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4000"/>
              <a:buFont typeface="Calibri"/>
              <a:buNone/>
            </a:pPr>
            <a:r>
              <a:rPr lang="en-US"/>
              <a:t>Types of Network Attacks</a:t>
            </a:r>
            <a:endParaRPr/>
          </a:p>
        </p:txBody>
      </p:sp>
      <p:sp>
        <p:nvSpPr>
          <p:cNvPr id="203" name="Google Shape;203;p16"/>
          <p:cNvSpPr txBox="1"/>
          <p:nvPr>
            <p:ph idx="1" type="body"/>
          </p:nvPr>
        </p:nvSpPr>
        <p:spPr>
          <a:xfrm>
            <a:off x="152400" y="1600200"/>
            <a:ext cx="83058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Distributed Denial of Service (DDoS) Attack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Then the intruder installs Distributed Denial of Service (DDoS) tools on all compromised systems. 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With a single command, the intruder instructs the compromised computers to launch flood attacks against the target server. 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Here thousands of compromised computers are flooding or overloading the resources of the target server preventing the valid users from accessing the services offered by the server.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7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4000"/>
              <a:buFont typeface="Calibri"/>
              <a:buNone/>
            </a:pPr>
            <a:r>
              <a:rPr lang="en-US"/>
              <a:t>Types of Network Attacks</a:t>
            </a:r>
            <a:endParaRPr/>
          </a:p>
        </p:txBody>
      </p:sp>
      <p:sp>
        <p:nvSpPr>
          <p:cNvPr id="210" name="Google Shape;210;p17"/>
          <p:cNvSpPr txBox="1"/>
          <p:nvPr>
            <p:ph idx="1" type="body"/>
          </p:nvPr>
        </p:nvSpPr>
        <p:spPr>
          <a:xfrm>
            <a:off x="152400" y="1600200"/>
            <a:ext cx="83058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Distributed Denial of Service (DDoS) Attack</a:t>
            </a:r>
            <a:endParaRPr/>
          </a:p>
        </p:txBody>
      </p:sp>
      <p:pic>
        <p:nvPicPr>
          <p:cNvPr id="211" name="Google Shape;21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66900" y="2209800"/>
            <a:ext cx="5410200" cy="44803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8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4000"/>
              <a:buFont typeface="Calibri"/>
              <a:buNone/>
            </a:pPr>
            <a:r>
              <a:rPr lang="en-US"/>
              <a:t>Types of Network Attacks</a:t>
            </a:r>
            <a:endParaRPr/>
          </a:p>
        </p:txBody>
      </p:sp>
      <p:sp>
        <p:nvSpPr>
          <p:cNvPr id="218" name="Google Shape;218;p18"/>
          <p:cNvSpPr txBox="1"/>
          <p:nvPr>
            <p:ph idx="1" type="body"/>
          </p:nvPr>
        </p:nvSpPr>
        <p:spPr>
          <a:xfrm>
            <a:off x="152400" y="1600200"/>
            <a:ext cx="83058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SQL Injection Attack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SQL injection attack is another type of attack to exploit applications that use client-supplied data in SQL statements. 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Here malicious code is inserted into strings that are later passed to database application for parsing and execution. 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The common method of SQL injection attack is direct insertion of malicious code into user-input variables that are concatenated with SQL commands and executed.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9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4000"/>
              <a:buFont typeface="Calibri"/>
              <a:buNone/>
            </a:pPr>
            <a:r>
              <a:rPr lang="en-US"/>
              <a:t>Types of Network Attacks</a:t>
            </a:r>
            <a:endParaRPr/>
          </a:p>
        </p:txBody>
      </p:sp>
      <p:sp>
        <p:nvSpPr>
          <p:cNvPr id="225" name="Google Shape;225;p19"/>
          <p:cNvSpPr txBox="1"/>
          <p:nvPr>
            <p:ph idx="1" type="body"/>
          </p:nvPr>
        </p:nvSpPr>
        <p:spPr>
          <a:xfrm>
            <a:off x="152400" y="1600200"/>
            <a:ext cx="83058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SQL Injection Attack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Following example shows the simplest form of SQL injection. 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"select * from UserInfo where UserID = '" + UserID + "'";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If the user fills the field with correct information of his UserID (F827781), after the script execution the above SQL query will look like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SELECT * FROM UserInfo WHERE UserID = 'F827781'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0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4000"/>
              <a:buFont typeface="Calibri"/>
              <a:buNone/>
            </a:pPr>
            <a:r>
              <a:rPr lang="en-US"/>
              <a:t>Types of Network Attacks</a:t>
            </a:r>
            <a:endParaRPr/>
          </a:p>
        </p:txBody>
      </p:sp>
      <p:sp>
        <p:nvSpPr>
          <p:cNvPr id="232" name="Google Shape;232;p20"/>
          <p:cNvSpPr txBox="1"/>
          <p:nvPr>
            <p:ph idx="1" type="body"/>
          </p:nvPr>
        </p:nvSpPr>
        <p:spPr>
          <a:xfrm>
            <a:off x="152400" y="1600200"/>
            <a:ext cx="83058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SQL Injection Attack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Consider a case when a user fills the field with the below entry. 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F827781; drop table UserInfo--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After the execution of the script, the SQL code will look like 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SELECT * FROM UserInfo WHERE UserID = ' F827781';drop table UserInfo--</a:t>
            </a:r>
            <a:endParaRPr/>
          </a:p>
          <a:p>
            <a:pPr indent="-342900" lvl="1" marL="342900" rtl="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This will ultimately result in deletion of table UserInfo.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2017-01-30T04:28:05Z</dcterms:created>
</cp:coreProperties>
</file>