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9"/>
  </p:notesMasterIdLst>
  <p:handoutMasterIdLst>
    <p:handoutMasterId r:id="rId40"/>
  </p:handoutMasterIdLst>
  <p:sldIdLst>
    <p:sldId id="295" r:id="rId2"/>
    <p:sldId id="296" r:id="rId3"/>
    <p:sldId id="310" r:id="rId4"/>
    <p:sldId id="312" r:id="rId5"/>
    <p:sldId id="315" r:id="rId6"/>
    <p:sldId id="313" r:id="rId7"/>
    <p:sldId id="314" r:id="rId8"/>
    <p:sldId id="316" r:id="rId9"/>
    <p:sldId id="317" r:id="rId10"/>
    <p:sldId id="318" r:id="rId11"/>
    <p:sldId id="319" r:id="rId12"/>
    <p:sldId id="320" r:id="rId13"/>
    <p:sldId id="321" r:id="rId14"/>
    <p:sldId id="322" r:id="rId15"/>
    <p:sldId id="324" r:id="rId16"/>
    <p:sldId id="325" r:id="rId17"/>
    <p:sldId id="329" r:id="rId18"/>
    <p:sldId id="326" r:id="rId19"/>
    <p:sldId id="327" r:id="rId20"/>
    <p:sldId id="328" r:id="rId21"/>
    <p:sldId id="330" r:id="rId22"/>
    <p:sldId id="331" r:id="rId23"/>
    <p:sldId id="332" r:id="rId24"/>
    <p:sldId id="333" r:id="rId25"/>
    <p:sldId id="334" r:id="rId26"/>
    <p:sldId id="335" r:id="rId27"/>
    <p:sldId id="336" r:id="rId28"/>
    <p:sldId id="337" r:id="rId29"/>
    <p:sldId id="338" r:id="rId30"/>
    <p:sldId id="339" r:id="rId31"/>
    <p:sldId id="340" r:id="rId32"/>
    <p:sldId id="341" r:id="rId33"/>
    <p:sldId id="342" r:id="rId34"/>
    <p:sldId id="343" r:id="rId35"/>
    <p:sldId id="344" r:id="rId36"/>
    <p:sldId id="345" r:id="rId37"/>
    <p:sldId id="346"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660" autoAdjust="0"/>
  </p:normalViewPr>
  <p:slideViewPr>
    <p:cSldViewPr>
      <p:cViewPr varScale="1">
        <p:scale>
          <a:sx n="60" d="100"/>
          <a:sy n="60" d="100"/>
        </p:scale>
        <p:origin x="112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AF5BBF-B947-448A-88A6-8B773D5C1FFC}" type="datetimeFigureOut">
              <a:rPr lang="en-US" smtClean="0"/>
              <a:t>1/16/2024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11E9E5-2834-4673-9FFE-FEECA6F9C2F0}" type="slidenum">
              <a:rPr lang="en-US" smtClean="0"/>
              <a:t>‹#›</a:t>
            </a:fld>
            <a:endParaRPr lang="en-US"/>
          </a:p>
        </p:txBody>
      </p:sp>
    </p:spTree>
    <p:extLst>
      <p:ext uri="{BB962C8B-B14F-4D97-AF65-F5344CB8AC3E}">
        <p14:creationId xmlns:p14="http://schemas.microsoft.com/office/powerpoint/2010/main" val="96212051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1/16/2024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0532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21320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3</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42623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4</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572116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5</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2169796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6</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 dirty="0"/>
              <a:t>Bombe, also styled bombe, </a:t>
            </a:r>
            <a:r>
              <a:rPr lang="en" b="1" dirty="0"/>
              <a:t>electromechanical code-breaking machine created by cryptologists in Britain during World War II to decode German messages that were encrypted using the Enigma machine</a:t>
            </a:r>
            <a:r>
              <a:rPr lang="en" dirty="0"/>
              <a:t>. The Bombe was derived from a device called the bomba</a:t>
            </a:r>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455856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7</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320189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8</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755228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9</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2831451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10</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US" altLang="en-US" b="0" dirty="0"/>
              <a:t>a.k.a. meaning: </a:t>
            </a:r>
            <a:r>
              <a:rPr lang="en-GB" dirty="0"/>
              <a:t>also known as</a:t>
            </a:r>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1596624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11</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1839801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12</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US" altLang="en-US" b="0" dirty="0"/>
              <a:t>Offsetting: </a:t>
            </a:r>
            <a:r>
              <a:rPr lang="en" b="1" dirty="0"/>
              <a:t>to place over against something</a:t>
            </a:r>
            <a:r>
              <a:rPr lang="en" dirty="0"/>
              <a:t> </a:t>
            </a:r>
          </a:p>
          <a:p>
            <a:r>
              <a:rPr lang="en" dirty="0"/>
              <a:t>ROT13 ("rotate by 13 places", sometimes hyphenated ROT-13) is </a:t>
            </a:r>
            <a:r>
              <a:rPr lang="en" b="1" dirty="0"/>
              <a:t>a simple letter substitution cipher that replaces a letter with the 13th letter after it in the latin alphabet</a:t>
            </a:r>
            <a:r>
              <a:rPr lang="en" dirty="0"/>
              <a:t>. </a:t>
            </a:r>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3302976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13</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4241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14</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1769296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15</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GB" dirty="0"/>
              <a:t>More Examples of messages containing null ciphers:  </a:t>
            </a:r>
          </a:p>
          <a:p>
            <a:r>
              <a:rPr lang="en-GB" dirty="0"/>
              <a:t>Input will be one paragraph or sentence without any newline. </a:t>
            </a:r>
          </a:p>
          <a:p>
            <a:r>
              <a:rPr lang="en-GB" b="1" dirty="0"/>
              <a:t>Input :</a:t>
            </a:r>
            <a:r>
              <a:rPr lang="en-GB" dirty="0"/>
              <a:t> News Eight Weather: Tonight increasing snow. Unexpected precipitation smothers eastern towns. Be extremely cautious and use </a:t>
            </a:r>
            <a:r>
              <a:rPr lang="en-GB" dirty="0" err="1"/>
              <a:t>snowtires</a:t>
            </a:r>
            <a:r>
              <a:rPr lang="en-GB" dirty="0"/>
              <a:t> especially heading east. The [highway is not] knowingly slippery. Highway evacuation is suspected. Police report emergency situations in downtown ending near Tuesday. </a:t>
            </a:r>
          </a:p>
          <a:p>
            <a:r>
              <a:rPr lang="en-GB" b="1" dirty="0"/>
              <a:t>Explanation:</a:t>
            </a:r>
            <a:r>
              <a:rPr lang="en-GB" dirty="0"/>
              <a:t> Taking the first letter in each word successively yields the real message. Here we are converting decoded message to lowercase. </a:t>
            </a:r>
            <a:r>
              <a:rPr lang="en-GB" b="1" dirty="0"/>
              <a:t>N</a:t>
            </a:r>
            <a:r>
              <a:rPr lang="en-GB" dirty="0"/>
              <a:t>ews </a:t>
            </a:r>
            <a:r>
              <a:rPr lang="en-GB" b="1" dirty="0"/>
              <a:t>E</a:t>
            </a:r>
            <a:r>
              <a:rPr lang="en-GB" dirty="0"/>
              <a:t>ight </a:t>
            </a:r>
            <a:r>
              <a:rPr lang="en-GB" b="1" dirty="0"/>
              <a:t>W</a:t>
            </a:r>
            <a:r>
              <a:rPr lang="en-GB" dirty="0"/>
              <a:t>eather: </a:t>
            </a:r>
            <a:r>
              <a:rPr lang="en-GB" b="1" dirty="0"/>
              <a:t>T</a:t>
            </a:r>
            <a:r>
              <a:rPr lang="en-GB" dirty="0"/>
              <a:t>onight </a:t>
            </a:r>
            <a:r>
              <a:rPr lang="en-GB" b="1" dirty="0"/>
              <a:t>I</a:t>
            </a:r>
            <a:r>
              <a:rPr lang="en-GB" dirty="0"/>
              <a:t>ncreasing </a:t>
            </a:r>
            <a:r>
              <a:rPr lang="en-GB" b="1" dirty="0"/>
              <a:t>S</a:t>
            </a:r>
            <a:r>
              <a:rPr lang="en-GB" dirty="0"/>
              <a:t>now. </a:t>
            </a:r>
            <a:r>
              <a:rPr lang="en-GB" b="1" dirty="0"/>
              <a:t>U</a:t>
            </a:r>
            <a:r>
              <a:rPr lang="en-GB" dirty="0"/>
              <a:t>nexpected </a:t>
            </a:r>
            <a:r>
              <a:rPr lang="en-GB" b="1" dirty="0"/>
              <a:t>P</a:t>
            </a:r>
            <a:r>
              <a:rPr lang="en-GB" dirty="0"/>
              <a:t>recipitation </a:t>
            </a:r>
            <a:r>
              <a:rPr lang="en-GB" b="1" dirty="0"/>
              <a:t>S</a:t>
            </a:r>
            <a:r>
              <a:rPr lang="en-GB" dirty="0"/>
              <a:t>mothers </a:t>
            </a:r>
            <a:r>
              <a:rPr lang="en-GB" b="1" dirty="0"/>
              <a:t>E</a:t>
            </a:r>
            <a:r>
              <a:rPr lang="en-GB" dirty="0"/>
              <a:t>astern </a:t>
            </a:r>
            <a:r>
              <a:rPr lang="en-GB" b="1" dirty="0"/>
              <a:t>T</a:t>
            </a:r>
            <a:r>
              <a:rPr lang="en-GB" dirty="0"/>
              <a:t>owns. </a:t>
            </a:r>
            <a:r>
              <a:rPr lang="en-GB" b="1" dirty="0"/>
              <a:t>B</a:t>
            </a:r>
            <a:r>
              <a:rPr lang="en-GB" dirty="0"/>
              <a:t>e </a:t>
            </a:r>
            <a:r>
              <a:rPr lang="en-GB" b="1" dirty="0"/>
              <a:t>E</a:t>
            </a:r>
            <a:r>
              <a:rPr lang="en-GB" dirty="0"/>
              <a:t>xtremely </a:t>
            </a:r>
            <a:r>
              <a:rPr lang="en-GB" b="1" dirty="0"/>
              <a:t>C</a:t>
            </a:r>
            <a:r>
              <a:rPr lang="en-GB" dirty="0"/>
              <a:t>autious </a:t>
            </a:r>
            <a:r>
              <a:rPr lang="en-GB" b="1" dirty="0"/>
              <a:t>A</a:t>
            </a:r>
            <a:r>
              <a:rPr lang="en-GB" dirty="0"/>
              <a:t>nd </a:t>
            </a:r>
            <a:r>
              <a:rPr lang="en-GB" b="1" dirty="0"/>
              <a:t>U</a:t>
            </a:r>
            <a:r>
              <a:rPr lang="en-GB" dirty="0"/>
              <a:t>se </a:t>
            </a:r>
            <a:r>
              <a:rPr lang="en-GB" b="1" dirty="0" err="1"/>
              <a:t>S</a:t>
            </a:r>
            <a:r>
              <a:rPr lang="en-GB" dirty="0" err="1"/>
              <a:t>nowtires</a:t>
            </a:r>
            <a:r>
              <a:rPr lang="en-GB" dirty="0"/>
              <a:t> </a:t>
            </a:r>
            <a:r>
              <a:rPr lang="en-GB" b="1" dirty="0"/>
              <a:t>E</a:t>
            </a:r>
            <a:r>
              <a:rPr lang="en-GB" dirty="0"/>
              <a:t>specially </a:t>
            </a:r>
            <a:r>
              <a:rPr lang="en-GB" b="1" dirty="0"/>
              <a:t>H</a:t>
            </a:r>
            <a:r>
              <a:rPr lang="en-GB" dirty="0"/>
              <a:t>eading </a:t>
            </a:r>
            <a:r>
              <a:rPr lang="en-GB" b="1" dirty="0"/>
              <a:t>E</a:t>
            </a:r>
            <a:r>
              <a:rPr lang="en-GB" dirty="0"/>
              <a:t>ast. </a:t>
            </a:r>
            <a:r>
              <a:rPr lang="en-GB" b="1" dirty="0"/>
              <a:t>T</a:t>
            </a:r>
            <a:r>
              <a:rPr lang="en-GB" dirty="0"/>
              <a:t>he [</a:t>
            </a:r>
            <a:r>
              <a:rPr lang="en-GB" b="1" dirty="0"/>
              <a:t>H</a:t>
            </a:r>
            <a:r>
              <a:rPr lang="en-GB" dirty="0"/>
              <a:t>ighway </a:t>
            </a:r>
            <a:r>
              <a:rPr lang="en-GB" b="1" dirty="0"/>
              <a:t>I</a:t>
            </a:r>
            <a:r>
              <a:rPr lang="en-GB" dirty="0"/>
              <a:t>s </a:t>
            </a:r>
            <a:r>
              <a:rPr lang="en-GB" b="1" dirty="0"/>
              <a:t>N</a:t>
            </a:r>
            <a:r>
              <a:rPr lang="en-GB" dirty="0"/>
              <a:t>ot] </a:t>
            </a:r>
            <a:r>
              <a:rPr lang="en-GB" b="1" dirty="0"/>
              <a:t>K</a:t>
            </a:r>
            <a:r>
              <a:rPr lang="en-GB" dirty="0"/>
              <a:t>nowingly </a:t>
            </a:r>
            <a:r>
              <a:rPr lang="en-GB" b="1" dirty="0"/>
              <a:t>S</a:t>
            </a:r>
            <a:r>
              <a:rPr lang="en-GB" dirty="0"/>
              <a:t>lippery. </a:t>
            </a:r>
            <a:r>
              <a:rPr lang="en-GB" b="1" dirty="0"/>
              <a:t>H</a:t>
            </a:r>
            <a:r>
              <a:rPr lang="en-GB" dirty="0"/>
              <a:t>ighway </a:t>
            </a:r>
            <a:r>
              <a:rPr lang="en-GB" b="1" dirty="0"/>
              <a:t>E</a:t>
            </a:r>
            <a:r>
              <a:rPr lang="en-GB" dirty="0"/>
              <a:t>vacuation </a:t>
            </a:r>
            <a:r>
              <a:rPr lang="en-GB" b="1" dirty="0"/>
              <a:t>I</a:t>
            </a:r>
            <a:r>
              <a:rPr lang="en-GB" dirty="0"/>
              <a:t>s </a:t>
            </a:r>
            <a:r>
              <a:rPr lang="en-GB" b="1" dirty="0"/>
              <a:t>S</a:t>
            </a:r>
            <a:r>
              <a:rPr lang="en-GB" dirty="0"/>
              <a:t>uspected. </a:t>
            </a:r>
            <a:r>
              <a:rPr lang="en-GB" b="1" dirty="0"/>
              <a:t>P</a:t>
            </a:r>
            <a:r>
              <a:rPr lang="en-GB" dirty="0"/>
              <a:t>olice </a:t>
            </a:r>
            <a:r>
              <a:rPr lang="en-GB" b="1" dirty="0"/>
              <a:t>R</a:t>
            </a:r>
            <a:r>
              <a:rPr lang="en-GB" dirty="0"/>
              <a:t>eport </a:t>
            </a:r>
            <a:r>
              <a:rPr lang="en-GB" b="1" dirty="0"/>
              <a:t>E</a:t>
            </a:r>
            <a:r>
              <a:rPr lang="en-GB" dirty="0"/>
              <a:t>mergency </a:t>
            </a:r>
            <a:r>
              <a:rPr lang="en-GB" b="1" dirty="0"/>
              <a:t>S</a:t>
            </a:r>
            <a:r>
              <a:rPr lang="en-GB" dirty="0"/>
              <a:t>ituations </a:t>
            </a:r>
            <a:r>
              <a:rPr lang="en-GB" b="1" dirty="0"/>
              <a:t>I</a:t>
            </a:r>
            <a:r>
              <a:rPr lang="en-GB" dirty="0"/>
              <a:t>n </a:t>
            </a:r>
            <a:r>
              <a:rPr lang="en-GB" b="1" dirty="0"/>
              <a:t>D</a:t>
            </a:r>
            <a:r>
              <a:rPr lang="en-GB" dirty="0"/>
              <a:t>owntown </a:t>
            </a:r>
            <a:r>
              <a:rPr lang="en-GB" b="1" dirty="0"/>
              <a:t>E</a:t>
            </a:r>
            <a:r>
              <a:rPr lang="en-GB" dirty="0"/>
              <a:t>nding </a:t>
            </a:r>
            <a:r>
              <a:rPr lang="en-GB" b="1" dirty="0"/>
              <a:t>N</a:t>
            </a:r>
            <a:r>
              <a:rPr lang="en-GB" dirty="0"/>
              <a:t>ear </a:t>
            </a:r>
            <a:r>
              <a:rPr lang="en-GB" b="1" dirty="0"/>
              <a:t>T</a:t>
            </a:r>
            <a:r>
              <a:rPr lang="en-GB" dirty="0"/>
              <a:t>uesday. </a:t>
            </a:r>
          </a:p>
          <a:p>
            <a:r>
              <a:rPr lang="en-GB" b="1" dirty="0"/>
              <a:t>Output :</a:t>
            </a:r>
            <a:r>
              <a:rPr lang="en-GB" dirty="0"/>
              <a:t> After Deciphered : </a:t>
            </a:r>
            <a:r>
              <a:rPr lang="en-GB" dirty="0" err="1"/>
              <a:t>newtisupsetbecausehethinksheispresident</a:t>
            </a:r>
            <a:r>
              <a:rPr lang="en-GB" dirty="0"/>
              <a:t> </a:t>
            </a:r>
          </a:p>
          <a:p>
            <a:r>
              <a:rPr lang="en-GB" dirty="0"/>
              <a:t>After breaking the words </a:t>
            </a:r>
            <a:r>
              <a:rPr lang="en-GB" b="1" dirty="0"/>
              <a:t>manually</a:t>
            </a:r>
            <a:r>
              <a:rPr lang="en-GB" dirty="0"/>
              <a:t> the </a:t>
            </a:r>
            <a:r>
              <a:rPr lang="en-GB" b="1" dirty="0"/>
              <a:t>output</a:t>
            </a:r>
            <a:r>
              <a:rPr lang="en-GB" dirty="0"/>
              <a:t> will be: Newt is upset because he thinks he is President</a:t>
            </a:r>
            <a:endParaRPr lang="en-US" altLang="en-US" dirty="0"/>
          </a:p>
        </p:txBody>
      </p:sp>
    </p:spTree>
    <p:extLst>
      <p:ext uri="{BB962C8B-B14F-4D97-AF65-F5344CB8AC3E}">
        <p14:creationId xmlns:p14="http://schemas.microsoft.com/office/powerpoint/2010/main" val="309076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16</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200" dirty="0"/>
              <a:t>IDEA: International Data Encryption Algorithm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224593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17</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GB" i="1" dirty="0"/>
              <a:t>RC4</a:t>
            </a:r>
            <a:r>
              <a:rPr lang="en-GB" dirty="0"/>
              <a:t> (also known as Rivest </a:t>
            </a:r>
            <a:r>
              <a:rPr lang="en-GB" i="1" dirty="0"/>
              <a:t>Cipher</a:t>
            </a:r>
            <a:r>
              <a:rPr lang="en-GB" dirty="0"/>
              <a:t> 4)</a:t>
            </a:r>
          </a:p>
          <a:p>
            <a:r>
              <a:rPr lang="en-GB" i="1" dirty="0"/>
              <a:t>SEAL</a:t>
            </a:r>
            <a:r>
              <a:rPr lang="en-GB" dirty="0"/>
              <a:t> (Software-Optimized </a:t>
            </a:r>
            <a:r>
              <a:rPr lang="en-GB" i="1" dirty="0"/>
              <a:t>Encryption</a:t>
            </a:r>
            <a:r>
              <a:rPr lang="en-GB" dirty="0"/>
              <a:t> Algorithm)</a:t>
            </a:r>
          </a:p>
          <a:p>
            <a:r>
              <a:rPr lang="en" dirty="0"/>
              <a:t>VEST (</a:t>
            </a:r>
            <a:r>
              <a:rPr lang="en" b="1" dirty="0"/>
              <a:t>Very Efficient Substitution Transposition</a:t>
            </a:r>
            <a:r>
              <a:rPr lang="en" dirty="0"/>
              <a:t>)</a:t>
            </a:r>
            <a:endParaRPr lang="en-US" altLang="en-US" b="0" dirty="0"/>
          </a:p>
          <a:p>
            <a:endParaRPr lang="en-US" altLang="en-US" dirty="0"/>
          </a:p>
        </p:txBody>
      </p:sp>
    </p:spTree>
    <p:extLst>
      <p:ext uri="{BB962C8B-B14F-4D97-AF65-F5344CB8AC3E}">
        <p14:creationId xmlns:p14="http://schemas.microsoft.com/office/powerpoint/2010/main" val="13754382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18</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 b="1" dirty="0"/>
              <a:t>Steganography means hidden writing.</a:t>
            </a:r>
            <a:r>
              <a:rPr lang="en" dirty="0"/>
              <a:t> </a:t>
            </a:r>
            <a:r>
              <a:rPr lang="en" b="1" dirty="0"/>
              <a:t>In contrast, cryptography means secret writing</a:t>
            </a:r>
          </a:p>
          <a:p>
            <a:r>
              <a:rPr lang="en-GB" dirty="0"/>
              <a:t>Steganography, </a:t>
            </a:r>
            <a:r>
              <a:rPr lang="en-GB" i="1" dirty="0"/>
              <a:t>or cover writing, is a method where a secret method is converted into fake looking message</a:t>
            </a:r>
          </a:p>
          <a:p>
            <a:endParaRPr lang="en-US" altLang="en-US" b="0"/>
          </a:p>
          <a:p>
            <a:r>
              <a:rPr lang="en-GB" dirty="0"/>
              <a:t>Steganography, or </a:t>
            </a:r>
            <a:r>
              <a:rPr lang="en-GB" i="1" dirty="0"/>
              <a:t>cover writing</a:t>
            </a:r>
            <a:r>
              <a:rPr lang="en-GB" dirty="0"/>
              <a:t>, is a method where a secret method is converted into fake looking message. This technique helps to keep a message secret. It is pretty difficult to use and understand. The structure of data remains unaltered in Steganography. It is used in text, audio, video or images.</a:t>
            </a:r>
          </a:p>
          <a:p>
            <a:r>
              <a:rPr lang="en-GB" dirty="0"/>
              <a:t>Cryptography, or </a:t>
            </a:r>
            <a:r>
              <a:rPr lang="en-GB" i="1" dirty="0"/>
              <a:t>secret writing</a:t>
            </a:r>
            <a:r>
              <a:rPr lang="en-GB" dirty="0"/>
              <a:t>, is a method where a secret method is converted in cipher text and sent to other person who then decrypt the cipher text into plain text. Cryptography can be classified as Symmetric key cryptography or Asymmetric key cryptography.</a:t>
            </a:r>
          </a:p>
          <a:p>
            <a:endParaRPr lang="en-US" altLang="en-US" dirty="0"/>
          </a:p>
        </p:txBody>
      </p:sp>
    </p:spTree>
    <p:extLst>
      <p:ext uri="{BB962C8B-B14F-4D97-AF65-F5344CB8AC3E}">
        <p14:creationId xmlns:p14="http://schemas.microsoft.com/office/powerpoint/2010/main" val="18386965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19</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0" dirty="0"/>
          </a:p>
          <a:p>
            <a:r>
              <a:rPr lang="en-US" altLang="en-US" dirty="0"/>
              <a:t>Afforded: Provided, Presented</a:t>
            </a:r>
          </a:p>
          <a:p>
            <a:endParaRPr lang="en-US" altLang="en-US" dirty="0"/>
          </a:p>
        </p:txBody>
      </p:sp>
    </p:spTree>
    <p:extLst>
      <p:ext uri="{BB962C8B-B14F-4D97-AF65-F5344CB8AC3E}">
        <p14:creationId xmlns:p14="http://schemas.microsoft.com/office/powerpoint/2010/main" val="1661004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20</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321982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21</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 dirty="0"/>
              <a:t>A message digest is </a:t>
            </a:r>
            <a:r>
              <a:rPr lang="en" b="1" dirty="0"/>
              <a:t>a cryptographic hash function containing a string of digits created by a one-way hashing formula</a:t>
            </a:r>
            <a:r>
              <a:rPr lang="en" dirty="0"/>
              <a:t>. Advertisements. Message digests are designed to protect the integrity of a piece of data or media to detect changes and alterations to any part of a message.</a:t>
            </a:r>
          </a:p>
          <a:p>
            <a:endParaRPr lang="en" dirty="0"/>
          </a:p>
          <a:p>
            <a:r>
              <a:rPr lang="en" b="1" dirty="0"/>
              <a:t>For example, the message "I love MUO" produces a specific hash</a:t>
            </a:r>
            <a:r>
              <a:rPr lang="en" dirty="0"/>
              <a:t>. If the message is modified just a little by adding an exclamation mark, making it "I love MUO!", the message digest will also be changed. This way, you can verify whether your message has been altered before getting to you</a:t>
            </a:r>
            <a:endParaRPr lang="en-US" altLang="en-US" dirty="0"/>
          </a:p>
        </p:txBody>
      </p:sp>
    </p:spTree>
    <p:extLst>
      <p:ext uri="{BB962C8B-B14F-4D97-AF65-F5344CB8AC3E}">
        <p14:creationId xmlns:p14="http://schemas.microsoft.com/office/powerpoint/2010/main" val="787186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22</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1" dirty="0"/>
          </a:p>
        </p:txBody>
      </p:sp>
    </p:spTree>
    <p:extLst>
      <p:ext uri="{BB962C8B-B14F-4D97-AF65-F5344CB8AC3E}">
        <p14:creationId xmlns:p14="http://schemas.microsoft.com/office/powerpoint/2010/main" val="3971350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23</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GB" altLang="en-US" sz="1200" b="1" dirty="0"/>
              <a:t>EC-DSA: </a:t>
            </a:r>
            <a:r>
              <a:rPr lang="en-US" altLang="en-US" b="1" dirty="0"/>
              <a:t>Elliptic Curve Digital Signature Algorithm</a:t>
            </a:r>
          </a:p>
          <a:p>
            <a:r>
              <a:rPr lang="en-GB" dirty="0"/>
              <a:t>Secure Hash Algorithm 1</a:t>
            </a:r>
          </a:p>
          <a:p>
            <a:r>
              <a:rPr lang="en-GB" altLang="en-US" sz="1200" dirty="0"/>
              <a:t>HAVAL: </a:t>
            </a:r>
            <a:r>
              <a:rPr lang="en-GB" i="1" dirty="0"/>
              <a:t>Hash of Variable Length</a:t>
            </a:r>
          </a:p>
          <a:p>
            <a:r>
              <a:rPr lang="en" dirty="0"/>
              <a:t>RIPEMD is the short form of (</a:t>
            </a:r>
            <a:r>
              <a:rPr lang="en" b="1" dirty="0"/>
              <a:t>RACE Integrity Primitives Evaluation Message Digest</a:t>
            </a:r>
            <a:r>
              <a:rPr lang="en" dirty="0"/>
              <a:t>)</a:t>
            </a:r>
          </a:p>
          <a:p>
            <a:r>
              <a:rPr lang="en" dirty="0"/>
              <a:t>FIPS (Federal Information Processing Standards)</a:t>
            </a:r>
          </a:p>
          <a:p>
            <a:r>
              <a:rPr lang="en-GB" i="1" dirty="0"/>
              <a:t>SHA: secure hashing algorithm</a:t>
            </a:r>
          </a:p>
          <a:p>
            <a:r>
              <a:rPr lang="en-GB" altLang="en-US" sz="1200" dirty="0"/>
              <a:t>EC-DSA:</a:t>
            </a:r>
            <a:r>
              <a:rPr lang="en-US" altLang="en-US" b="0" dirty="0"/>
              <a:t>Elliptic Curve Digital Signature Algorithm</a:t>
            </a:r>
          </a:p>
        </p:txBody>
      </p:sp>
    </p:spTree>
    <p:extLst>
      <p:ext uri="{BB962C8B-B14F-4D97-AF65-F5344CB8AC3E}">
        <p14:creationId xmlns:p14="http://schemas.microsoft.com/office/powerpoint/2010/main" val="9772287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24</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GB" altLang="en-US" sz="1200" dirty="0"/>
              <a:t>symmetric ephemeral key: </a:t>
            </a:r>
            <a:r>
              <a:rPr lang="en-GB" dirty="0" err="1"/>
              <a:t>uh·feh·mr·uhl</a:t>
            </a:r>
            <a:endParaRPr lang="en-US" altLang="en-US" b="1" dirty="0"/>
          </a:p>
        </p:txBody>
      </p:sp>
    </p:spTree>
    <p:extLst>
      <p:ext uri="{BB962C8B-B14F-4D97-AF65-F5344CB8AC3E}">
        <p14:creationId xmlns:p14="http://schemas.microsoft.com/office/powerpoint/2010/main" val="42465092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25</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1" dirty="0"/>
          </a:p>
        </p:txBody>
      </p:sp>
    </p:spTree>
    <p:extLst>
      <p:ext uri="{BB962C8B-B14F-4D97-AF65-F5344CB8AC3E}">
        <p14:creationId xmlns:p14="http://schemas.microsoft.com/office/powerpoint/2010/main" val="33885158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26</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1" dirty="0"/>
          </a:p>
        </p:txBody>
      </p:sp>
    </p:spTree>
    <p:extLst>
      <p:ext uri="{BB962C8B-B14F-4D97-AF65-F5344CB8AC3E}">
        <p14:creationId xmlns:p14="http://schemas.microsoft.com/office/powerpoint/2010/main" val="37097453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27</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 b="1" dirty="0"/>
              <a:t>Data Encryption Standard</a:t>
            </a:r>
            <a:r>
              <a:rPr lang="en" dirty="0"/>
              <a:t> (DES)</a:t>
            </a:r>
          </a:p>
          <a:p>
            <a:r>
              <a:rPr lang="en" b="1" dirty="0"/>
              <a:t>Advanced Encryption Standard</a:t>
            </a:r>
            <a:r>
              <a:rPr lang="en" dirty="0"/>
              <a:t> (AES)</a:t>
            </a:r>
          </a:p>
          <a:p>
            <a:r>
              <a:rPr lang="en" dirty="0"/>
              <a:t>RC6 (</a:t>
            </a:r>
            <a:r>
              <a:rPr lang="en" b="1" dirty="0"/>
              <a:t>Rivest cipher 6</a:t>
            </a:r>
            <a:r>
              <a:rPr lang="en" dirty="0"/>
              <a:t>)</a:t>
            </a:r>
          </a:p>
          <a:p>
            <a:endParaRPr lang="en-US" altLang="en-US" b="1" dirty="0"/>
          </a:p>
        </p:txBody>
      </p:sp>
    </p:spTree>
    <p:extLst>
      <p:ext uri="{BB962C8B-B14F-4D97-AF65-F5344CB8AC3E}">
        <p14:creationId xmlns:p14="http://schemas.microsoft.com/office/powerpoint/2010/main" val="24792337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28</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 b="1" dirty="0"/>
              <a:t>Data Encryption Standard</a:t>
            </a:r>
            <a:r>
              <a:rPr lang="en" dirty="0"/>
              <a:t> (DES)</a:t>
            </a:r>
          </a:p>
          <a:p>
            <a:r>
              <a:rPr lang="en" b="1" dirty="0"/>
              <a:t>Advanced Encryption Standard</a:t>
            </a:r>
            <a:r>
              <a:rPr lang="en" dirty="0"/>
              <a:t> (AES)</a:t>
            </a:r>
          </a:p>
          <a:p>
            <a:r>
              <a:rPr lang="en" dirty="0"/>
              <a:t>RC6 (</a:t>
            </a:r>
            <a:r>
              <a:rPr lang="en" b="1" dirty="0"/>
              <a:t>Rivest cipher 6</a:t>
            </a:r>
            <a:r>
              <a:rPr lang="en" dirty="0"/>
              <a:t>)</a:t>
            </a:r>
          </a:p>
          <a:p>
            <a:endParaRPr lang="en-US" altLang="en-US" b="1" dirty="0"/>
          </a:p>
        </p:txBody>
      </p:sp>
    </p:spTree>
    <p:extLst>
      <p:ext uri="{BB962C8B-B14F-4D97-AF65-F5344CB8AC3E}">
        <p14:creationId xmlns:p14="http://schemas.microsoft.com/office/powerpoint/2010/main" val="30439118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29</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 b="1" dirty="0"/>
              <a:t>Data Encryption Standard</a:t>
            </a:r>
            <a:r>
              <a:rPr lang="en" dirty="0"/>
              <a:t> (DES)</a:t>
            </a:r>
          </a:p>
          <a:p>
            <a:r>
              <a:rPr lang="en" b="1" dirty="0"/>
              <a:t>Advanced Encryption Standard</a:t>
            </a:r>
            <a:r>
              <a:rPr lang="en" dirty="0"/>
              <a:t> (AES)</a:t>
            </a:r>
          </a:p>
          <a:p>
            <a:r>
              <a:rPr lang="en" dirty="0"/>
              <a:t>RC6 (</a:t>
            </a:r>
            <a:r>
              <a:rPr lang="en" b="1" dirty="0"/>
              <a:t>Rivest cipher 6</a:t>
            </a:r>
            <a:r>
              <a:rPr lang="en" dirty="0"/>
              <a:t>)</a:t>
            </a:r>
          </a:p>
          <a:p>
            <a:endParaRPr lang="en-US" altLang="en-US" b="1" dirty="0"/>
          </a:p>
        </p:txBody>
      </p:sp>
    </p:spTree>
    <p:extLst>
      <p:ext uri="{BB962C8B-B14F-4D97-AF65-F5344CB8AC3E}">
        <p14:creationId xmlns:p14="http://schemas.microsoft.com/office/powerpoint/2010/main" val="31517237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30</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 b="1" dirty="0"/>
              <a:t>Data Encryption Standard</a:t>
            </a:r>
            <a:r>
              <a:rPr lang="en" dirty="0"/>
              <a:t> (DES)</a:t>
            </a:r>
          </a:p>
          <a:p>
            <a:r>
              <a:rPr lang="en" b="1" dirty="0"/>
              <a:t>Advanced Encryption Standard</a:t>
            </a:r>
            <a:r>
              <a:rPr lang="en" dirty="0"/>
              <a:t> (AES)</a:t>
            </a:r>
          </a:p>
          <a:p>
            <a:r>
              <a:rPr lang="en" dirty="0"/>
              <a:t>RC6 (</a:t>
            </a:r>
            <a:r>
              <a:rPr lang="en" b="1" dirty="0"/>
              <a:t>Rivest cipher 6</a:t>
            </a:r>
            <a:r>
              <a:rPr lang="en" dirty="0"/>
              <a:t>)</a:t>
            </a:r>
          </a:p>
          <a:p>
            <a:endParaRPr lang="en-US" altLang="en-US" b="1" dirty="0"/>
          </a:p>
        </p:txBody>
      </p:sp>
    </p:spTree>
    <p:extLst>
      <p:ext uri="{BB962C8B-B14F-4D97-AF65-F5344CB8AC3E}">
        <p14:creationId xmlns:p14="http://schemas.microsoft.com/office/powerpoint/2010/main" val="19930300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31</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 b="1" dirty="0"/>
              <a:t>Data Encryption Standard</a:t>
            </a:r>
            <a:r>
              <a:rPr lang="en" dirty="0"/>
              <a:t> (DES)</a:t>
            </a:r>
          </a:p>
          <a:p>
            <a:r>
              <a:rPr lang="en" b="1" dirty="0"/>
              <a:t>Advanced Encryption Standard</a:t>
            </a:r>
            <a:r>
              <a:rPr lang="en" dirty="0"/>
              <a:t> (AES)</a:t>
            </a:r>
          </a:p>
          <a:p>
            <a:r>
              <a:rPr lang="en" dirty="0"/>
              <a:t>RC6 (</a:t>
            </a:r>
            <a:r>
              <a:rPr lang="en" b="1" dirty="0"/>
              <a:t>Rivest cipher 6</a:t>
            </a:r>
            <a:r>
              <a:rPr lang="en" dirty="0"/>
              <a:t>)</a:t>
            </a:r>
          </a:p>
          <a:p>
            <a:endParaRPr lang="en-US" altLang="en-US" b="1" dirty="0"/>
          </a:p>
        </p:txBody>
      </p:sp>
    </p:spTree>
    <p:extLst>
      <p:ext uri="{BB962C8B-B14F-4D97-AF65-F5344CB8AC3E}">
        <p14:creationId xmlns:p14="http://schemas.microsoft.com/office/powerpoint/2010/main" val="6865859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32</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 b="1" dirty="0"/>
              <a:t>to break up and scatter or vanish</a:t>
            </a:r>
            <a:r>
              <a:rPr lang="en" dirty="0"/>
              <a:t>. The clouds dissipated and the sun came out.</a:t>
            </a:r>
            <a:endParaRPr lang="en-US" altLang="en-US" b="1" dirty="0"/>
          </a:p>
        </p:txBody>
      </p:sp>
    </p:spTree>
    <p:extLst>
      <p:ext uri="{BB962C8B-B14F-4D97-AF65-F5344CB8AC3E}">
        <p14:creationId xmlns:p14="http://schemas.microsoft.com/office/powerpoint/2010/main" val="28453825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33</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r>
              <a:rPr lang="en-GB"/>
              <a:t>Dissipate: disappear or cause to disappear.</a:t>
            </a:r>
            <a:endParaRPr lang="en" b="1"/>
          </a:p>
          <a:p>
            <a:r>
              <a:rPr lang="en" b="1" dirty="0"/>
              <a:t>to break up and scatter or vanish</a:t>
            </a:r>
            <a:r>
              <a:rPr lang="en" dirty="0"/>
              <a:t>. The clouds dissipated and the sun came out.</a:t>
            </a:r>
            <a:endParaRPr lang="en-US" altLang="en-US" b="1" dirty="0"/>
          </a:p>
        </p:txBody>
      </p:sp>
    </p:spTree>
    <p:extLst>
      <p:ext uri="{BB962C8B-B14F-4D97-AF65-F5344CB8AC3E}">
        <p14:creationId xmlns:p14="http://schemas.microsoft.com/office/powerpoint/2010/main" val="16584124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34</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1" dirty="0"/>
          </a:p>
        </p:txBody>
      </p:sp>
    </p:spTree>
    <p:extLst>
      <p:ext uri="{BB962C8B-B14F-4D97-AF65-F5344CB8AC3E}">
        <p14:creationId xmlns:p14="http://schemas.microsoft.com/office/powerpoint/2010/main" val="17053047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35</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1" dirty="0"/>
          </a:p>
        </p:txBody>
      </p:sp>
    </p:spTree>
    <p:extLst>
      <p:ext uri="{BB962C8B-B14F-4D97-AF65-F5344CB8AC3E}">
        <p14:creationId xmlns:p14="http://schemas.microsoft.com/office/powerpoint/2010/main" val="9553593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36</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1" dirty="0"/>
          </a:p>
        </p:txBody>
      </p:sp>
    </p:spTree>
    <p:extLst>
      <p:ext uri="{BB962C8B-B14F-4D97-AF65-F5344CB8AC3E}">
        <p14:creationId xmlns:p14="http://schemas.microsoft.com/office/powerpoint/2010/main" val="35768313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47590F6-7C47-4EA9-9993-99CA889037E7}" type="slidenum">
              <a:rPr lang="en-US" altLang="en-US"/>
              <a:pPr/>
              <a:t>37</a:t>
            </a:fld>
            <a:endParaRPr lang="en-US" altLang="en-US"/>
          </a:p>
        </p:txBody>
      </p:sp>
      <p:sp>
        <p:nvSpPr>
          <p:cNvPr id="1300482" name="Rectangle 2"/>
          <p:cNvSpPr>
            <a:spLocks noGrp="1" noRot="1" noChangeAspect="1" noChangeArrowheads="1" noTextEdit="1"/>
          </p:cNvSpPr>
          <p:nvPr>
            <p:ph type="sldImg"/>
          </p:nvPr>
        </p:nvSpPr>
        <p:spPr>
          <a:ln/>
        </p:spPr>
      </p:sp>
      <p:sp>
        <p:nvSpPr>
          <p:cNvPr id="1300483" name="Rectangle 3"/>
          <p:cNvSpPr>
            <a:spLocks noGrp="1" noChangeArrowheads="1"/>
          </p:cNvSpPr>
          <p:nvPr>
            <p:ph type="body" idx="1"/>
          </p:nvPr>
        </p:nvSpPr>
        <p:spPr/>
        <p:txBody>
          <a:bodyPr/>
          <a:lstStyle/>
          <a:p>
            <a:endParaRPr lang="en-US" altLang="en-US" b="1" dirty="0"/>
          </a:p>
        </p:txBody>
      </p:sp>
    </p:spTree>
    <p:extLst>
      <p:ext uri="{BB962C8B-B14F-4D97-AF65-F5344CB8AC3E}">
        <p14:creationId xmlns:p14="http://schemas.microsoft.com/office/powerpoint/2010/main" val="16299621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D0F583AF-6195-4863-BE56-E1B919599FCA}" type="datetime1">
              <a:rPr lang="en-US"/>
              <a:pPr>
                <a:defRPr/>
              </a:pPr>
              <a:t>1/16/2024</a:t>
            </a:fld>
            <a:endParaRPr lang="en-US"/>
          </a:p>
        </p:txBody>
      </p:sp>
      <p:sp>
        <p:nvSpPr>
          <p:cNvPr id="5" name="Rectangle 7"/>
          <p:cNvSpPr>
            <a:spLocks noGrp="1" noChangeArrowheads="1"/>
          </p:cNvSpPr>
          <p:nvPr>
            <p:ph type="ftr" sz="quarter" idx="11"/>
          </p:nvPr>
        </p:nvSpPr>
        <p:spPr>
          <a:ln/>
        </p:spPr>
        <p:txBody>
          <a:bodyPr/>
          <a:lstStyle>
            <a:lvl1pPr>
              <a:defRPr/>
            </a:lvl1pPr>
          </a:lstStyle>
          <a:p>
            <a:pPr>
              <a:defRPr/>
            </a:pPr>
            <a:r>
              <a:rPr lang="en-US"/>
              <a:t>Application Layer</a:t>
            </a:r>
          </a:p>
        </p:txBody>
      </p:sp>
      <p:sp>
        <p:nvSpPr>
          <p:cNvPr id="6" name="Rectangle 8"/>
          <p:cNvSpPr>
            <a:spLocks noGrp="1" noChangeArrowheads="1"/>
          </p:cNvSpPr>
          <p:nvPr>
            <p:ph type="sldNum" sz="quarter" idx="12"/>
          </p:nvPr>
        </p:nvSpPr>
        <p:spPr>
          <a:ln/>
        </p:spPr>
        <p:txBody>
          <a:bodyPr/>
          <a:lstStyle>
            <a:lvl1pPr>
              <a:defRPr/>
            </a:lvl1pPr>
          </a:lstStyle>
          <a:p>
            <a:r>
              <a:rPr lang="en-US" altLang="en-US"/>
              <a:t>2-</a:t>
            </a:r>
            <a:fld id="{135A2063-7C43-4104-9468-5E4BEC47E125}" type="slidenum">
              <a:rPr lang="en-US" altLang="en-US"/>
              <a:pPr/>
              <a:t>‹#›</a:t>
            </a:fld>
            <a:endParaRPr lang="en-US" altLang="en-US"/>
          </a:p>
        </p:txBody>
      </p:sp>
    </p:spTree>
    <p:extLst>
      <p:ext uri="{BB962C8B-B14F-4D97-AF65-F5344CB8AC3E}">
        <p14:creationId xmlns:p14="http://schemas.microsoft.com/office/powerpoint/2010/main" val="3145625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ft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4.jpeg"/><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6.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7.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11.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emf"/><Relationship Id="rId5" Type="http://schemas.openxmlformats.org/officeDocument/2006/relationships/oleObject" Target="../embeddings/oleObject10.bin"/><Relationship Id="rId4" Type="http://schemas.openxmlformats.org/officeDocument/2006/relationships/image" Target="../media/image12.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a:t>Cryptography</a:t>
            </a:r>
          </a:p>
        </p:txBody>
      </p:sp>
      <p:sp>
        <p:nvSpPr>
          <p:cNvPr id="3" name="Content Placeholder 2"/>
          <p:cNvSpPr>
            <a:spLocks noGrp="1"/>
          </p:cNvSpPr>
          <p:nvPr>
            <p:ph idx="1"/>
          </p:nvPr>
        </p:nvSpPr>
        <p:spPr>
          <a:xfrm>
            <a:off x="152400" y="1524000"/>
            <a:ext cx="8839200" cy="3733800"/>
          </a:xfrm>
        </p:spPr>
        <p:txBody>
          <a:bodyPr>
            <a:normAutofit/>
          </a:bodyPr>
          <a:lstStyle/>
          <a:p>
            <a:pPr marL="0" indent="0" algn="ctr">
              <a:buNone/>
            </a:pPr>
            <a:endParaRPr lang="en-US" dirty="0"/>
          </a:p>
          <a:p>
            <a:pPr marL="0" indent="0" algn="ctr">
              <a:buNone/>
            </a:pPr>
            <a:endParaRPr lang="en-US" sz="4000" b="1" dirty="0">
              <a:solidFill>
                <a:schemeClr val="accent4">
                  <a:lumMod val="75000"/>
                </a:schemeClr>
              </a:solidFill>
              <a:latin typeface="+mj-lt"/>
              <a:ea typeface="+mj-ea"/>
              <a:cs typeface="Arial" pitchFamily="34" charset="0"/>
            </a:endParaRPr>
          </a:p>
          <a:p>
            <a:pPr marL="0" indent="0" algn="ctr">
              <a:buNone/>
            </a:pPr>
            <a:r>
              <a:rPr lang="en-US" sz="4400" b="1" dirty="0">
                <a:solidFill>
                  <a:schemeClr val="accent4">
                    <a:lumMod val="75000"/>
                  </a:schemeClr>
                </a:solidFill>
                <a:latin typeface="+mj-lt"/>
                <a:ea typeface="+mj-ea"/>
                <a:cs typeface="Arial" pitchFamily="34" charset="0"/>
              </a:rPr>
              <a:t>Information Security</a:t>
            </a:r>
            <a:endParaRPr lang="en-US" sz="2000" b="1" dirty="0">
              <a:solidFill>
                <a:schemeClr val="accent4">
                  <a:lumMod val="75000"/>
                </a:schemeClr>
              </a:solidFill>
              <a:latin typeface="+mj-lt"/>
              <a:ea typeface="+mj-ea"/>
              <a:cs typeface="Arial" pitchFamily="34" charset="0"/>
            </a:endParaRPr>
          </a:p>
        </p:txBody>
      </p:sp>
      <p:sp>
        <p:nvSpPr>
          <p:cNvPr id="4" name="Slide Number Placeholder 3"/>
          <p:cNvSpPr>
            <a:spLocks noGrp="1"/>
          </p:cNvSpPr>
          <p:nvPr>
            <p:ph type="sldNum" sz="quarter" idx="12"/>
          </p:nvPr>
        </p:nvSpPr>
        <p:spPr/>
        <p:txBody>
          <a:bodyPr/>
          <a:lstStyle/>
          <a:p>
            <a:fld id="{E1920792-1FFE-4123-96E7-9B6DC9FF0B06}" type="slidenum">
              <a:rPr lang="en-US" smtClean="0"/>
              <a:pPr/>
              <a:t>1</a:t>
            </a:fld>
            <a:endParaRPr lang="en-US"/>
          </a:p>
        </p:txBody>
      </p:sp>
    </p:spTree>
    <p:extLst>
      <p:ext uri="{BB962C8B-B14F-4D97-AF65-F5344CB8AC3E}">
        <p14:creationId xmlns:p14="http://schemas.microsoft.com/office/powerpoint/2010/main" val="243685922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381000"/>
            <a:ext cx="8145462" cy="838200"/>
          </a:xfrm>
        </p:spPr>
        <p:txBody>
          <a:bodyPr>
            <a:noAutofit/>
          </a:bodyPr>
          <a:lstStyle/>
          <a:p>
            <a:r>
              <a:rPr lang="en-US" sz="3600" dirty="0"/>
              <a:t>Cryptography</a:t>
            </a:r>
            <a:endParaRPr lang="en-US" altLang="en-US" sz="3600" dirty="0"/>
          </a:p>
        </p:txBody>
      </p:sp>
      <p:sp>
        <p:nvSpPr>
          <p:cNvPr id="4" name="Content Placeholder 3"/>
          <p:cNvSpPr>
            <a:spLocks noGrp="1"/>
          </p:cNvSpPr>
          <p:nvPr>
            <p:ph idx="1"/>
          </p:nvPr>
        </p:nvSpPr>
        <p:spPr>
          <a:xfrm>
            <a:off x="152400" y="1600200"/>
            <a:ext cx="8839200" cy="5257800"/>
          </a:xfrm>
        </p:spPr>
        <p:txBody>
          <a:bodyPr>
            <a:normAutofit/>
          </a:bodyPr>
          <a:lstStyle/>
          <a:p>
            <a:r>
              <a:rPr lang="en-US" sz="2800" dirty="0">
                <a:ea typeface="ＭＳ Ｐゴシック" panose="020B0600070205080204" pitchFamily="34" charset="-128"/>
              </a:rPr>
              <a:t>Terms, Definition, Concept &amp; History</a:t>
            </a:r>
          </a:p>
          <a:p>
            <a:r>
              <a:rPr lang="en-US" sz="2800" dirty="0">
                <a:ea typeface="ＭＳ Ｐゴシック" panose="020B0600070205080204" pitchFamily="34" charset="-128"/>
              </a:rPr>
              <a:t>Cipher Types</a:t>
            </a:r>
          </a:p>
          <a:p>
            <a:pPr lvl="1"/>
            <a:r>
              <a:rPr lang="en-US" sz="2400" dirty="0">
                <a:ea typeface="ＭＳ Ｐゴシック" panose="020B0600070205080204" pitchFamily="34" charset="-128"/>
              </a:rPr>
              <a:t>Classic Ciphers</a:t>
            </a:r>
          </a:p>
          <a:p>
            <a:pPr lvl="1"/>
            <a:r>
              <a:rPr lang="en-US" sz="2400" dirty="0">
                <a:ea typeface="ＭＳ Ｐゴシック" panose="020B0600070205080204" pitchFamily="34" charset="-128"/>
              </a:rPr>
              <a:t>Modern Ciphers</a:t>
            </a:r>
          </a:p>
          <a:p>
            <a:r>
              <a:rPr lang="en-US" sz="2800" dirty="0">
                <a:ea typeface="ＭＳ Ｐゴシック" panose="020B0600070205080204" pitchFamily="34" charset="-128"/>
              </a:rPr>
              <a:t>Cryptographic Algorithms</a:t>
            </a:r>
          </a:p>
          <a:p>
            <a:pPr lvl="1"/>
            <a:r>
              <a:rPr lang="en-US" sz="2400" dirty="0">
                <a:ea typeface="ＭＳ Ｐゴシック" panose="020B0600070205080204" pitchFamily="34" charset="-128"/>
              </a:rPr>
              <a:t>Hash Function Cryptography</a:t>
            </a:r>
          </a:p>
          <a:p>
            <a:pPr lvl="1"/>
            <a:r>
              <a:rPr lang="en-US" sz="2400" dirty="0">
                <a:ea typeface="ＭＳ Ｐゴシック" panose="020B0600070205080204" pitchFamily="34" charset="-128"/>
              </a:rPr>
              <a:t>Symmetric Key Cryptography</a:t>
            </a:r>
          </a:p>
          <a:p>
            <a:pPr lvl="1"/>
            <a:r>
              <a:rPr lang="en-US" sz="2400" dirty="0">
                <a:ea typeface="ＭＳ Ｐゴシック" panose="020B0600070205080204" pitchFamily="34" charset="-128"/>
              </a:rPr>
              <a:t>Asymmetric Key Cryptography</a:t>
            </a:r>
          </a:p>
          <a:p>
            <a:pPr lvl="1"/>
            <a:r>
              <a:rPr lang="en-US" sz="2400" dirty="0">
                <a:ea typeface="ＭＳ Ｐゴシック" panose="020B0600070205080204" pitchFamily="34" charset="-128"/>
              </a:rPr>
              <a:t>Hybrid Cryptography</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2561499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Concept:</a:t>
            </a:r>
            <a:br>
              <a:rPr lang="en-GB" altLang="en-US" sz="3600" dirty="0"/>
            </a:br>
            <a:r>
              <a:rPr lang="en-GB" altLang="en-US" sz="3600" dirty="0"/>
              <a:t>Security Principles and Cryptography</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sz="2800" b="1" dirty="0"/>
              <a:t>Objectives of Cryptography:  </a:t>
            </a:r>
          </a:p>
          <a:p>
            <a:pPr>
              <a:defRPr/>
            </a:pPr>
            <a:r>
              <a:rPr lang="en-GB" altLang="en-US" sz="2800" dirty="0"/>
              <a:t>Confidentiality – unauthorized persons cannot access information.</a:t>
            </a:r>
          </a:p>
          <a:p>
            <a:pPr>
              <a:defRPr/>
            </a:pPr>
            <a:r>
              <a:rPr lang="en-GB" altLang="en-US" sz="2800" dirty="0"/>
              <a:t>Integrity – ensures the message remains unmodified.</a:t>
            </a:r>
          </a:p>
          <a:p>
            <a:pPr marL="0" indent="0">
              <a:buNone/>
              <a:defRPr/>
            </a:pPr>
            <a:r>
              <a:rPr lang="en-GB" altLang="en-US" sz="2800" b="1" dirty="0"/>
              <a:t>Cryptography provides:</a:t>
            </a:r>
          </a:p>
          <a:p>
            <a:pPr>
              <a:defRPr/>
            </a:pPr>
            <a:r>
              <a:rPr lang="en-GB" altLang="en-US" sz="2800" dirty="0"/>
              <a:t>Confidentiality – Encryption.</a:t>
            </a:r>
          </a:p>
          <a:p>
            <a:pPr>
              <a:defRPr/>
            </a:pPr>
            <a:r>
              <a:rPr lang="en-GB" altLang="en-US" sz="2800" dirty="0"/>
              <a:t>Integrity – Hash/Message Digest.</a:t>
            </a:r>
          </a:p>
          <a:p>
            <a:pPr lvl="1">
              <a:defRPr/>
            </a:pPr>
            <a:r>
              <a:rPr lang="en-GB" altLang="en-US" sz="2400" dirty="0"/>
              <a:t>Authentication – to verify the identity of a subject.</a:t>
            </a:r>
          </a:p>
          <a:p>
            <a:pPr lvl="1">
              <a:defRPr/>
            </a:pPr>
            <a:r>
              <a:rPr lang="en-GB" altLang="en-US" sz="2400" dirty="0"/>
              <a:t>Non-repudiation – sender can’t deny sending.</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409764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Terms &amp; Definition: Cryptograph </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a:defRPr/>
            </a:pPr>
            <a:r>
              <a:rPr lang="en-GB" altLang="en-US" sz="2800" dirty="0"/>
              <a:t>Cryptography – the science of secret writing.</a:t>
            </a:r>
          </a:p>
          <a:p>
            <a:pPr>
              <a:defRPr/>
            </a:pPr>
            <a:r>
              <a:rPr lang="en-GB" altLang="en-US" sz="2800" dirty="0"/>
              <a:t>Cryptology – the study of cryptography and cryptanalysis.</a:t>
            </a:r>
          </a:p>
          <a:p>
            <a:pPr>
              <a:defRPr/>
            </a:pPr>
            <a:r>
              <a:rPr lang="en-GB" altLang="en-US" sz="2800" dirty="0"/>
              <a:t>Cryptosystem – hardware and/or software implementation of cryptography.</a:t>
            </a:r>
          </a:p>
          <a:p>
            <a:pPr>
              <a:defRPr/>
            </a:pPr>
            <a:r>
              <a:rPr lang="en-GB" altLang="en-US" sz="2800" dirty="0"/>
              <a:t>Algorithm – a precise rule (or set of rules) specifying how to solve some problem or accomplish a specific task.</a:t>
            </a:r>
          </a:p>
          <a:p>
            <a:pPr>
              <a:defRPr/>
            </a:pPr>
            <a:r>
              <a:rPr lang="en-GB" altLang="en-US" sz="2800" dirty="0"/>
              <a:t>Cipher – cryptographic transformation operating with bits or characters.</a:t>
            </a:r>
          </a:p>
          <a:p>
            <a:pPr marL="0" indent="0">
              <a:buNone/>
              <a:defRPr/>
            </a:pPr>
            <a:endParaRPr lang="en-GB" altLang="en-US" sz="2800" dirty="0"/>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110280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Terms &amp; Definition: Cryptograph </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a:defRPr/>
            </a:pPr>
            <a:r>
              <a:rPr lang="en-GB" altLang="en-US" sz="2800" dirty="0"/>
              <a:t>Key – For crypto, a secret value in the form of a sequence of characters used to encrypt and decrypt.</a:t>
            </a:r>
          </a:p>
          <a:p>
            <a:pPr>
              <a:defRPr/>
            </a:pPr>
            <a:r>
              <a:rPr lang="en-GB" altLang="en-US" sz="2800" dirty="0"/>
              <a:t>Key Space – All possible values used to construct keys.  The larger key space the better.</a:t>
            </a:r>
          </a:p>
          <a:p>
            <a:pPr>
              <a:defRPr/>
            </a:pPr>
            <a:r>
              <a:rPr lang="en-GB" altLang="en-US" sz="2800" dirty="0"/>
              <a:t>Initialization Vector (IV) – In crypto, IV is a block of bits used as the initializing input algorithm for the encryption of a plaintext block sequence.</a:t>
            </a:r>
          </a:p>
          <a:p>
            <a:pPr lvl="1">
              <a:defRPr/>
            </a:pPr>
            <a:r>
              <a:rPr lang="en-GB" altLang="en-US" sz="2400" dirty="0"/>
              <a:t>IV increases security by introducing additional cryptographic variance and to synchronize cryptographic equipment</a:t>
            </a:r>
          </a:p>
          <a:p>
            <a:pPr>
              <a:defRPr/>
            </a:pPr>
            <a:endParaRPr lang="en-GB" altLang="en-US" sz="2800" dirty="0"/>
          </a:p>
          <a:p>
            <a:pPr>
              <a:defRPr/>
            </a:pPr>
            <a:endParaRPr lang="en-GB" altLang="en-US" sz="2800" dirty="0"/>
          </a:p>
          <a:p>
            <a:pPr>
              <a:defRPr/>
            </a:pPr>
            <a:endParaRPr lang="en-GB" altLang="en-US" sz="2800" dirty="0"/>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140316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History of Cryptograph </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a:defRPr/>
            </a:pPr>
            <a:r>
              <a:rPr lang="en-GB" altLang="en-US" sz="2800" dirty="0"/>
              <a:t>1933-1945: German military field units used </a:t>
            </a:r>
            <a:br>
              <a:rPr lang="en-GB" altLang="en-US" sz="2800" dirty="0"/>
            </a:br>
            <a:r>
              <a:rPr lang="en-GB" altLang="en-US" sz="2800" dirty="0"/>
              <a:t>Enigma cipher machine to encrypt </a:t>
            </a:r>
            <a:br>
              <a:rPr lang="en-GB" altLang="en-US" sz="2800" dirty="0"/>
            </a:br>
            <a:r>
              <a:rPr lang="en-GB" altLang="en-US" sz="2800" dirty="0"/>
              <a:t>messages.</a:t>
            </a:r>
          </a:p>
          <a:p>
            <a:pPr lvl="1">
              <a:defRPr/>
            </a:pPr>
            <a:r>
              <a:rPr lang="en-GB" altLang="en-US" sz="2400" dirty="0"/>
              <a:t>Electro-mechanical rotor cipher machine uses </a:t>
            </a:r>
            <a:br>
              <a:rPr lang="en-GB" altLang="en-US" sz="2400" dirty="0"/>
            </a:br>
            <a:r>
              <a:rPr lang="en-GB" altLang="en-US" sz="2400" dirty="0"/>
              <a:t>polyalphabetic substitution</a:t>
            </a:r>
          </a:p>
          <a:p>
            <a:pPr>
              <a:defRPr/>
            </a:pPr>
            <a:r>
              <a:rPr lang="en-GB" altLang="en-US" sz="2800" dirty="0"/>
              <a:t>1938-1944: British code breakers designed Bombe to decrypt Enigma cipher machine.</a:t>
            </a:r>
          </a:p>
          <a:p>
            <a:pPr lvl="1">
              <a:defRPr/>
            </a:pPr>
            <a:r>
              <a:rPr lang="en-GB" altLang="en-US" sz="2400" dirty="0"/>
              <a:t>Designed by Alan Turing</a:t>
            </a:r>
          </a:p>
          <a:p>
            <a:pPr lvl="1">
              <a:defRPr/>
            </a:pPr>
            <a:r>
              <a:rPr lang="en-GB" altLang="en-US" sz="2400" dirty="0"/>
              <a:t>Using frequency analysis</a:t>
            </a:r>
          </a:p>
          <a:p>
            <a:pPr marL="0" lvl="1" indent="0">
              <a:buFont typeface="Arial" pitchFamily="34" charset="0"/>
              <a:buNone/>
            </a:pPr>
            <a:endParaRPr lang="pt-BR" sz="2400" dirty="0">
              <a:ea typeface="ＭＳ Ｐゴシック" panose="020B0600070205080204" pitchFamily="34" charset="-128"/>
            </a:endParaRPr>
          </a:p>
        </p:txBody>
      </p:sp>
      <p:graphicFrame>
        <p:nvGraphicFramePr>
          <p:cNvPr id="5" name="Object 1">
            <a:extLst>
              <a:ext uri="{FF2B5EF4-FFF2-40B4-BE49-F238E27FC236}">
                <a16:creationId xmlns:a16="http://schemas.microsoft.com/office/drawing/2014/main" id="{396BADDF-D0C9-4509-B6E2-9967EF471015}"/>
              </a:ext>
            </a:extLst>
          </p:cNvPr>
          <p:cNvGraphicFramePr>
            <a:graphicFrameLocks noChangeAspect="1"/>
          </p:cNvGraphicFramePr>
          <p:nvPr>
            <p:extLst>
              <p:ext uri="{D42A27DB-BD31-4B8C-83A1-F6EECF244321}">
                <p14:modId xmlns:p14="http://schemas.microsoft.com/office/powerpoint/2010/main" val="2948935594"/>
              </p:ext>
            </p:extLst>
          </p:nvPr>
        </p:nvGraphicFramePr>
        <p:xfrm>
          <a:off x="7467600" y="1889760"/>
          <a:ext cx="971550" cy="1524000"/>
        </p:xfrm>
        <a:graphic>
          <a:graphicData uri="http://schemas.openxmlformats.org/presentationml/2006/ole">
            <mc:AlternateContent xmlns:mc="http://schemas.openxmlformats.org/markup-compatibility/2006">
              <mc:Choice xmlns:v="urn:schemas-microsoft-com:vml" Requires="v">
                <p:oleObj name="Visio" r:id="rId3" imgW="1732927" imgH="2702141" progId="Visio.Drawing.11">
                  <p:embed/>
                </p:oleObj>
              </mc:Choice>
              <mc:Fallback>
                <p:oleObj name="Visio" r:id="rId3" imgW="1732927" imgH="2702141" progId="Visio.Drawing.11">
                  <p:embed/>
                  <p:pic>
                    <p:nvPicPr>
                      <p:cNvPr id="79564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1889760"/>
                        <a:ext cx="97155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 name="Picture 4" descr="http://upload.wikimedia.org/wikipedia/commons/2/23/TuringBombeBletchleyPark.jpg">
            <a:extLst>
              <a:ext uri="{FF2B5EF4-FFF2-40B4-BE49-F238E27FC236}">
                <a16:creationId xmlns:a16="http://schemas.microsoft.com/office/drawing/2014/main" id="{CEE85FEB-D23A-4FA5-99DF-1019B770D88F}"/>
              </a:ext>
            </a:extLst>
          </p:cNvPr>
          <p:cNvPicPr>
            <a:picLocks noChangeAspect="1" noChangeArrowheads="1"/>
          </p:cNvPicPr>
          <p:nvPr/>
        </p:nvPicPr>
        <p:blipFill>
          <a:blip r:embed="rId5" cstate="print"/>
          <a:srcRect/>
          <a:stretch>
            <a:fillRect/>
          </a:stretch>
        </p:blipFill>
        <p:spPr bwMode="auto">
          <a:xfrm>
            <a:off x="5467350" y="4495800"/>
            <a:ext cx="2971800" cy="2065149"/>
          </a:xfrm>
          <a:prstGeom prst="rect">
            <a:avLst/>
          </a:prstGeom>
          <a:noFill/>
        </p:spPr>
      </p:pic>
    </p:spTree>
    <p:extLst>
      <p:ext uri="{BB962C8B-B14F-4D97-AF65-F5344CB8AC3E}">
        <p14:creationId xmlns:p14="http://schemas.microsoft.com/office/powerpoint/2010/main" val="332046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History of Cryptograph </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a:defRPr/>
            </a:pPr>
            <a:r>
              <a:rPr lang="en-GB" altLang="en-US" sz="2800" dirty="0"/>
              <a:t>1976: NSA chosen IBM’s modified Lucifer cipher to be </a:t>
            </a:r>
            <a:br>
              <a:rPr lang="en-GB" altLang="en-US" sz="2800" dirty="0"/>
            </a:br>
            <a:r>
              <a:rPr lang="en-GB" altLang="en-US" sz="2800" dirty="0"/>
              <a:t>the Data Encryption Standard (DES).</a:t>
            </a:r>
          </a:p>
          <a:p>
            <a:pPr>
              <a:defRPr/>
            </a:pPr>
            <a:r>
              <a:rPr lang="en-GB" altLang="en-US" sz="2800" dirty="0"/>
              <a:t>1978: Ronald L. Rivest, Adi Shamir &amp; Leonard M. </a:t>
            </a:r>
            <a:br>
              <a:rPr lang="en-GB" altLang="en-US" sz="2800" dirty="0"/>
            </a:br>
            <a:r>
              <a:rPr lang="en-GB" altLang="en-US" sz="2800" dirty="0"/>
              <a:t>Adleman (RSA) published RSA Algorithm for Public </a:t>
            </a:r>
            <a:br>
              <a:rPr lang="en-GB" altLang="en-US" sz="2800" dirty="0"/>
            </a:br>
            <a:r>
              <a:rPr lang="en-GB" altLang="en-US" sz="2800" dirty="0"/>
              <a:t>Key System.</a:t>
            </a:r>
          </a:p>
          <a:p>
            <a:pPr>
              <a:defRPr/>
            </a:pPr>
            <a:r>
              <a:rPr lang="en-GB" altLang="en-US" sz="2800" dirty="0"/>
              <a:t>2000: Joan </a:t>
            </a:r>
            <a:r>
              <a:rPr lang="en-GB" altLang="en-US" sz="2800" dirty="0" err="1"/>
              <a:t>Daeman</a:t>
            </a:r>
            <a:r>
              <a:rPr lang="en-GB" altLang="en-US" sz="2800" dirty="0"/>
              <a:t> and Vincent </a:t>
            </a:r>
            <a:r>
              <a:rPr lang="en-GB" altLang="en-US" sz="2800" dirty="0" err="1"/>
              <a:t>Rijman’s</a:t>
            </a:r>
            <a:r>
              <a:rPr lang="en-GB" altLang="en-US" sz="2800" dirty="0"/>
              <a:t> Rijndael </a:t>
            </a:r>
            <a:br>
              <a:rPr lang="en-GB" altLang="en-US" sz="2800" dirty="0"/>
            </a:br>
            <a:r>
              <a:rPr lang="en-GB" altLang="en-US" sz="2800" dirty="0"/>
              <a:t>algorithm was selected by NIST as the Advanced </a:t>
            </a:r>
            <a:br>
              <a:rPr lang="en-GB" altLang="en-US" sz="2800" dirty="0"/>
            </a:br>
            <a:r>
              <a:rPr lang="en-GB" altLang="en-US" sz="2800" dirty="0"/>
              <a:t>Encryption Standard (AES). </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2982562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 &amp; Operation</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a:defRPr/>
            </a:pPr>
            <a:r>
              <a:rPr lang="en-GB" altLang="en-US" sz="2800" dirty="0"/>
              <a:t>Cryptographic algorithm – A set of mathematical function and rules that takes plaintext and a key as input, and product ciphertext as output.</a:t>
            </a:r>
          </a:p>
          <a:p>
            <a:pPr>
              <a:defRPr/>
            </a:pPr>
            <a:r>
              <a:rPr lang="en-GB" altLang="en-US" sz="2800" dirty="0"/>
              <a:t>Cryptographic operation – Encryption/Decryption</a:t>
            </a:r>
          </a:p>
          <a:p>
            <a:pPr>
              <a:defRPr/>
            </a:pPr>
            <a:r>
              <a:rPr lang="en-GB" altLang="en-US" sz="2800" dirty="0"/>
              <a:t>Encryption – An act to convert plaintext into ciphertext in order to preserve confidentiality of data.</a:t>
            </a:r>
          </a:p>
          <a:p>
            <a:pPr>
              <a:defRPr/>
            </a:pPr>
            <a:r>
              <a:rPr lang="en-GB" altLang="en-US" sz="2800" dirty="0"/>
              <a:t>Decryption – An act to convert ciphertext back to plaintext.</a:t>
            </a:r>
          </a:p>
          <a:p>
            <a:pPr marL="0" lvl="1" indent="0">
              <a:buFont typeface="Arial" pitchFamily="34" charset="0"/>
              <a:buNone/>
            </a:pPr>
            <a:endParaRPr lang="pt-BR" sz="2400" dirty="0">
              <a:ea typeface="ＭＳ Ｐゴシック" panose="020B0600070205080204" pitchFamily="34" charset="-128"/>
            </a:endParaRPr>
          </a:p>
        </p:txBody>
      </p:sp>
      <p:graphicFrame>
        <p:nvGraphicFramePr>
          <p:cNvPr id="5" name="Object 4">
            <a:extLst>
              <a:ext uri="{FF2B5EF4-FFF2-40B4-BE49-F238E27FC236}">
                <a16:creationId xmlns:a16="http://schemas.microsoft.com/office/drawing/2014/main" id="{C975F2B6-4D7E-4499-934D-5E074C61FD10}"/>
              </a:ext>
            </a:extLst>
          </p:cNvPr>
          <p:cNvGraphicFramePr>
            <a:graphicFrameLocks noChangeAspect="1"/>
          </p:cNvGraphicFramePr>
          <p:nvPr>
            <p:extLst>
              <p:ext uri="{D42A27DB-BD31-4B8C-83A1-F6EECF244321}">
                <p14:modId xmlns:p14="http://schemas.microsoft.com/office/powerpoint/2010/main" val="2333818721"/>
              </p:ext>
            </p:extLst>
          </p:nvPr>
        </p:nvGraphicFramePr>
        <p:xfrm>
          <a:off x="2286000" y="5069326"/>
          <a:ext cx="4276725" cy="1636274"/>
        </p:xfrm>
        <a:graphic>
          <a:graphicData uri="http://schemas.openxmlformats.org/presentationml/2006/ole">
            <mc:AlternateContent xmlns:mc="http://schemas.openxmlformats.org/markup-compatibility/2006">
              <mc:Choice xmlns:v="urn:schemas-microsoft-com:vml" Requires="v">
                <p:oleObj name="Visio" r:id="rId3" imgW="8463975" imgH="3239155" progId="Visio.Drawing.11">
                  <p:embed/>
                </p:oleObj>
              </mc:Choice>
              <mc:Fallback>
                <p:oleObj name="Visio" r:id="rId3" imgW="8463975" imgH="3239155" progId="Visio.Drawing.11">
                  <p:embed/>
                  <p:pic>
                    <p:nvPicPr>
                      <p:cNvPr id="71578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5069326"/>
                        <a:ext cx="4276725" cy="163627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2283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Strength of Encryption</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a:defRPr/>
            </a:pPr>
            <a:r>
              <a:rPr lang="en-GB" altLang="en-US" sz="2800" dirty="0"/>
              <a:t>The goal of the cryptosystem is to make compromising it too expensive or time consuming to justify the effort.</a:t>
            </a:r>
          </a:p>
          <a:p>
            <a:pPr>
              <a:defRPr/>
            </a:pPr>
            <a:r>
              <a:rPr lang="en-GB" altLang="en-US" sz="2800" dirty="0"/>
              <a:t>The strength of the encryption method comes from:</a:t>
            </a:r>
          </a:p>
          <a:p>
            <a:pPr lvl="1">
              <a:defRPr/>
            </a:pPr>
            <a:r>
              <a:rPr lang="en-GB" altLang="en-US" sz="2400" dirty="0"/>
              <a:t>The algorithm</a:t>
            </a:r>
          </a:p>
          <a:p>
            <a:pPr lvl="1">
              <a:defRPr/>
            </a:pPr>
            <a:r>
              <a:rPr lang="en-GB" altLang="en-US" sz="2400" dirty="0"/>
              <a:t>Secrecy of the key</a:t>
            </a:r>
          </a:p>
          <a:p>
            <a:pPr lvl="1">
              <a:defRPr/>
            </a:pPr>
            <a:r>
              <a:rPr lang="en-GB" altLang="en-US" sz="2400" dirty="0"/>
              <a:t>Length of the key</a:t>
            </a:r>
          </a:p>
          <a:p>
            <a:pPr lvl="1">
              <a:defRPr/>
            </a:pPr>
            <a:r>
              <a:rPr lang="en-GB" altLang="en-US" sz="2400" dirty="0"/>
              <a:t>Initialization vectors (IV)</a:t>
            </a:r>
          </a:p>
          <a:p>
            <a:pPr lvl="1">
              <a:defRPr/>
            </a:pPr>
            <a:r>
              <a:rPr lang="en-GB" altLang="en-US" sz="2400" dirty="0"/>
              <a:t>And how they all work together (encryption method)</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540734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Strength of Encryption</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a:defRPr/>
            </a:pPr>
            <a:r>
              <a:rPr lang="en-GB" altLang="en-US" sz="2800" dirty="0"/>
              <a:t>Strength (a.k.a. work factor) refers to how hard it is to figure out the algorithm or a key (whichever is not made public) used in the cryptosystem.</a:t>
            </a:r>
          </a:p>
          <a:p>
            <a:pPr lvl="1">
              <a:defRPr/>
            </a:pPr>
            <a:r>
              <a:rPr lang="en-GB" altLang="en-US" sz="2400" dirty="0"/>
              <a:t>“Work Factor” is an estimate of the effort it would take an attacker to compromise the encryption method.</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1150324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Cipher Types</a:t>
            </a:r>
            <a:endParaRPr lang="en-US" sz="3600" dirty="0"/>
          </a:p>
        </p:txBody>
      </p:sp>
      <p:sp>
        <p:nvSpPr>
          <p:cNvPr id="4" name="Content Placeholder 3"/>
          <p:cNvSpPr>
            <a:spLocks noGrp="1"/>
          </p:cNvSpPr>
          <p:nvPr>
            <p:ph idx="1"/>
          </p:nvPr>
        </p:nvSpPr>
        <p:spPr>
          <a:xfrm>
            <a:off x="152400" y="1600200"/>
            <a:ext cx="8839200" cy="5257800"/>
          </a:xfrm>
        </p:spPr>
        <p:txBody>
          <a:bodyPr>
            <a:normAutofit fontScale="92500" lnSpcReduction="10000"/>
          </a:bodyPr>
          <a:lstStyle/>
          <a:p>
            <a:pPr marL="0" indent="0">
              <a:buNone/>
              <a:defRPr/>
            </a:pPr>
            <a:r>
              <a:rPr lang="en-GB" altLang="en-US" b="1" dirty="0"/>
              <a:t>Classic Ciphers:</a:t>
            </a:r>
          </a:p>
          <a:p>
            <a:pPr>
              <a:defRPr/>
            </a:pPr>
            <a:r>
              <a:rPr lang="en-GB" altLang="en-US" dirty="0"/>
              <a:t>Substitution cipher</a:t>
            </a:r>
          </a:p>
          <a:p>
            <a:pPr>
              <a:defRPr/>
            </a:pPr>
            <a:r>
              <a:rPr lang="en-GB" altLang="en-US" dirty="0"/>
              <a:t>Transposition cipher</a:t>
            </a:r>
          </a:p>
          <a:p>
            <a:pPr>
              <a:defRPr/>
            </a:pPr>
            <a:r>
              <a:rPr lang="en-GB" altLang="en-US" dirty="0"/>
              <a:t>Polyalphabetic (or running key) cipher</a:t>
            </a:r>
          </a:p>
          <a:p>
            <a:pPr>
              <a:defRPr/>
            </a:pPr>
            <a:r>
              <a:rPr lang="en-GB" altLang="en-US" dirty="0"/>
              <a:t>Concealment</a:t>
            </a:r>
          </a:p>
          <a:p>
            <a:pPr marL="0" indent="0">
              <a:buNone/>
              <a:defRPr/>
            </a:pPr>
            <a:r>
              <a:rPr lang="en-GB" altLang="en-US" b="1" dirty="0"/>
              <a:t>Modern Ciphers: </a:t>
            </a:r>
          </a:p>
          <a:p>
            <a:pPr>
              <a:defRPr/>
            </a:pPr>
            <a:r>
              <a:rPr lang="en-GB" altLang="en-US" sz="2800" dirty="0"/>
              <a:t>Block cipher</a:t>
            </a:r>
          </a:p>
          <a:p>
            <a:pPr>
              <a:defRPr/>
            </a:pPr>
            <a:r>
              <a:rPr lang="en-GB" altLang="en-US" sz="2800" dirty="0"/>
              <a:t>Stream cipher</a:t>
            </a:r>
          </a:p>
          <a:p>
            <a:pPr>
              <a:defRPr/>
            </a:pPr>
            <a:r>
              <a:rPr lang="en-GB" altLang="en-US" sz="2800" dirty="0"/>
              <a:t>Steganography</a:t>
            </a:r>
          </a:p>
          <a:p>
            <a:pPr>
              <a:defRPr/>
            </a:pPr>
            <a:r>
              <a:rPr lang="en-GB" altLang="en-US" sz="2800" dirty="0"/>
              <a:t>Combination: Complexity can be created by use combination above.</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207296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Cipher Types: Classic Ciphers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Substitution Cipher</a:t>
            </a:r>
          </a:p>
          <a:p>
            <a:pPr>
              <a:defRPr/>
            </a:pPr>
            <a:r>
              <a:rPr lang="en-GB" altLang="en-US" sz="2400" dirty="0"/>
              <a:t>A substitution cipher substitutes one piece of information for another. </a:t>
            </a:r>
          </a:p>
          <a:p>
            <a:pPr>
              <a:defRPr/>
            </a:pPr>
            <a:r>
              <a:rPr lang="en-GB" altLang="en-US" sz="2400" dirty="0"/>
              <a:t>This is most frequently done by offsetting letters of the alphabet. (a.k.a. “shift alphabet”)</a:t>
            </a:r>
          </a:p>
          <a:p>
            <a:pPr>
              <a:defRPr/>
            </a:pPr>
            <a:r>
              <a:rPr lang="en-GB" altLang="en-US" sz="2400" dirty="0"/>
              <a:t>Two examples are:</a:t>
            </a:r>
          </a:p>
          <a:p>
            <a:pPr lvl="1">
              <a:defRPr/>
            </a:pPr>
            <a:r>
              <a:rPr lang="en-GB" altLang="en-US" sz="2000" dirty="0"/>
              <a:t>Caesar cipher</a:t>
            </a:r>
          </a:p>
          <a:p>
            <a:pPr lvl="1">
              <a:defRPr/>
            </a:pPr>
            <a:r>
              <a:rPr lang="en-GB" altLang="en-US" sz="2000" dirty="0"/>
              <a:t>ROT13 cipher on UNIX</a:t>
            </a:r>
          </a:p>
          <a:p>
            <a:pPr marL="0" lvl="1" indent="0">
              <a:buFont typeface="Arial" pitchFamily="34" charset="0"/>
              <a:buNone/>
            </a:pPr>
            <a:endParaRPr lang="pt-BR" sz="2400" dirty="0">
              <a:ea typeface="ＭＳ Ｐゴシック" panose="020B0600070205080204" pitchFamily="34" charset="-128"/>
            </a:endParaRPr>
          </a:p>
        </p:txBody>
      </p:sp>
      <p:sp>
        <p:nvSpPr>
          <p:cNvPr id="5" name="Rectangle 4">
            <a:extLst>
              <a:ext uri="{FF2B5EF4-FFF2-40B4-BE49-F238E27FC236}">
                <a16:creationId xmlns:a16="http://schemas.microsoft.com/office/drawing/2014/main" id="{67357B14-9A5C-4375-B247-01684929706B}"/>
              </a:ext>
            </a:extLst>
          </p:cNvPr>
          <p:cNvSpPr>
            <a:spLocks noChangeArrowheads="1"/>
          </p:cNvSpPr>
          <p:nvPr/>
        </p:nvSpPr>
        <p:spPr bwMode="auto">
          <a:xfrm>
            <a:off x="685800" y="4953000"/>
            <a:ext cx="7772400" cy="2057400"/>
          </a:xfrm>
          <a:prstGeom prst="rect">
            <a:avLst/>
          </a:prstGeom>
          <a:noFill/>
          <a:ln w="9525">
            <a:noFill/>
            <a:miter lim="800000"/>
            <a:headEnd/>
            <a:tailEnd/>
          </a:ln>
          <a:effectLst/>
        </p:spPr>
        <p:txBody>
          <a:bodyPr/>
          <a:lstStyle/>
          <a:p>
            <a:pPr marL="342900" indent="-342900">
              <a:spcBef>
                <a:spcPct val="20000"/>
              </a:spcBef>
            </a:pPr>
            <a:r>
              <a:rPr lang="en-US" sz="2400" dirty="0">
                <a:solidFill>
                  <a:srgbClr val="003399"/>
                </a:solidFill>
                <a:latin typeface="Lucida Console" pitchFamily="49" charset="0"/>
              </a:rPr>
              <a:t>   ABCDEFGHIJKLMNOPQRSTUVWXYZ</a:t>
            </a:r>
            <a:r>
              <a:rPr lang="en-US" sz="2400" dirty="0">
                <a:solidFill>
                  <a:srgbClr val="003399"/>
                </a:solidFill>
                <a:latin typeface="Courier New" pitchFamily="49" charset="0"/>
              </a:rPr>
              <a:t> </a:t>
            </a:r>
            <a:r>
              <a:rPr lang="en-US" sz="2400" dirty="0">
                <a:solidFill>
                  <a:srgbClr val="003399"/>
                </a:solidFill>
              </a:rPr>
              <a:t> </a:t>
            </a:r>
          </a:p>
          <a:p>
            <a:pPr marL="342900" indent="-342900">
              <a:spcBef>
                <a:spcPct val="20000"/>
              </a:spcBef>
            </a:pPr>
            <a:r>
              <a:rPr lang="en-US" sz="2400" dirty="0">
                <a:solidFill>
                  <a:srgbClr val="003399"/>
                </a:solidFill>
              </a:rPr>
              <a:t>		</a:t>
            </a:r>
            <a:r>
              <a:rPr lang="en-US" sz="2400" dirty="0">
                <a:solidFill>
                  <a:srgbClr val="FF0000"/>
                </a:solidFill>
              </a:rPr>
              <a:t>      </a:t>
            </a:r>
            <a:r>
              <a:rPr lang="en-US" sz="2400" dirty="0">
                <a:solidFill>
                  <a:srgbClr val="003399"/>
                </a:solidFill>
              </a:rPr>
              <a:t>	and sliding everything up by </a:t>
            </a:r>
            <a:r>
              <a:rPr lang="en-US" sz="2400" dirty="0">
                <a:solidFill>
                  <a:srgbClr val="FF6600"/>
                </a:solidFill>
              </a:rPr>
              <a:t>3</a:t>
            </a:r>
            <a:r>
              <a:rPr lang="en-US" sz="2400" dirty="0">
                <a:solidFill>
                  <a:srgbClr val="003399"/>
                </a:solidFill>
              </a:rPr>
              <a:t>, you get </a:t>
            </a:r>
          </a:p>
          <a:p>
            <a:pPr marL="342900" indent="-342900">
              <a:spcBef>
                <a:spcPct val="20000"/>
              </a:spcBef>
            </a:pPr>
            <a:r>
              <a:rPr lang="en-US" sz="2400" dirty="0">
                <a:solidFill>
                  <a:srgbClr val="003399"/>
                </a:solidFill>
                <a:latin typeface="Lucida Console" pitchFamily="49" charset="0"/>
              </a:rPr>
              <a:t>ABCDEFGHIJKLMNOPQRSTUVWXYZABC</a:t>
            </a:r>
            <a:r>
              <a:rPr lang="en-US" sz="2400" dirty="0">
                <a:solidFill>
                  <a:srgbClr val="003399"/>
                </a:solidFill>
                <a:latin typeface="Courier New" pitchFamily="49" charset="0"/>
              </a:rPr>
              <a:t> </a:t>
            </a:r>
          </a:p>
          <a:p>
            <a:pPr marL="342900" indent="-342900">
              <a:spcBef>
                <a:spcPct val="20000"/>
              </a:spcBef>
            </a:pPr>
            <a:r>
              <a:rPr lang="en-US" sz="2400" dirty="0">
                <a:solidFill>
                  <a:srgbClr val="003399"/>
                </a:solidFill>
              </a:rPr>
              <a:t>			so “D = A”, “E = B”, “F = C”, and so on.</a:t>
            </a:r>
          </a:p>
        </p:txBody>
      </p:sp>
      <p:sp>
        <p:nvSpPr>
          <p:cNvPr id="6" name="Line 5">
            <a:extLst>
              <a:ext uri="{FF2B5EF4-FFF2-40B4-BE49-F238E27FC236}">
                <a16:creationId xmlns:a16="http://schemas.microsoft.com/office/drawing/2014/main" id="{FA8C10E5-7876-4156-8E87-A80CE7682CF4}"/>
              </a:ext>
            </a:extLst>
          </p:cNvPr>
          <p:cNvSpPr>
            <a:spLocks noChangeShapeType="1"/>
          </p:cNvSpPr>
          <p:nvPr/>
        </p:nvSpPr>
        <p:spPr bwMode="auto">
          <a:xfrm>
            <a:off x="1412875" y="5334000"/>
            <a:ext cx="0" cy="533400"/>
          </a:xfrm>
          <a:prstGeom prst="line">
            <a:avLst/>
          </a:prstGeom>
          <a:noFill/>
          <a:ln w="28575">
            <a:solidFill>
              <a:srgbClr val="FF6600"/>
            </a:solidFill>
            <a:round/>
            <a:headEnd type="triangle" w="med" len="med"/>
            <a:tailEnd/>
          </a:ln>
          <a:effectLst/>
        </p:spPr>
        <p:txBody>
          <a:bodyPr/>
          <a:lstStyle/>
          <a:p>
            <a:endParaRPr lang="en-US"/>
          </a:p>
        </p:txBody>
      </p:sp>
      <p:sp>
        <p:nvSpPr>
          <p:cNvPr id="7" name="Line 6">
            <a:extLst>
              <a:ext uri="{FF2B5EF4-FFF2-40B4-BE49-F238E27FC236}">
                <a16:creationId xmlns:a16="http://schemas.microsoft.com/office/drawing/2014/main" id="{1F025542-9A78-4522-BD11-53F5D285A27F}"/>
              </a:ext>
            </a:extLst>
          </p:cNvPr>
          <p:cNvSpPr>
            <a:spLocks noChangeShapeType="1"/>
          </p:cNvSpPr>
          <p:nvPr/>
        </p:nvSpPr>
        <p:spPr bwMode="auto">
          <a:xfrm>
            <a:off x="1600200" y="5334000"/>
            <a:ext cx="0" cy="533400"/>
          </a:xfrm>
          <a:prstGeom prst="line">
            <a:avLst/>
          </a:prstGeom>
          <a:noFill/>
          <a:ln w="28575">
            <a:solidFill>
              <a:srgbClr val="FF6600"/>
            </a:solidFill>
            <a:round/>
            <a:headEnd type="triangle" w="med" len="med"/>
            <a:tailEnd/>
          </a:ln>
          <a:effectLst/>
        </p:spPr>
        <p:txBody>
          <a:bodyPr/>
          <a:lstStyle/>
          <a:p>
            <a:endParaRPr lang="en-US"/>
          </a:p>
        </p:txBody>
      </p:sp>
      <p:sp>
        <p:nvSpPr>
          <p:cNvPr id="8" name="Line 7">
            <a:extLst>
              <a:ext uri="{FF2B5EF4-FFF2-40B4-BE49-F238E27FC236}">
                <a16:creationId xmlns:a16="http://schemas.microsoft.com/office/drawing/2014/main" id="{B6DE2AA5-0ED6-488A-8852-ACF8DBB43AC0}"/>
              </a:ext>
            </a:extLst>
          </p:cNvPr>
          <p:cNvSpPr>
            <a:spLocks noChangeShapeType="1"/>
          </p:cNvSpPr>
          <p:nvPr/>
        </p:nvSpPr>
        <p:spPr bwMode="auto">
          <a:xfrm>
            <a:off x="1787525" y="5334000"/>
            <a:ext cx="0" cy="533400"/>
          </a:xfrm>
          <a:prstGeom prst="line">
            <a:avLst/>
          </a:prstGeom>
          <a:noFill/>
          <a:ln w="28575">
            <a:solidFill>
              <a:srgbClr val="FF6600"/>
            </a:solidFill>
            <a:round/>
            <a:headEnd type="triangle" w="med" len="med"/>
            <a:tailEnd/>
          </a:ln>
          <a:effectLst/>
        </p:spPr>
        <p:txBody>
          <a:bodyPr/>
          <a:lstStyle/>
          <a:p>
            <a:endParaRPr lang="en-US"/>
          </a:p>
        </p:txBody>
      </p:sp>
    </p:spTree>
    <p:extLst>
      <p:ext uri="{BB962C8B-B14F-4D97-AF65-F5344CB8AC3E}">
        <p14:creationId xmlns:p14="http://schemas.microsoft.com/office/powerpoint/2010/main" val="2757243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Cipher Types: Classic Ciphers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Polyalphabetic (or Running Key) Cipher</a:t>
            </a:r>
          </a:p>
          <a:p>
            <a:pPr>
              <a:defRPr/>
            </a:pPr>
            <a:r>
              <a:rPr lang="en-GB" altLang="en-US" sz="2400" dirty="0"/>
              <a:t>The running key cipher is a type of substitution cipher</a:t>
            </a:r>
          </a:p>
          <a:p>
            <a:pPr lvl="1">
              <a:defRPr/>
            </a:pPr>
            <a:r>
              <a:rPr lang="en-GB" altLang="en-US" sz="2000" dirty="0"/>
              <a:t>Invented by Blaise de Vigenère in 19th century</a:t>
            </a:r>
          </a:p>
          <a:p>
            <a:pPr lvl="1">
              <a:defRPr/>
            </a:pPr>
            <a:r>
              <a:rPr lang="en-GB" altLang="en-US" sz="2000" dirty="0"/>
              <a:t>The cryptographic algorithm is </a:t>
            </a:r>
          </a:p>
          <a:p>
            <a:pPr marL="0" indent="0">
              <a:buNone/>
              <a:defRPr/>
            </a:pPr>
            <a:r>
              <a:rPr lang="en-GB" altLang="en-US" sz="2400" dirty="0"/>
              <a:t>           </a:t>
            </a:r>
            <a:r>
              <a:rPr lang="en-GB" altLang="en-US" sz="2000" dirty="0"/>
              <a:t>polyalphabetic substitution, where the </a:t>
            </a:r>
          </a:p>
          <a:p>
            <a:pPr marL="0" indent="0">
              <a:buNone/>
              <a:defRPr/>
            </a:pPr>
            <a:r>
              <a:rPr lang="en-GB" altLang="en-US" sz="2000" dirty="0"/>
              <a:t>             secret key is repeated along the length of</a:t>
            </a:r>
          </a:p>
          <a:p>
            <a:pPr marL="0" indent="0">
              <a:buNone/>
              <a:defRPr/>
            </a:pPr>
            <a:r>
              <a:rPr lang="en-GB" altLang="en-US" sz="2000" dirty="0"/>
              <a:t>             plaintext/ciphertext.</a:t>
            </a:r>
          </a:p>
          <a:p>
            <a:pPr marL="0" lvl="1" indent="0">
              <a:buFont typeface="Arial" pitchFamily="34" charset="0"/>
              <a:buNone/>
            </a:pPr>
            <a:endParaRPr lang="pt-BR" sz="2400" dirty="0">
              <a:ea typeface="ＭＳ Ｐゴシック" panose="020B0600070205080204" pitchFamily="34" charset="-128"/>
            </a:endParaRPr>
          </a:p>
        </p:txBody>
      </p:sp>
      <p:sp>
        <p:nvSpPr>
          <p:cNvPr id="9" name="Text Box 5">
            <a:extLst>
              <a:ext uri="{FF2B5EF4-FFF2-40B4-BE49-F238E27FC236}">
                <a16:creationId xmlns:a16="http://schemas.microsoft.com/office/drawing/2014/main" id="{174FCC38-3F56-4724-B1F5-FB657FFC878A}"/>
              </a:ext>
            </a:extLst>
          </p:cNvPr>
          <p:cNvSpPr txBox="1">
            <a:spLocks noChangeArrowheads="1"/>
          </p:cNvSpPr>
          <p:nvPr/>
        </p:nvSpPr>
        <p:spPr bwMode="auto">
          <a:xfrm>
            <a:off x="533400" y="5181600"/>
            <a:ext cx="4495800" cy="1069975"/>
          </a:xfrm>
          <a:prstGeom prst="rect">
            <a:avLst/>
          </a:prstGeom>
          <a:noFill/>
          <a:ln w="9525">
            <a:noFill/>
            <a:miter lim="800000"/>
            <a:headEnd/>
            <a:tailEnd/>
          </a:ln>
          <a:effectLst/>
        </p:spPr>
        <p:txBody>
          <a:bodyPr>
            <a:spAutoFit/>
          </a:bodyPr>
          <a:lstStyle/>
          <a:p>
            <a:pPr>
              <a:spcBef>
                <a:spcPct val="50000"/>
              </a:spcBef>
            </a:pPr>
            <a:r>
              <a:rPr lang="en-US" sz="1600" b="1" dirty="0">
                <a:solidFill>
                  <a:srgbClr val="003399"/>
                </a:solidFill>
                <a:latin typeface="Lucida Console" pitchFamily="49" charset="0"/>
              </a:rPr>
              <a:t>Plaintext:  COMPUTING GIVES INSIGHT</a:t>
            </a:r>
          </a:p>
          <a:p>
            <a:pPr>
              <a:spcBef>
                <a:spcPct val="50000"/>
              </a:spcBef>
            </a:pPr>
            <a:r>
              <a:rPr lang="en-US" sz="1600" b="1" dirty="0">
                <a:solidFill>
                  <a:srgbClr val="003399"/>
                </a:solidFill>
                <a:latin typeface="Lucida Console" pitchFamily="49" charset="0"/>
              </a:rPr>
              <a:t>Keyword:    LUCKYLUCK YLUCK YLUCKYL</a:t>
            </a:r>
          </a:p>
          <a:p>
            <a:pPr>
              <a:spcBef>
                <a:spcPct val="50000"/>
              </a:spcBef>
            </a:pPr>
            <a:r>
              <a:rPr lang="en-US" sz="1600" b="1" dirty="0">
                <a:solidFill>
                  <a:srgbClr val="003399"/>
                </a:solidFill>
                <a:latin typeface="Lucida Console" pitchFamily="49" charset="0"/>
              </a:rPr>
              <a:t>Ciphertext: NIOZSECPQ ETPGC GYMKQFE</a:t>
            </a:r>
          </a:p>
        </p:txBody>
      </p:sp>
      <p:graphicFrame>
        <p:nvGraphicFramePr>
          <p:cNvPr id="10" name="Content Placeholder 4">
            <a:extLst>
              <a:ext uri="{FF2B5EF4-FFF2-40B4-BE49-F238E27FC236}">
                <a16:creationId xmlns:a16="http://schemas.microsoft.com/office/drawing/2014/main" id="{9FC50BD2-0235-4C15-98FE-A6592128AFA3}"/>
              </a:ext>
            </a:extLst>
          </p:cNvPr>
          <p:cNvGraphicFramePr>
            <a:graphicFrameLocks/>
          </p:cNvGraphicFramePr>
          <p:nvPr>
            <p:extLst>
              <p:ext uri="{D42A27DB-BD31-4B8C-83A1-F6EECF244321}">
                <p14:modId xmlns:p14="http://schemas.microsoft.com/office/powerpoint/2010/main" val="2818019398"/>
              </p:ext>
            </p:extLst>
          </p:nvPr>
        </p:nvGraphicFramePr>
        <p:xfrm>
          <a:off x="5566410" y="3291840"/>
          <a:ext cx="3566160" cy="3566160"/>
        </p:xfrm>
        <a:graphic>
          <a:graphicData uri="http://schemas.openxmlformats.org/drawingml/2006/table">
            <a:tbl>
              <a:tblPr>
                <a:tableStyleId>{5C22544A-7EE6-4342-B048-85BDC9FD1C3A}</a:tableStyleId>
              </a:tblPr>
              <a:tblGrid>
                <a:gridCol w="137160">
                  <a:extLst>
                    <a:ext uri="{9D8B030D-6E8A-4147-A177-3AD203B41FA5}">
                      <a16:colId xmlns:a16="http://schemas.microsoft.com/office/drawing/2014/main" val="20000"/>
                    </a:ext>
                  </a:extLst>
                </a:gridCol>
                <a:gridCol w="137160">
                  <a:extLst>
                    <a:ext uri="{9D8B030D-6E8A-4147-A177-3AD203B41FA5}">
                      <a16:colId xmlns:a16="http://schemas.microsoft.com/office/drawing/2014/main" val="20001"/>
                    </a:ext>
                  </a:extLst>
                </a:gridCol>
                <a:gridCol w="137160">
                  <a:extLst>
                    <a:ext uri="{9D8B030D-6E8A-4147-A177-3AD203B41FA5}">
                      <a16:colId xmlns:a16="http://schemas.microsoft.com/office/drawing/2014/main" val="20002"/>
                    </a:ext>
                  </a:extLst>
                </a:gridCol>
                <a:gridCol w="137160">
                  <a:extLst>
                    <a:ext uri="{9D8B030D-6E8A-4147-A177-3AD203B41FA5}">
                      <a16:colId xmlns:a16="http://schemas.microsoft.com/office/drawing/2014/main" val="20003"/>
                    </a:ext>
                  </a:extLst>
                </a:gridCol>
                <a:gridCol w="137160">
                  <a:extLst>
                    <a:ext uri="{9D8B030D-6E8A-4147-A177-3AD203B41FA5}">
                      <a16:colId xmlns:a16="http://schemas.microsoft.com/office/drawing/2014/main" val="20004"/>
                    </a:ext>
                  </a:extLst>
                </a:gridCol>
                <a:gridCol w="137160">
                  <a:extLst>
                    <a:ext uri="{9D8B030D-6E8A-4147-A177-3AD203B41FA5}">
                      <a16:colId xmlns:a16="http://schemas.microsoft.com/office/drawing/2014/main" val="20005"/>
                    </a:ext>
                  </a:extLst>
                </a:gridCol>
                <a:gridCol w="137160">
                  <a:extLst>
                    <a:ext uri="{9D8B030D-6E8A-4147-A177-3AD203B41FA5}">
                      <a16:colId xmlns:a16="http://schemas.microsoft.com/office/drawing/2014/main" val="20006"/>
                    </a:ext>
                  </a:extLst>
                </a:gridCol>
                <a:gridCol w="137160">
                  <a:extLst>
                    <a:ext uri="{9D8B030D-6E8A-4147-A177-3AD203B41FA5}">
                      <a16:colId xmlns:a16="http://schemas.microsoft.com/office/drawing/2014/main" val="20007"/>
                    </a:ext>
                  </a:extLst>
                </a:gridCol>
                <a:gridCol w="137160">
                  <a:extLst>
                    <a:ext uri="{9D8B030D-6E8A-4147-A177-3AD203B41FA5}">
                      <a16:colId xmlns:a16="http://schemas.microsoft.com/office/drawing/2014/main" val="20008"/>
                    </a:ext>
                  </a:extLst>
                </a:gridCol>
                <a:gridCol w="137160">
                  <a:extLst>
                    <a:ext uri="{9D8B030D-6E8A-4147-A177-3AD203B41FA5}">
                      <a16:colId xmlns:a16="http://schemas.microsoft.com/office/drawing/2014/main" val="20009"/>
                    </a:ext>
                  </a:extLst>
                </a:gridCol>
                <a:gridCol w="137160">
                  <a:extLst>
                    <a:ext uri="{9D8B030D-6E8A-4147-A177-3AD203B41FA5}">
                      <a16:colId xmlns:a16="http://schemas.microsoft.com/office/drawing/2014/main" val="20010"/>
                    </a:ext>
                  </a:extLst>
                </a:gridCol>
                <a:gridCol w="137160">
                  <a:extLst>
                    <a:ext uri="{9D8B030D-6E8A-4147-A177-3AD203B41FA5}">
                      <a16:colId xmlns:a16="http://schemas.microsoft.com/office/drawing/2014/main" val="20011"/>
                    </a:ext>
                  </a:extLst>
                </a:gridCol>
                <a:gridCol w="137160">
                  <a:extLst>
                    <a:ext uri="{9D8B030D-6E8A-4147-A177-3AD203B41FA5}">
                      <a16:colId xmlns:a16="http://schemas.microsoft.com/office/drawing/2014/main" val="20012"/>
                    </a:ext>
                  </a:extLst>
                </a:gridCol>
                <a:gridCol w="137160">
                  <a:extLst>
                    <a:ext uri="{9D8B030D-6E8A-4147-A177-3AD203B41FA5}">
                      <a16:colId xmlns:a16="http://schemas.microsoft.com/office/drawing/2014/main" val="20013"/>
                    </a:ext>
                  </a:extLst>
                </a:gridCol>
                <a:gridCol w="137160">
                  <a:extLst>
                    <a:ext uri="{9D8B030D-6E8A-4147-A177-3AD203B41FA5}">
                      <a16:colId xmlns:a16="http://schemas.microsoft.com/office/drawing/2014/main" val="20014"/>
                    </a:ext>
                  </a:extLst>
                </a:gridCol>
                <a:gridCol w="137160">
                  <a:extLst>
                    <a:ext uri="{9D8B030D-6E8A-4147-A177-3AD203B41FA5}">
                      <a16:colId xmlns:a16="http://schemas.microsoft.com/office/drawing/2014/main" val="20015"/>
                    </a:ext>
                  </a:extLst>
                </a:gridCol>
                <a:gridCol w="137160">
                  <a:extLst>
                    <a:ext uri="{9D8B030D-6E8A-4147-A177-3AD203B41FA5}">
                      <a16:colId xmlns:a16="http://schemas.microsoft.com/office/drawing/2014/main" val="20016"/>
                    </a:ext>
                  </a:extLst>
                </a:gridCol>
                <a:gridCol w="137160">
                  <a:extLst>
                    <a:ext uri="{9D8B030D-6E8A-4147-A177-3AD203B41FA5}">
                      <a16:colId xmlns:a16="http://schemas.microsoft.com/office/drawing/2014/main" val="20017"/>
                    </a:ext>
                  </a:extLst>
                </a:gridCol>
                <a:gridCol w="137160">
                  <a:extLst>
                    <a:ext uri="{9D8B030D-6E8A-4147-A177-3AD203B41FA5}">
                      <a16:colId xmlns:a16="http://schemas.microsoft.com/office/drawing/2014/main" val="20018"/>
                    </a:ext>
                  </a:extLst>
                </a:gridCol>
                <a:gridCol w="137160">
                  <a:extLst>
                    <a:ext uri="{9D8B030D-6E8A-4147-A177-3AD203B41FA5}">
                      <a16:colId xmlns:a16="http://schemas.microsoft.com/office/drawing/2014/main" val="20019"/>
                    </a:ext>
                  </a:extLst>
                </a:gridCol>
                <a:gridCol w="137160">
                  <a:extLst>
                    <a:ext uri="{9D8B030D-6E8A-4147-A177-3AD203B41FA5}">
                      <a16:colId xmlns:a16="http://schemas.microsoft.com/office/drawing/2014/main" val="20020"/>
                    </a:ext>
                  </a:extLst>
                </a:gridCol>
                <a:gridCol w="137160">
                  <a:extLst>
                    <a:ext uri="{9D8B030D-6E8A-4147-A177-3AD203B41FA5}">
                      <a16:colId xmlns:a16="http://schemas.microsoft.com/office/drawing/2014/main" val="20021"/>
                    </a:ext>
                  </a:extLst>
                </a:gridCol>
                <a:gridCol w="137160">
                  <a:extLst>
                    <a:ext uri="{9D8B030D-6E8A-4147-A177-3AD203B41FA5}">
                      <a16:colId xmlns:a16="http://schemas.microsoft.com/office/drawing/2014/main" val="20022"/>
                    </a:ext>
                  </a:extLst>
                </a:gridCol>
                <a:gridCol w="137160">
                  <a:extLst>
                    <a:ext uri="{9D8B030D-6E8A-4147-A177-3AD203B41FA5}">
                      <a16:colId xmlns:a16="http://schemas.microsoft.com/office/drawing/2014/main" val="20023"/>
                    </a:ext>
                  </a:extLst>
                </a:gridCol>
                <a:gridCol w="137160">
                  <a:extLst>
                    <a:ext uri="{9D8B030D-6E8A-4147-A177-3AD203B41FA5}">
                      <a16:colId xmlns:a16="http://schemas.microsoft.com/office/drawing/2014/main" val="20024"/>
                    </a:ext>
                  </a:extLst>
                </a:gridCol>
                <a:gridCol w="137160">
                  <a:extLst>
                    <a:ext uri="{9D8B030D-6E8A-4147-A177-3AD203B41FA5}">
                      <a16:colId xmlns:a16="http://schemas.microsoft.com/office/drawing/2014/main" val="20025"/>
                    </a:ext>
                  </a:extLst>
                </a:gridCol>
              </a:tblGrid>
              <a:tr h="137160">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0"/>
                  </a:ext>
                </a:extLst>
              </a:tr>
              <a:tr h="137160">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137160">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137160">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137160">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137160">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5"/>
                  </a:ext>
                </a:extLst>
              </a:tr>
              <a:tr h="137160">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6"/>
                  </a:ext>
                </a:extLst>
              </a:tr>
              <a:tr h="137160">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7"/>
                  </a:ext>
                </a:extLst>
              </a:tr>
              <a:tr h="137160">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8"/>
                  </a:ext>
                </a:extLst>
              </a:tr>
              <a:tr h="137160">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9"/>
                  </a:ext>
                </a:extLst>
              </a:tr>
              <a:tr h="137160">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0"/>
                  </a:ext>
                </a:extLst>
              </a:tr>
              <a:tr h="137160">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1"/>
                  </a:ext>
                </a:extLst>
              </a:tr>
              <a:tr h="137160">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2"/>
                  </a:ext>
                </a:extLst>
              </a:tr>
              <a:tr h="137160">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3"/>
                  </a:ext>
                </a:extLst>
              </a:tr>
              <a:tr h="137160">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4"/>
                  </a:ext>
                </a:extLst>
              </a:tr>
              <a:tr h="137160">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5"/>
                  </a:ext>
                </a:extLst>
              </a:tr>
              <a:tr h="137160">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6"/>
                  </a:ext>
                </a:extLst>
              </a:tr>
              <a:tr h="137160">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7"/>
                  </a:ext>
                </a:extLst>
              </a:tr>
              <a:tr h="137160">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8"/>
                  </a:ext>
                </a:extLst>
              </a:tr>
              <a:tr h="137160">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9"/>
                  </a:ext>
                </a:extLst>
              </a:tr>
              <a:tr h="137160">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20"/>
                  </a:ext>
                </a:extLst>
              </a:tr>
              <a:tr h="137160">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21"/>
                  </a:ext>
                </a:extLst>
              </a:tr>
              <a:tr h="137160">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22"/>
                  </a:ext>
                </a:extLst>
              </a:tr>
              <a:tr h="137160">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23"/>
                  </a:ext>
                </a:extLst>
              </a:tr>
              <a:tr h="137160">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24"/>
                  </a:ext>
                </a:extLst>
              </a:tr>
              <a:tr h="137160">
                <a:tc>
                  <a:txBody>
                    <a:bodyPr/>
                    <a:lstStyle/>
                    <a:p>
                      <a:pPr algn="ctr"/>
                      <a:r>
                        <a:rPr lang="en-US" sz="800" dirty="0">
                          <a:solidFill>
                            <a:srgbClr val="002060"/>
                          </a:solidFill>
                          <a:latin typeface="Arial Narrow" pitchFamily="34" charset="0"/>
                        </a:rPr>
                        <a:t>Z</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A</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B</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C</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D</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E</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F</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G</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H</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I</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J</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K</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L</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M</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O</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P</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Q</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R</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S</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U</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V</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W</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lang="en-US" sz="800" dirty="0">
                          <a:solidFill>
                            <a:srgbClr val="002060"/>
                          </a:solidFill>
                          <a:latin typeface="Arial Narrow" pitchFamily="34" charset="0"/>
                        </a:rPr>
                        <a:t>Y</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80260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Cipher Types: Classic Ciphers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Transposition Cipher</a:t>
            </a:r>
          </a:p>
          <a:p>
            <a:pPr>
              <a:defRPr/>
            </a:pPr>
            <a:r>
              <a:rPr lang="en-GB" altLang="en-US" sz="2400" dirty="0"/>
              <a:t>Instead of replacing the characters with other characters, this cipher simply changes the order of the characters. </a:t>
            </a:r>
          </a:p>
          <a:p>
            <a:pPr>
              <a:defRPr/>
            </a:pPr>
            <a:r>
              <a:rPr lang="en-GB" altLang="en-US" sz="2400" dirty="0"/>
              <a:t>The key determines the positions that the characters are moved to</a:t>
            </a:r>
          </a:p>
          <a:p>
            <a:pPr>
              <a:defRPr/>
            </a:pPr>
            <a:r>
              <a:rPr lang="en-GB" altLang="en-US" sz="2400" dirty="0"/>
              <a:t>The key for this cipher is not standard. </a:t>
            </a:r>
          </a:p>
          <a:p>
            <a:pPr lvl="1">
              <a:defRPr/>
            </a:pPr>
            <a:r>
              <a:rPr lang="en-GB" altLang="en-US" sz="2000" dirty="0"/>
              <a:t>Instead of a list of alphabetic substitutions, it is a mapping order.</a:t>
            </a:r>
          </a:p>
          <a:p>
            <a:pPr lvl="1">
              <a:defRPr/>
            </a:pPr>
            <a:r>
              <a:rPr lang="en-GB" altLang="en-US" sz="2000" dirty="0"/>
              <a:t>Such as (1,2,3,4,5) = (3,4,5,2,1). This means that the third element is put in place of the first, thus followed by the fourth, then the fifth, second, and finally followed by the original first element. </a:t>
            </a:r>
          </a:p>
          <a:p>
            <a:pPr lvl="1">
              <a:defRPr/>
            </a:pPr>
            <a:r>
              <a:rPr lang="en-GB" altLang="en-US" sz="2000" dirty="0"/>
              <a:t>Example: "WORLD" -&gt; "RLDOW"</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1995238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Cipher Types: Classic Ciphers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Concealment Cipher</a:t>
            </a:r>
          </a:p>
          <a:p>
            <a:pPr>
              <a:defRPr/>
            </a:pPr>
            <a:r>
              <a:rPr lang="en-GB" altLang="en-US" sz="2400" dirty="0"/>
              <a:t>The concealment cipher hides a message in a longer message i.e. “a message WITHIN a message”</a:t>
            </a:r>
          </a:p>
          <a:p>
            <a:pPr>
              <a:defRPr/>
            </a:pPr>
            <a:r>
              <a:rPr lang="en-GB" altLang="en-US" sz="2400" dirty="0"/>
              <a:t>A paragraph is sent to you containing an embedded secret message.  </a:t>
            </a:r>
          </a:p>
          <a:p>
            <a:pPr>
              <a:defRPr/>
            </a:pPr>
            <a:r>
              <a:rPr lang="en-GB" altLang="en-US" sz="2400" dirty="0"/>
              <a:t>Example:</a:t>
            </a:r>
          </a:p>
          <a:p>
            <a:pPr lvl="1">
              <a:defRPr/>
            </a:pPr>
            <a:r>
              <a:rPr lang="en-GB" altLang="en-US" sz="2000" dirty="0"/>
              <a:t>The agreed upon secret key is to use every sixth word.</a:t>
            </a:r>
          </a:p>
          <a:p>
            <a:pPr lvl="1">
              <a:defRPr/>
            </a:pPr>
            <a:r>
              <a:rPr lang="en-GB" altLang="en-US" sz="2000" dirty="0"/>
              <a:t>Selecting every sixth word in the paragraph will decrypt the message </a:t>
            </a:r>
          </a:p>
          <a:p>
            <a:pPr marL="0" lvl="1" indent="0">
              <a:buFont typeface="Arial" pitchFamily="34" charset="0"/>
              <a:buNone/>
            </a:pPr>
            <a:endParaRPr lang="pt-BR" sz="2400" dirty="0">
              <a:ea typeface="ＭＳ Ｐゴシック" panose="020B0600070205080204" pitchFamily="34" charset="-128"/>
            </a:endParaRPr>
          </a:p>
        </p:txBody>
      </p:sp>
      <p:sp>
        <p:nvSpPr>
          <p:cNvPr id="7" name="Text Box 4">
            <a:extLst>
              <a:ext uri="{FF2B5EF4-FFF2-40B4-BE49-F238E27FC236}">
                <a16:creationId xmlns:a16="http://schemas.microsoft.com/office/drawing/2014/main" id="{128FCB49-64F4-447E-9678-7673C5E793E7}"/>
              </a:ext>
            </a:extLst>
          </p:cNvPr>
          <p:cNvSpPr txBox="1">
            <a:spLocks noChangeArrowheads="1"/>
          </p:cNvSpPr>
          <p:nvPr/>
        </p:nvSpPr>
        <p:spPr bwMode="auto">
          <a:xfrm>
            <a:off x="1371600" y="5242560"/>
            <a:ext cx="6111875" cy="1552575"/>
          </a:xfrm>
          <a:prstGeom prst="rect">
            <a:avLst/>
          </a:prstGeom>
          <a:noFill/>
          <a:ln w="9525">
            <a:noFill/>
            <a:miter lim="800000"/>
            <a:headEnd/>
            <a:tailEnd/>
          </a:ln>
          <a:effectLst/>
        </p:spPr>
        <p:txBody>
          <a:bodyPr>
            <a:spAutoFit/>
          </a:bodyPr>
          <a:lstStyle/>
          <a:p>
            <a:r>
              <a:rPr lang="en-US" sz="2400" b="1" dirty="0">
                <a:solidFill>
                  <a:srgbClr val="003399"/>
                </a:solidFill>
                <a:latin typeface="Lucida Console" pitchFamily="49" charset="0"/>
              </a:rPr>
              <a:t>“I have been trying to</a:t>
            </a:r>
            <a:r>
              <a:rPr lang="en-US" sz="2400" b="1" dirty="0">
                <a:latin typeface="Lucida Console" pitchFamily="49" charset="0"/>
              </a:rPr>
              <a:t> </a:t>
            </a:r>
            <a:r>
              <a:rPr lang="en-US" sz="2400" b="1" dirty="0">
                <a:solidFill>
                  <a:srgbClr val="FF6600"/>
                </a:solidFill>
                <a:latin typeface="Lucida Console" pitchFamily="49" charset="0"/>
              </a:rPr>
              <a:t>buy</a:t>
            </a:r>
            <a:r>
              <a:rPr lang="en-US" sz="2400" b="1" dirty="0">
                <a:latin typeface="Lucida Console" pitchFamily="49" charset="0"/>
              </a:rPr>
              <a:t> </a:t>
            </a:r>
            <a:r>
              <a:rPr lang="en-US" sz="2400" b="1" dirty="0">
                <a:solidFill>
                  <a:srgbClr val="003399"/>
                </a:solidFill>
                <a:latin typeface="Lucida Console" pitchFamily="49" charset="0"/>
              </a:rPr>
              <a:t>you a nice gift like</a:t>
            </a:r>
            <a:r>
              <a:rPr lang="en-US" sz="2400" b="1" dirty="0">
                <a:latin typeface="Lucida Console" pitchFamily="49" charset="0"/>
              </a:rPr>
              <a:t> </a:t>
            </a:r>
            <a:r>
              <a:rPr lang="en-US" sz="2400" b="1" dirty="0">
                <a:solidFill>
                  <a:srgbClr val="FF6600"/>
                </a:solidFill>
                <a:latin typeface="Lucida Console" pitchFamily="49" charset="0"/>
              </a:rPr>
              <a:t>gold</a:t>
            </a:r>
            <a:r>
              <a:rPr lang="en-US" sz="2400" b="1" dirty="0">
                <a:latin typeface="Lucida Console" pitchFamily="49" charset="0"/>
              </a:rPr>
              <a:t> </a:t>
            </a:r>
            <a:r>
              <a:rPr lang="en-US" sz="2400" b="1" dirty="0">
                <a:solidFill>
                  <a:srgbClr val="003399"/>
                </a:solidFill>
                <a:latin typeface="Lucida Console" pitchFamily="49" charset="0"/>
              </a:rPr>
              <a:t>or an antique but prices</a:t>
            </a:r>
            <a:r>
              <a:rPr lang="en-US" sz="2400" b="1" dirty="0">
                <a:latin typeface="Lucida Console" pitchFamily="49" charset="0"/>
              </a:rPr>
              <a:t> </a:t>
            </a:r>
            <a:r>
              <a:rPr lang="en-US" sz="2400" b="1" dirty="0">
                <a:solidFill>
                  <a:srgbClr val="FF6600"/>
                </a:solidFill>
                <a:latin typeface="Lucida Console" pitchFamily="49" charset="0"/>
              </a:rPr>
              <a:t>now</a:t>
            </a:r>
            <a:r>
              <a:rPr lang="en-US" sz="2400" b="1" dirty="0">
                <a:latin typeface="Lucida Console" pitchFamily="49" charset="0"/>
              </a:rPr>
              <a:t> </a:t>
            </a:r>
            <a:r>
              <a:rPr lang="en-US" sz="2400" b="1" dirty="0">
                <a:solidFill>
                  <a:srgbClr val="003399"/>
                </a:solidFill>
                <a:latin typeface="Lucida Console" pitchFamily="49" charset="0"/>
              </a:rPr>
              <a:t>are really high.”</a:t>
            </a:r>
          </a:p>
        </p:txBody>
      </p:sp>
    </p:spTree>
    <p:extLst>
      <p:ext uri="{BB962C8B-B14F-4D97-AF65-F5344CB8AC3E}">
        <p14:creationId xmlns:p14="http://schemas.microsoft.com/office/powerpoint/2010/main" val="3162992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wd">
                                    <p:tmAbs val="80"/>
                                  </p:iterate>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Cipher Types: Modern Ciphers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Block Cipher</a:t>
            </a:r>
          </a:p>
          <a:p>
            <a:pPr>
              <a:defRPr/>
            </a:pPr>
            <a:r>
              <a:rPr lang="en-GB" altLang="en-US" sz="2400" dirty="0"/>
              <a:t>Operate on fixed size block of plaintext.</a:t>
            </a:r>
          </a:p>
          <a:p>
            <a:pPr>
              <a:defRPr/>
            </a:pPr>
            <a:r>
              <a:rPr lang="en-GB" altLang="en-US" sz="2400" dirty="0"/>
              <a:t>The encryption algorithm takes a fixed-length block of plaintext and create a block of ciphertext in the same length.</a:t>
            </a:r>
          </a:p>
          <a:p>
            <a:pPr lvl="1">
              <a:defRPr/>
            </a:pPr>
            <a:r>
              <a:rPr lang="en-GB" altLang="en-US" sz="2000" dirty="0"/>
              <a:t>Usually 8-byte (64-bit)</a:t>
            </a:r>
          </a:p>
          <a:p>
            <a:pPr>
              <a:defRPr/>
            </a:pPr>
            <a:r>
              <a:rPr lang="en-GB" altLang="en-US" sz="2400" dirty="0"/>
              <a:t>Usually implemented in software.</a:t>
            </a:r>
          </a:p>
          <a:p>
            <a:pPr>
              <a:defRPr/>
            </a:pPr>
            <a:r>
              <a:rPr lang="en-GB" altLang="en-US" sz="2400" dirty="0"/>
              <a:t>Generally, Block cipher encryption is slower than Stream cipher encryption.</a:t>
            </a:r>
          </a:p>
          <a:p>
            <a:pPr>
              <a:defRPr/>
            </a:pPr>
            <a:r>
              <a:rPr lang="en-GB" altLang="en-US" sz="2400" dirty="0"/>
              <a:t>Example: DES, Triple DES, AES, IDEA</a:t>
            </a:r>
            <a:endParaRPr lang="pt-BR" sz="2400" dirty="0">
              <a:ea typeface="ＭＳ Ｐゴシック" panose="020B0600070205080204" pitchFamily="34" charset="-128"/>
            </a:endParaRPr>
          </a:p>
        </p:txBody>
      </p:sp>
      <p:graphicFrame>
        <p:nvGraphicFramePr>
          <p:cNvPr id="5" name="Object 8">
            <a:extLst>
              <a:ext uri="{FF2B5EF4-FFF2-40B4-BE49-F238E27FC236}">
                <a16:creationId xmlns:a16="http://schemas.microsoft.com/office/drawing/2014/main" id="{B5BAB4A0-1E03-4617-A9A1-9966F1D7F51D}"/>
              </a:ext>
            </a:extLst>
          </p:cNvPr>
          <p:cNvGraphicFramePr>
            <a:graphicFrameLocks noChangeAspect="1"/>
          </p:cNvGraphicFramePr>
          <p:nvPr>
            <p:extLst>
              <p:ext uri="{D42A27DB-BD31-4B8C-83A1-F6EECF244321}">
                <p14:modId xmlns:p14="http://schemas.microsoft.com/office/powerpoint/2010/main" val="3892745145"/>
              </p:ext>
            </p:extLst>
          </p:nvPr>
        </p:nvGraphicFramePr>
        <p:xfrm>
          <a:off x="5410200" y="4660265"/>
          <a:ext cx="1998663" cy="2174875"/>
        </p:xfrm>
        <a:graphic>
          <a:graphicData uri="http://schemas.openxmlformats.org/presentationml/2006/ole">
            <mc:AlternateContent xmlns:mc="http://schemas.openxmlformats.org/markup-compatibility/2006">
              <mc:Choice xmlns:v="urn:schemas-microsoft-com:vml" Requires="v">
                <p:oleObj name="Visio" r:id="rId3" imgW="2054901" imgH="2190615" progId="Visio.Drawing.11">
                  <p:embed/>
                </p:oleObj>
              </mc:Choice>
              <mc:Fallback>
                <p:oleObj name="Visio" r:id="rId3" imgW="2054901" imgH="2190615" progId="Visio.Drawing.11">
                  <p:embed/>
                  <p:pic>
                    <p:nvPicPr>
                      <p:cNvPr id="723976" name="Object 8"/>
                      <p:cNvPicPr>
                        <a:picLocks noChangeAspect="1" noChangeArrowheads="1"/>
                      </p:cNvPicPr>
                      <p:nvPr/>
                    </p:nvPicPr>
                    <p:blipFill>
                      <a:blip r:embed="rId4"/>
                      <a:srcRect/>
                      <a:stretch>
                        <a:fillRect/>
                      </a:stretch>
                    </p:blipFill>
                    <p:spPr bwMode="auto">
                      <a:xfrm>
                        <a:off x="5410200" y="4660265"/>
                        <a:ext cx="1998663" cy="217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7238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Cipher Types: Modern Ciphers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Stream Cipher</a:t>
            </a:r>
          </a:p>
          <a:p>
            <a:pPr>
              <a:defRPr/>
            </a:pPr>
            <a:r>
              <a:rPr lang="en-GB" altLang="en-US" sz="2400" dirty="0"/>
              <a:t>Operate on continuous streams of plaintext.</a:t>
            </a:r>
          </a:p>
          <a:p>
            <a:pPr>
              <a:defRPr/>
            </a:pPr>
            <a:r>
              <a:rPr lang="en-GB" altLang="en-US" sz="2400" dirty="0"/>
              <a:t>Usually implemented in hardware.</a:t>
            </a:r>
          </a:p>
          <a:p>
            <a:pPr>
              <a:defRPr/>
            </a:pPr>
            <a:r>
              <a:rPr lang="en-GB" altLang="en-US" sz="2400" dirty="0"/>
              <a:t>Well suited for serial communications.</a:t>
            </a:r>
          </a:p>
          <a:p>
            <a:pPr>
              <a:defRPr/>
            </a:pPr>
            <a:r>
              <a:rPr lang="en-GB" altLang="en-US" sz="2400" dirty="0"/>
              <a:t>Functional complex, with long key that does not repeat.</a:t>
            </a:r>
          </a:p>
          <a:p>
            <a:pPr>
              <a:defRPr/>
            </a:pPr>
            <a:r>
              <a:rPr lang="en-GB" altLang="en-US" sz="2400" dirty="0"/>
              <a:t>Example: RC4, SEAL, VEST</a:t>
            </a:r>
          </a:p>
          <a:p>
            <a:pPr marL="0" lvl="1" indent="0">
              <a:buFont typeface="Arial" pitchFamily="34" charset="0"/>
              <a:buNone/>
            </a:pPr>
            <a:endParaRPr lang="pt-BR" sz="2400" dirty="0">
              <a:ea typeface="ＭＳ Ｐゴシック" panose="020B0600070205080204" pitchFamily="34" charset="-128"/>
            </a:endParaRPr>
          </a:p>
        </p:txBody>
      </p:sp>
      <p:graphicFrame>
        <p:nvGraphicFramePr>
          <p:cNvPr id="6" name="Object 4">
            <a:extLst>
              <a:ext uri="{FF2B5EF4-FFF2-40B4-BE49-F238E27FC236}">
                <a16:creationId xmlns:a16="http://schemas.microsoft.com/office/drawing/2014/main" id="{06997563-ACA4-469C-88F5-63ED4BB57C43}"/>
              </a:ext>
            </a:extLst>
          </p:cNvPr>
          <p:cNvGraphicFramePr>
            <a:graphicFrameLocks noChangeAspect="1"/>
          </p:cNvGraphicFramePr>
          <p:nvPr>
            <p:extLst>
              <p:ext uri="{D42A27DB-BD31-4B8C-83A1-F6EECF244321}">
                <p14:modId xmlns:p14="http://schemas.microsoft.com/office/powerpoint/2010/main" val="604096169"/>
              </p:ext>
            </p:extLst>
          </p:nvPr>
        </p:nvGraphicFramePr>
        <p:xfrm>
          <a:off x="2205960" y="4419600"/>
          <a:ext cx="6037263" cy="1828800"/>
        </p:xfrm>
        <a:graphic>
          <a:graphicData uri="http://schemas.openxmlformats.org/presentationml/2006/ole">
            <mc:AlternateContent xmlns:mc="http://schemas.openxmlformats.org/markup-compatibility/2006">
              <mc:Choice xmlns:v="urn:schemas-microsoft-com:vml" Requires="v">
                <p:oleObj name="Visio" r:id="rId3" imgW="5970746" imgH="1759387" progId="Visio.Drawing.11">
                  <p:embed/>
                </p:oleObj>
              </mc:Choice>
              <mc:Fallback>
                <p:oleObj name="Visio" r:id="rId3" imgW="5970746" imgH="1759387" progId="Visio.Drawing.11">
                  <p:embed/>
                  <p:pic>
                    <p:nvPicPr>
                      <p:cNvPr id="6" name="Object 4">
                        <a:extLst>
                          <a:ext uri="{FF2B5EF4-FFF2-40B4-BE49-F238E27FC236}">
                            <a16:creationId xmlns:a16="http://schemas.microsoft.com/office/drawing/2014/main" id="{06997563-ACA4-469C-88F5-63ED4BB57C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5960" y="4419600"/>
                        <a:ext cx="6037263"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8840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Cipher Types: Modern Ciphers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Steganography</a:t>
            </a:r>
          </a:p>
          <a:p>
            <a:pPr>
              <a:defRPr/>
            </a:pPr>
            <a:r>
              <a:rPr lang="en-GB" altLang="en-US" sz="2400" dirty="0"/>
              <a:t>Steganography is a method of hiding data in another media so that the data's very existence is concealed. </a:t>
            </a:r>
          </a:p>
          <a:p>
            <a:pPr>
              <a:defRPr/>
            </a:pPr>
            <a:r>
              <a:rPr lang="en-GB" altLang="en-US" sz="2400" dirty="0"/>
              <a:t>Microdot, very popular in World War II</a:t>
            </a:r>
          </a:p>
          <a:p>
            <a:pPr>
              <a:defRPr/>
            </a:pPr>
            <a:r>
              <a:rPr lang="en-GB" altLang="en-US" sz="2400" dirty="0"/>
              <a:t>Computer files (graphic images, MP3, or video) contain unused or insignificant areas of data… Steganography takes advantage of these areas, replacing them with information.</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2092726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Cipher Types: Modern Ciphers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Steganography</a:t>
            </a:r>
          </a:p>
          <a:p>
            <a:pPr>
              <a:defRPr/>
            </a:pPr>
            <a:r>
              <a:rPr lang="en-GB" altLang="en-US" sz="2400" dirty="0"/>
              <a:t>The files can then be exchanged without anyone knowing what really lies inside of them. </a:t>
            </a:r>
          </a:p>
          <a:p>
            <a:pPr>
              <a:defRPr/>
            </a:pPr>
            <a:r>
              <a:rPr lang="en-GB" altLang="en-US" sz="2400" dirty="0"/>
              <a:t>Web Bugs – malicious version of Steganography.</a:t>
            </a:r>
          </a:p>
          <a:p>
            <a:pPr>
              <a:defRPr/>
            </a:pPr>
            <a:r>
              <a:rPr lang="en-GB" altLang="en-US" sz="2400" dirty="0"/>
              <a:t>Can be used to insert concealed digital watermarks.</a:t>
            </a:r>
          </a:p>
          <a:p>
            <a:pPr>
              <a:defRPr/>
            </a:pPr>
            <a:r>
              <a:rPr lang="en-GB" altLang="en-US" sz="2400" dirty="0"/>
              <a:t>Note: For CISSP Exam… Steganography DOES NOT USE algorithms or keys to encrypt data…it hides data within another object.</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57982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Hash Function Cryptography</a:t>
            </a:r>
          </a:p>
          <a:p>
            <a:pPr>
              <a:defRPr/>
            </a:pPr>
            <a:r>
              <a:rPr lang="en-GB" altLang="en-US" sz="2400" dirty="0"/>
              <a:t>A hash function takes an input of arbitrary (random choice) length and outputs a fixed size value – “Hash Value”.</a:t>
            </a:r>
          </a:p>
          <a:p>
            <a:pPr>
              <a:defRPr/>
            </a:pPr>
            <a:r>
              <a:rPr lang="en-GB" altLang="en-US" sz="2400" dirty="0"/>
              <a:t>The maximum number of input and output bits is determined by the design of the hash function.</a:t>
            </a:r>
          </a:p>
          <a:p>
            <a:pPr>
              <a:defRPr/>
            </a:pPr>
            <a:r>
              <a:rPr lang="en-GB" altLang="en-US" sz="2400" dirty="0"/>
              <a:t>Pre-image resistance.  A good hash function is “one-way”.  Original input (message or file) can not be derived from the hash value.</a:t>
            </a:r>
          </a:p>
          <a:p>
            <a:pPr>
              <a:defRPr/>
            </a:pPr>
            <a:r>
              <a:rPr lang="en-GB" altLang="en-US" sz="2400" dirty="0"/>
              <a:t>Collision resistance.  Two inputs into a hash function should not produce the same hash value.</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1310843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Hash Function Cryptography</a:t>
            </a:r>
          </a:p>
          <a:p>
            <a:pPr>
              <a:defRPr/>
            </a:pPr>
            <a:r>
              <a:rPr lang="en-GB" altLang="en-US" sz="2400" dirty="0"/>
              <a:t>Cryptographic hash functions are used to provide integrity, authentication and non-repudiation.</a:t>
            </a:r>
          </a:p>
          <a:p>
            <a:pPr lvl="1">
              <a:defRPr/>
            </a:pPr>
            <a:r>
              <a:rPr lang="en-GB" altLang="en-US" sz="2000" dirty="0"/>
              <a:t>Message digest, if the message or file is used as an input into a cryptographic hash function.</a:t>
            </a:r>
          </a:p>
          <a:p>
            <a:pPr lvl="1">
              <a:defRPr/>
            </a:pPr>
            <a:r>
              <a:rPr lang="en-GB" altLang="en-US" sz="2000" dirty="0"/>
              <a:t>Message authentication, if a secret key is used along with a message as inputs into a cryptographic hash function.</a:t>
            </a:r>
          </a:p>
          <a:p>
            <a:pPr lvl="1">
              <a:defRPr/>
            </a:pPr>
            <a:r>
              <a:rPr lang="en-GB" altLang="en-US" sz="2000" dirty="0"/>
              <a:t>Digital signature, if the private key is used as an input, and the output can be verified with the public key.</a:t>
            </a:r>
          </a:p>
          <a:p>
            <a:pPr marL="0" lvl="1" indent="0">
              <a:buFont typeface="Arial" pitchFamily="34" charset="0"/>
              <a:buNone/>
            </a:pPr>
            <a:endParaRPr lang="pt-BR" sz="2400" dirty="0">
              <a:ea typeface="ＭＳ Ｐゴシック" panose="020B0600070205080204" pitchFamily="34" charset="-128"/>
            </a:endParaRPr>
          </a:p>
        </p:txBody>
      </p:sp>
    </p:spTree>
    <p:extLst>
      <p:ext uri="{BB962C8B-B14F-4D97-AF65-F5344CB8AC3E}">
        <p14:creationId xmlns:p14="http://schemas.microsoft.com/office/powerpoint/2010/main" val="2149217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Hash Function Cryptography</a:t>
            </a:r>
          </a:p>
          <a:p>
            <a:pPr marL="0" indent="0">
              <a:buNone/>
              <a:defRPr/>
            </a:pPr>
            <a:r>
              <a:rPr lang="en-GB" altLang="en-US" sz="2400" b="1" dirty="0"/>
              <a:t>There are two flavours and a hybrid hash functions:</a:t>
            </a:r>
          </a:p>
          <a:p>
            <a:pPr>
              <a:defRPr/>
            </a:pPr>
            <a:r>
              <a:rPr lang="en-GB" altLang="en-US" sz="2400" dirty="0"/>
              <a:t>Non-keyed digest (for integrity)</a:t>
            </a:r>
          </a:p>
          <a:p>
            <a:pPr lvl="1">
              <a:defRPr/>
            </a:pPr>
            <a:r>
              <a:rPr lang="en-GB" altLang="en-US" sz="2000" dirty="0"/>
              <a:t>Message Integrity Code (MIC).</a:t>
            </a:r>
          </a:p>
          <a:p>
            <a:pPr lvl="1">
              <a:defRPr/>
            </a:pPr>
            <a:r>
              <a:rPr lang="en-GB" altLang="en-US" sz="2000" dirty="0"/>
              <a:t>Modification Detection Code (MDC).</a:t>
            </a:r>
          </a:p>
          <a:p>
            <a:pPr>
              <a:defRPr/>
            </a:pPr>
            <a:r>
              <a:rPr lang="en-GB" altLang="en-US" sz="2400" dirty="0"/>
              <a:t>Keyed digest (for authentication)</a:t>
            </a:r>
          </a:p>
          <a:p>
            <a:pPr lvl="1">
              <a:defRPr/>
            </a:pPr>
            <a:r>
              <a:rPr lang="en-GB" altLang="en-US" sz="2000" dirty="0"/>
              <a:t>Message Authentication Code (MAC): Secret key + message.</a:t>
            </a:r>
          </a:p>
          <a:p>
            <a:pPr lvl="1">
              <a:defRPr/>
            </a:pPr>
            <a:r>
              <a:rPr lang="en-GB" altLang="en-US" sz="2000" dirty="0"/>
              <a:t>Keyed-hash MAC or Hashed MAC (HMAC): MAC + MDC.</a:t>
            </a:r>
          </a:p>
          <a:p>
            <a:pPr>
              <a:defRPr/>
            </a:pPr>
            <a:r>
              <a:rPr lang="en-GB" altLang="en-US" sz="2400" dirty="0"/>
              <a:t>Digital signature (for non-repudiation)</a:t>
            </a:r>
          </a:p>
          <a:p>
            <a:pPr marL="0" indent="0">
              <a:buNone/>
              <a:defRPr/>
            </a:pPr>
            <a:endParaRPr lang="en-GB" altLang="en-US" sz="2400" dirty="0"/>
          </a:p>
        </p:txBody>
      </p:sp>
    </p:spTree>
    <p:extLst>
      <p:ext uri="{BB962C8B-B14F-4D97-AF65-F5344CB8AC3E}">
        <p14:creationId xmlns:p14="http://schemas.microsoft.com/office/powerpoint/2010/main" val="1628951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Hash Function Cryptography</a:t>
            </a:r>
          </a:p>
          <a:p>
            <a:pPr marL="0" indent="0">
              <a:buNone/>
              <a:defRPr/>
            </a:pPr>
            <a:r>
              <a:rPr lang="en-GB" altLang="en-US" sz="2400" b="1" dirty="0"/>
              <a:t>Popular message digest algorithms: </a:t>
            </a:r>
          </a:p>
          <a:p>
            <a:pPr lvl="1">
              <a:defRPr/>
            </a:pPr>
            <a:r>
              <a:rPr lang="en-GB" altLang="en-US" sz="2000" dirty="0"/>
              <a:t>MD5, RIPE-MD, HAVAL, </a:t>
            </a:r>
          </a:p>
          <a:p>
            <a:pPr lvl="1">
              <a:defRPr/>
            </a:pPr>
            <a:r>
              <a:rPr lang="en-GB" altLang="en-US" sz="2000" dirty="0"/>
              <a:t>FIPS 186-2: SHA-1, SHA-224, SHA-256, SHA-384, SHA-512.</a:t>
            </a:r>
          </a:p>
          <a:p>
            <a:pPr marL="0" indent="0">
              <a:buNone/>
              <a:defRPr/>
            </a:pPr>
            <a:r>
              <a:rPr lang="en-GB" altLang="en-US" sz="2400" b="1" dirty="0"/>
              <a:t>Popular digital signature algorithms: </a:t>
            </a:r>
          </a:p>
          <a:p>
            <a:pPr lvl="1">
              <a:defRPr/>
            </a:pPr>
            <a:r>
              <a:rPr lang="en-GB" altLang="en-US" sz="2000" dirty="0" err="1"/>
              <a:t>ElGamal</a:t>
            </a:r>
            <a:r>
              <a:rPr lang="en-GB" altLang="en-US" sz="2000" dirty="0"/>
              <a:t>, </a:t>
            </a:r>
          </a:p>
          <a:p>
            <a:pPr lvl="1">
              <a:defRPr/>
            </a:pPr>
            <a:r>
              <a:rPr lang="en-GB" altLang="en-US" sz="2000" dirty="0"/>
              <a:t>FIPS 180-2: DSA, EC-DSA</a:t>
            </a:r>
            <a:endParaRPr lang="pt-BR" sz="2000" dirty="0">
              <a:ea typeface="ＭＳ Ｐゴシック" panose="020B0600070205080204" pitchFamily="34" charset="-128"/>
            </a:endParaRPr>
          </a:p>
        </p:txBody>
      </p:sp>
    </p:spTree>
    <p:extLst>
      <p:ext uri="{BB962C8B-B14F-4D97-AF65-F5344CB8AC3E}">
        <p14:creationId xmlns:p14="http://schemas.microsoft.com/office/powerpoint/2010/main" val="2803846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Hash Function Cryptography – Keyed Digest</a:t>
            </a:r>
          </a:p>
          <a:p>
            <a:pPr>
              <a:defRPr/>
            </a:pPr>
            <a:r>
              <a:rPr lang="en-GB" altLang="en-US" sz="2400" dirty="0"/>
              <a:t>Keyed digest is used to provide authentication function.  The output fixed-size “hash value” is called:</a:t>
            </a:r>
          </a:p>
          <a:p>
            <a:pPr lvl="1">
              <a:defRPr/>
            </a:pPr>
            <a:r>
              <a:rPr lang="en-GB" altLang="en-US" sz="2000" dirty="0"/>
              <a:t>Message Authentication Code (MAC): Secret key + message. (a.k.a. Message Integrity Code (MIC) and Keyed-Hash MAC (HMAC).</a:t>
            </a:r>
          </a:p>
          <a:p>
            <a:pPr lvl="1">
              <a:defRPr/>
            </a:pPr>
            <a:endParaRPr lang="en-GB" altLang="en-US" sz="2000" dirty="0"/>
          </a:p>
        </p:txBody>
      </p:sp>
      <p:graphicFrame>
        <p:nvGraphicFramePr>
          <p:cNvPr id="2" name="Object 4">
            <a:extLst>
              <a:ext uri="{FF2B5EF4-FFF2-40B4-BE49-F238E27FC236}">
                <a16:creationId xmlns:a16="http://schemas.microsoft.com/office/drawing/2014/main" id="{A958A626-089F-6ADE-AF29-DE5E0344D5E9}"/>
              </a:ext>
            </a:extLst>
          </p:cNvPr>
          <p:cNvGraphicFramePr>
            <a:graphicFrameLocks noChangeAspect="1"/>
          </p:cNvGraphicFramePr>
          <p:nvPr>
            <p:extLst>
              <p:ext uri="{D42A27DB-BD31-4B8C-83A1-F6EECF244321}">
                <p14:modId xmlns:p14="http://schemas.microsoft.com/office/powerpoint/2010/main" val="4161846105"/>
              </p:ext>
            </p:extLst>
          </p:nvPr>
        </p:nvGraphicFramePr>
        <p:xfrm>
          <a:off x="762001" y="4038600"/>
          <a:ext cx="6400800" cy="2862297"/>
        </p:xfrm>
        <a:graphic>
          <a:graphicData uri="http://schemas.openxmlformats.org/presentationml/2006/ole">
            <mc:AlternateContent xmlns:mc="http://schemas.openxmlformats.org/markup-compatibility/2006">
              <mc:Choice xmlns:v="urn:schemas-microsoft-com:vml" Requires="v">
                <p:oleObj name="Visio" r:id="rId3" imgW="8253115" imgH="3689211" progId="Visio.Drawing.11">
                  <p:embed/>
                </p:oleObj>
              </mc:Choice>
              <mc:Fallback>
                <p:oleObj name="Visio" r:id="rId3" imgW="8253115" imgH="3689211" progId="Visio.Drawing.11">
                  <p:embed/>
                  <p:pic>
                    <p:nvPicPr>
                      <p:cNvPr id="7485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1" y="4038600"/>
                        <a:ext cx="6400800" cy="2862297"/>
                      </a:xfrm>
                      <a:prstGeom prst="rect">
                        <a:avLst/>
                      </a:prstGeom>
                      <a:noFill/>
                    </p:spPr>
                  </p:pic>
                </p:oleObj>
              </mc:Fallback>
            </mc:AlternateContent>
          </a:graphicData>
        </a:graphic>
      </p:graphicFrame>
    </p:spTree>
    <p:extLst>
      <p:ext uri="{BB962C8B-B14F-4D97-AF65-F5344CB8AC3E}">
        <p14:creationId xmlns:p14="http://schemas.microsoft.com/office/powerpoint/2010/main" val="716483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Hash Function Cryptography – Digital Signature</a:t>
            </a:r>
          </a:p>
          <a:p>
            <a:pPr>
              <a:defRPr/>
            </a:pPr>
            <a:r>
              <a:rPr lang="en-GB" altLang="en-US" sz="2400" dirty="0"/>
              <a:t>Digital signature (or digital fingerprint) is used to provide non-repudiation function.</a:t>
            </a:r>
          </a:p>
          <a:p>
            <a:pPr lvl="1">
              <a:defRPr/>
            </a:pPr>
            <a:r>
              <a:rPr lang="en-GB" altLang="en-US" sz="2000" dirty="0"/>
              <a:t>Digital signature is a hybrid cryptography that uses non-keyed hash function and asymmetric key-pair (public key &amp; private key).</a:t>
            </a:r>
          </a:p>
          <a:p>
            <a:pPr lvl="1">
              <a:defRPr/>
            </a:pPr>
            <a:endParaRPr lang="en-GB" altLang="en-US" sz="2000" dirty="0"/>
          </a:p>
        </p:txBody>
      </p:sp>
      <p:graphicFrame>
        <p:nvGraphicFramePr>
          <p:cNvPr id="3" name="Object 4">
            <a:extLst>
              <a:ext uri="{FF2B5EF4-FFF2-40B4-BE49-F238E27FC236}">
                <a16:creationId xmlns:a16="http://schemas.microsoft.com/office/drawing/2014/main" id="{603B998E-620F-41EE-AC82-429CAACEFB94}"/>
              </a:ext>
            </a:extLst>
          </p:cNvPr>
          <p:cNvGraphicFramePr>
            <a:graphicFrameLocks noChangeAspect="1"/>
          </p:cNvGraphicFramePr>
          <p:nvPr>
            <p:extLst>
              <p:ext uri="{D42A27DB-BD31-4B8C-83A1-F6EECF244321}">
                <p14:modId xmlns:p14="http://schemas.microsoft.com/office/powerpoint/2010/main" val="1030829441"/>
              </p:ext>
            </p:extLst>
          </p:nvPr>
        </p:nvGraphicFramePr>
        <p:xfrm>
          <a:off x="990600" y="3704178"/>
          <a:ext cx="5791200" cy="3186952"/>
        </p:xfrm>
        <a:graphic>
          <a:graphicData uri="http://schemas.openxmlformats.org/presentationml/2006/ole">
            <mc:AlternateContent xmlns:mc="http://schemas.openxmlformats.org/markup-compatibility/2006">
              <mc:Choice xmlns:v="urn:schemas-microsoft-com:vml" Requires="v">
                <p:oleObj name="Visio" r:id="rId3" imgW="8258115" imgH="4543485" progId="Visio.Drawing.11">
                  <p:embed/>
                </p:oleObj>
              </mc:Choice>
              <mc:Fallback>
                <p:oleObj name="Visio" r:id="rId3" imgW="8258115" imgH="4543485" progId="Visio.Drawing.11">
                  <p:embed/>
                  <p:pic>
                    <p:nvPicPr>
                      <p:cNvPr id="75059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704178"/>
                        <a:ext cx="5791200" cy="3186952"/>
                      </a:xfrm>
                      <a:prstGeom prst="rect">
                        <a:avLst/>
                      </a:prstGeom>
                      <a:noFill/>
                    </p:spPr>
                  </p:pic>
                </p:oleObj>
              </mc:Fallback>
            </mc:AlternateContent>
          </a:graphicData>
        </a:graphic>
      </p:graphicFrame>
    </p:spTree>
    <p:extLst>
      <p:ext uri="{BB962C8B-B14F-4D97-AF65-F5344CB8AC3E}">
        <p14:creationId xmlns:p14="http://schemas.microsoft.com/office/powerpoint/2010/main" val="408405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Symmetric Key Cryptography</a:t>
            </a:r>
          </a:p>
          <a:p>
            <a:pPr>
              <a:defRPr/>
            </a:pPr>
            <a:r>
              <a:rPr lang="en-GB" altLang="en-US" sz="2400" dirty="0"/>
              <a:t>Symmetric key cryptography involves a single secret (symmetric) key.</a:t>
            </a:r>
          </a:p>
          <a:p>
            <a:pPr lvl="1">
              <a:defRPr/>
            </a:pPr>
            <a:r>
              <a:rPr lang="en-GB" altLang="en-US" sz="2000" dirty="0"/>
              <a:t>Both the sender and the recipient must have the same secret key.</a:t>
            </a:r>
          </a:p>
          <a:p>
            <a:pPr lvl="1">
              <a:defRPr/>
            </a:pPr>
            <a:r>
              <a:rPr lang="en-GB" altLang="en-US" sz="2000" dirty="0"/>
              <a:t>It is used by the sender to encrypt the message and by the recipient to decrypt it.</a:t>
            </a:r>
          </a:p>
          <a:p>
            <a:pPr lvl="1">
              <a:defRPr/>
            </a:pPr>
            <a:endParaRPr lang="en-GB" altLang="en-US" sz="2000" dirty="0"/>
          </a:p>
        </p:txBody>
      </p:sp>
      <p:graphicFrame>
        <p:nvGraphicFramePr>
          <p:cNvPr id="2" name="Object 4">
            <a:extLst>
              <a:ext uri="{FF2B5EF4-FFF2-40B4-BE49-F238E27FC236}">
                <a16:creationId xmlns:a16="http://schemas.microsoft.com/office/drawing/2014/main" id="{4DB50A5A-1BA9-0E85-95BC-CFEB6372F070}"/>
              </a:ext>
            </a:extLst>
          </p:cNvPr>
          <p:cNvGraphicFramePr>
            <a:graphicFrameLocks noChangeAspect="1"/>
          </p:cNvGraphicFramePr>
          <p:nvPr>
            <p:extLst>
              <p:ext uri="{D42A27DB-BD31-4B8C-83A1-F6EECF244321}">
                <p14:modId xmlns:p14="http://schemas.microsoft.com/office/powerpoint/2010/main" val="1696444958"/>
              </p:ext>
            </p:extLst>
          </p:nvPr>
        </p:nvGraphicFramePr>
        <p:xfrm>
          <a:off x="1044065" y="4229100"/>
          <a:ext cx="7055869" cy="2743200"/>
        </p:xfrm>
        <a:graphic>
          <a:graphicData uri="http://schemas.openxmlformats.org/presentationml/2006/ole">
            <mc:AlternateContent xmlns:mc="http://schemas.openxmlformats.org/markup-compatibility/2006">
              <mc:Choice xmlns:v="urn:schemas-microsoft-com:vml" Requires="v">
                <p:oleObj name="Visio" r:id="rId3" imgW="8482310" imgH="3299162" progId="Visio.Drawing.11">
                  <p:embed/>
                </p:oleObj>
              </mc:Choice>
              <mc:Fallback>
                <p:oleObj name="Visio" r:id="rId3" imgW="8482310" imgH="3299162" progId="Visio.Drawing.11">
                  <p:embed/>
                  <p:pic>
                    <p:nvPicPr>
                      <p:cNvPr id="7526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065" y="4229100"/>
                        <a:ext cx="7055869" cy="2743200"/>
                      </a:xfrm>
                      <a:prstGeom prst="rect">
                        <a:avLst/>
                      </a:prstGeom>
                      <a:noFill/>
                    </p:spPr>
                  </p:pic>
                </p:oleObj>
              </mc:Fallback>
            </mc:AlternateContent>
          </a:graphicData>
        </a:graphic>
      </p:graphicFrame>
    </p:spTree>
    <p:extLst>
      <p:ext uri="{BB962C8B-B14F-4D97-AF65-F5344CB8AC3E}">
        <p14:creationId xmlns:p14="http://schemas.microsoft.com/office/powerpoint/2010/main" val="128906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Symmetric Key Cryptography</a:t>
            </a:r>
          </a:p>
          <a:p>
            <a:pPr>
              <a:defRPr/>
            </a:pPr>
            <a:r>
              <a:rPr lang="en-GB" altLang="en-US" sz="2400" dirty="0"/>
              <a:t>The same secret key has to be possessed by both parties.</a:t>
            </a:r>
          </a:p>
          <a:p>
            <a:pPr lvl="1">
              <a:defRPr/>
            </a:pPr>
            <a:r>
              <a:rPr lang="en-GB" altLang="en-US" sz="2000" dirty="0"/>
              <a:t>Requires a secure mechanism to deliver keys.</a:t>
            </a:r>
          </a:p>
          <a:p>
            <a:pPr>
              <a:defRPr/>
            </a:pPr>
            <a:r>
              <a:rPr lang="en-GB" altLang="en-US" sz="2400" dirty="0"/>
              <a:t>Each pair of users needs a unique key.</a:t>
            </a:r>
          </a:p>
          <a:p>
            <a:pPr lvl="1">
              <a:defRPr/>
            </a:pPr>
            <a:r>
              <a:rPr lang="en-GB" altLang="en-US" sz="2000" dirty="0"/>
              <a:t>Key management can be difficult as the number of users grows.</a:t>
            </a:r>
          </a:p>
          <a:p>
            <a:pPr>
              <a:defRPr/>
            </a:pPr>
            <a:r>
              <a:rPr lang="en-GB" altLang="en-US" sz="2400" dirty="0"/>
              <a:t>Symmetric key cryptography provides confidentiality only.  Need to combine with MAC for message integrity and authentication.</a:t>
            </a:r>
          </a:p>
          <a:p>
            <a:pPr>
              <a:defRPr/>
            </a:pPr>
            <a:r>
              <a:rPr lang="en-GB" altLang="en-US" sz="2400" dirty="0"/>
              <a:t>Popular symmetric key algorithms: DES, 3DES, AES, RC6</a:t>
            </a:r>
          </a:p>
          <a:p>
            <a:pPr lvl="1">
              <a:defRPr/>
            </a:pPr>
            <a:endParaRPr lang="en-GB" altLang="en-US" sz="2000" dirty="0"/>
          </a:p>
        </p:txBody>
      </p:sp>
    </p:spTree>
    <p:extLst>
      <p:ext uri="{BB962C8B-B14F-4D97-AF65-F5344CB8AC3E}">
        <p14:creationId xmlns:p14="http://schemas.microsoft.com/office/powerpoint/2010/main" val="3532579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Symmetric Key Cryptography – Algorithms</a:t>
            </a:r>
          </a:p>
          <a:p>
            <a:pPr marL="0" indent="0">
              <a:buNone/>
              <a:defRPr/>
            </a:pPr>
            <a:r>
              <a:rPr lang="en-GB" altLang="en-US" sz="2400" dirty="0"/>
              <a:t>There are two (2) ciphers that uses symmetric key algorithms for encryption:</a:t>
            </a:r>
          </a:p>
          <a:p>
            <a:pPr>
              <a:defRPr/>
            </a:pPr>
            <a:r>
              <a:rPr lang="en-GB" altLang="en-US" sz="2400" dirty="0"/>
              <a:t>Block ciphers</a:t>
            </a:r>
          </a:p>
          <a:p>
            <a:pPr lvl="1">
              <a:defRPr/>
            </a:pPr>
            <a:r>
              <a:rPr lang="en-GB" altLang="en-US" sz="2000" dirty="0"/>
              <a:t>Taking a fixed-length block of plaintext data and create a block of ciphertext data of same length.</a:t>
            </a:r>
          </a:p>
          <a:p>
            <a:pPr>
              <a:defRPr/>
            </a:pPr>
            <a:r>
              <a:rPr lang="en-GB" altLang="en-US" sz="2400" dirty="0"/>
              <a:t>Stream ciphers</a:t>
            </a:r>
          </a:p>
          <a:p>
            <a:pPr lvl="1">
              <a:defRPr/>
            </a:pPr>
            <a:r>
              <a:rPr lang="en-GB" altLang="en-US" sz="2000" dirty="0"/>
              <a:t>Generating a keystream (sequence of bits), combining the keystream with plaintext data, bit-by-bit using XOR operations and create a stream of ciphertext data.</a:t>
            </a:r>
          </a:p>
          <a:p>
            <a:pPr lvl="1">
              <a:defRPr/>
            </a:pPr>
            <a:endParaRPr lang="en-GB" altLang="en-US" sz="2000" dirty="0"/>
          </a:p>
        </p:txBody>
      </p:sp>
    </p:spTree>
    <p:extLst>
      <p:ext uri="{BB962C8B-B14F-4D97-AF65-F5344CB8AC3E}">
        <p14:creationId xmlns:p14="http://schemas.microsoft.com/office/powerpoint/2010/main" val="1460935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Stream Cipher – XOR Operation</a:t>
            </a:r>
          </a:p>
          <a:p>
            <a:pPr>
              <a:defRPr/>
            </a:pPr>
            <a:r>
              <a:rPr lang="en-GB" altLang="en-US" sz="2400" dirty="0"/>
              <a:t>Exclusive-OR (XOR) is an operation that is applied to two bits.   </a:t>
            </a:r>
          </a:p>
          <a:p>
            <a:pPr>
              <a:defRPr/>
            </a:pPr>
            <a:r>
              <a:rPr lang="en-GB" altLang="en-US" sz="2400" dirty="0"/>
              <a:t>It is a function in binary mathematics</a:t>
            </a:r>
          </a:p>
          <a:p>
            <a:pPr lvl="1">
              <a:defRPr/>
            </a:pPr>
            <a:r>
              <a:rPr lang="en-GB" altLang="en-US" sz="2400" dirty="0"/>
              <a:t>	</a:t>
            </a:r>
            <a:r>
              <a:rPr lang="en-GB" altLang="en-US" sz="2000" dirty="0"/>
              <a:t>if both bits are the same, the result is zero (0)</a:t>
            </a:r>
          </a:p>
          <a:p>
            <a:pPr marL="0" indent="0">
              <a:buNone/>
              <a:defRPr/>
            </a:pPr>
            <a:r>
              <a:rPr lang="en-GB" altLang="en-US" sz="2400" dirty="0"/>
              <a:t>	0 ⊕ 0 = 0</a:t>
            </a:r>
          </a:p>
          <a:p>
            <a:pPr marL="0" indent="0">
              <a:buNone/>
              <a:defRPr/>
            </a:pPr>
            <a:r>
              <a:rPr lang="en-GB" altLang="en-US" sz="2400" dirty="0"/>
              <a:t>	1 ⊕ 1 = 0</a:t>
            </a:r>
          </a:p>
          <a:p>
            <a:pPr lvl="1">
              <a:defRPr/>
            </a:pPr>
            <a:r>
              <a:rPr lang="en-GB" altLang="en-US" sz="2000" dirty="0"/>
              <a:t>	If both bits are different, the result is one (1)</a:t>
            </a:r>
          </a:p>
          <a:p>
            <a:pPr marL="0" indent="0">
              <a:buNone/>
              <a:defRPr/>
            </a:pPr>
            <a:r>
              <a:rPr lang="en-GB" altLang="en-US" sz="2400" dirty="0"/>
              <a:t>	0 ⊕ 1 = 1</a:t>
            </a:r>
          </a:p>
          <a:p>
            <a:pPr marL="0" indent="0">
              <a:buNone/>
              <a:defRPr/>
            </a:pPr>
            <a:r>
              <a:rPr lang="en-GB" altLang="en-US" sz="2400" dirty="0"/>
              <a:t>	1 ⊕ 0 = 1</a:t>
            </a:r>
          </a:p>
          <a:p>
            <a:pPr lvl="1">
              <a:defRPr/>
            </a:pPr>
            <a:endParaRPr lang="en-GB" altLang="en-US" sz="2000" dirty="0"/>
          </a:p>
        </p:txBody>
      </p:sp>
      <p:graphicFrame>
        <p:nvGraphicFramePr>
          <p:cNvPr id="2" name="Object 4">
            <a:extLst>
              <a:ext uri="{FF2B5EF4-FFF2-40B4-BE49-F238E27FC236}">
                <a16:creationId xmlns:a16="http://schemas.microsoft.com/office/drawing/2014/main" id="{7ECD136B-84BD-48FB-F56E-5C2137378CBE}"/>
              </a:ext>
            </a:extLst>
          </p:cNvPr>
          <p:cNvGraphicFramePr>
            <a:graphicFrameLocks noChangeAspect="1"/>
          </p:cNvGraphicFramePr>
          <p:nvPr>
            <p:extLst>
              <p:ext uri="{D42A27DB-BD31-4B8C-83A1-F6EECF244321}">
                <p14:modId xmlns:p14="http://schemas.microsoft.com/office/powerpoint/2010/main" val="3752574178"/>
              </p:ext>
            </p:extLst>
          </p:nvPr>
        </p:nvGraphicFramePr>
        <p:xfrm>
          <a:off x="2362200" y="4876800"/>
          <a:ext cx="5638800" cy="1535113"/>
        </p:xfrm>
        <a:graphic>
          <a:graphicData uri="http://schemas.openxmlformats.org/presentationml/2006/ole">
            <mc:AlternateContent xmlns:mc="http://schemas.openxmlformats.org/markup-compatibility/2006">
              <mc:Choice xmlns:v="urn:schemas-microsoft-com:vml" Requires="v">
                <p:oleObj name="Visio" r:id="rId3" imgW="6427401" imgH="1750011" progId="Visio.Drawing.11">
                  <p:embed/>
                </p:oleObj>
              </mc:Choice>
              <mc:Fallback>
                <p:oleObj name="Visio" r:id="rId3" imgW="6427401" imgH="1750011" progId="Visio.Drawing.11">
                  <p:embed/>
                  <p:pic>
                    <p:nvPicPr>
                      <p:cNvPr id="76288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876800"/>
                        <a:ext cx="5638800" cy="1535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596606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Stream Cipher – XOR Operation</a:t>
            </a:r>
          </a:p>
          <a:p>
            <a:pPr lvl="1">
              <a:defRPr/>
            </a:pPr>
            <a:endParaRPr lang="en-GB" altLang="en-US" sz="2000" dirty="0"/>
          </a:p>
        </p:txBody>
      </p:sp>
      <p:sp>
        <p:nvSpPr>
          <p:cNvPr id="3" name="Rectangle 3">
            <a:extLst>
              <a:ext uri="{FF2B5EF4-FFF2-40B4-BE49-F238E27FC236}">
                <a16:creationId xmlns:a16="http://schemas.microsoft.com/office/drawing/2014/main" id="{1926900C-D357-B676-C049-1C9D26D20158}"/>
              </a:ext>
            </a:extLst>
          </p:cNvPr>
          <p:cNvSpPr>
            <a:spLocks noChangeArrowheads="1"/>
          </p:cNvSpPr>
          <p:nvPr/>
        </p:nvSpPr>
        <p:spPr bwMode="auto">
          <a:xfrm>
            <a:off x="152400" y="2438400"/>
            <a:ext cx="7974816" cy="3962400"/>
          </a:xfrm>
          <a:prstGeom prst="rect">
            <a:avLst/>
          </a:prstGeom>
          <a:noFill/>
          <a:ln w="9525">
            <a:noFill/>
            <a:miter lim="800000"/>
            <a:headEnd/>
            <a:tailEnd/>
          </a:ln>
          <a:effectLst/>
        </p:spPr>
        <p:txBody>
          <a:bodyPr/>
          <a:lstStyle/>
          <a:p>
            <a:pPr marL="342900" indent="-342900">
              <a:spcBef>
                <a:spcPct val="20000"/>
              </a:spcBef>
            </a:pPr>
            <a:r>
              <a:rPr lang="en-US" sz="2400" dirty="0">
                <a:solidFill>
                  <a:srgbClr val="003399"/>
                </a:solidFill>
              </a:rPr>
              <a:t>Message 			</a:t>
            </a:r>
            <a:r>
              <a:rPr lang="en-US" sz="2400" dirty="0">
                <a:solidFill>
                  <a:srgbClr val="003399"/>
                </a:solidFill>
                <a:latin typeface="Lucida Console" pitchFamily="49" charset="0"/>
              </a:rPr>
              <a:t>01011010 =&gt; ASCII “Z”</a:t>
            </a:r>
          </a:p>
          <a:p>
            <a:pPr marL="342900" indent="-342900">
              <a:spcBef>
                <a:spcPct val="20000"/>
              </a:spcBef>
            </a:pPr>
            <a:r>
              <a:rPr lang="en-US" sz="2400" dirty="0">
                <a:solidFill>
                  <a:srgbClr val="003399"/>
                </a:solidFill>
              </a:rPr>
              <a:t>Keystream			</a:t>
            </a:r>
            <a:r>
              <a:rPr lang="en-US" sz="2400" dirty="0">
                <a:solidFill>
                  <a:srgbClr val="003399"/>
                </a:solidFill>
                <a:latin typeface="Lucida Console" pitchFamily="49" charset="0"/>
              </a:rPr>
              <a:t>01100011 =&gt; ASCII “c”</a:t>
            </a:r>
          </a:p>
          <a:p>
            <a:pPr marL="342900" indent="-342900">
              <a:spcBef>
                <a:spcPct val="20000"/>
              </a:spcBef>
            </a:pPr>
            <a:endParaRPr lang="en-US" sz="2400" dirty="0">
              <a:solidFill>
                <a:srgbClr val="003399"/>
              </a:solidFill>
              <a:latin typeface="Lucida Console" pitchFamily="49" charset="0"/>
            </a:endParaRPr>
          </a:p>
          <a:p>
            <a:pPr marL="342900" indent="-342900">
              <a:spcBef>
                <a:spcPct val="20000"/>
              </a:spcBef>
            </a:pPr>
            <a:r>
              <a:rPr lang="en-US" sz="2400" dirty="0">
                <a:solidFill>
                  <a:srgbClr val="003399"/>
                </a:solidFill>
              </a:rPr>
              <a:t>Ciphertext 			</a:t>
            </a:r>
            <a:r>
              <a:rPr lang="en-US" sz="2400" dirty="0">
                <a:solidFill>
                  <a:srgbClr val="003399"/>
                </a:solidFill>
                <a:latin typeface="Lucida Console" pitchFamily="49" charset="0"/>
              </a:rPr>
              <a:t>00111001 =&gt; ASCII “9”</a:t>
            </a:r>
          </a:p>
          <a:p>
            <a:pPr marL="342900" indent="-342900">
              <a:spcBef>
                <a:spcPct val="20000"/>
              </a:spcBef>
            </a:pPr>
            <a:r>
              <a:rPr lang="en-US" sz="2400" dirty="0">
                <a:solidFill>
                  <a:srgbClr val="003399"/>
                </a:solidFill>
              </a:rPr>
              <a:t>--------------------------------------------------------------------------------</a:t>
            </a:r>
          </a:p>
          <a:p>
            <a:pPr marL="342900" indent="-342900">
              <a:spcBef>
                <a:spcPct val="20000"/>
              </a:spcBef>
            </a:pPr>
            <a:r>
              <a:rPr lang="en-US" sz="2400" dirty="0">
                <a:solidFill>
                  <a:srgbClr val="003399"/>
                </a:solidFill>
              </a:rPr>
              <a:t>Ciphertext 			</a:t>
            </a:r>
            <a:r>
              <a:rPr lang="en-US" sz="2400" dirty="0">
                <a:solidFill>
                  <a:srgbClr val="003399"/>
                </a:solidFill>
                <a:latin typeface="Lucida Console" pitchFamily="49" charset="0"/>
              </a:rPr>
              <a:t>00111001 =&gt; ASCII “9”</a:t>
            </a:r>
          </a:p>
          <a:p>
            <a:pPr marL="342900" indent="-342900">
              <a:spcBef>
                <a:spcPct val="20000"/>
              </a:spcBef>
            </a:pPr>
            <a:r>
              <a:rPr lang="en-US" sz="2400" dirty="0">
                <a:solidFill>
                  <a:srgbClr val="003399"/>
                </a:solidFill>
              </a:rPr>
              <a:t>Keystream			</a:t>
            </a:r>
            <a:r>
              <a:rPr lang="en-US" sz="2400" dirty="0">
                <a:solidFill>
                  <a:srgbClr val="003399"/>
                </a:solidFill>
                <a:latin typeface="Lucida Console" pitchFamily="49" charset="0"/>
              </a:rPr>
              <a:t>01100011 =&gt; ASCII “c”</a:t>
            </a:r>
          </a:p>
          <a:p>
            <a:pPr marL="342900" indent="-342900">
              <a:spcBef>
                <a:spcPct val="20000"/>
              </a:spcBef>
            </a:pPr>
            <a:endParaRPr lang="en-US" sz="2400" dirty="0">
              <a:solidFill>
                <a:srgbClr val="003399"/>
              </a:solidFill>
              <a:latin typeface="Lucida Console" pitchFamily="49" charset="0"/>
            </a:endParaRPr>
          </a:p>
          <a:p>
            <a:pPr marL="342900" indent="-342900">
              <a:spcBef>
                <a:spcPct val="20000"/>
              </a:spcBef>
            </a:pPr>
            <a:r>
              <a:rPr lang="en-US" sz="2400" dirty="0">
                <a:solidFill>
                  <a:srgbClr val="003399"/>
                </a:solidFill>
              </a:rPr>
              <a:t>Message 			</a:t>
            </a:r>
            <a:r>
              <a:rPr lang="en-US" sz="2400" dirty="0">
                <a:solidFill>
                  <a:srgbClr val="003399"/>
                </a:solidFill>
                <a:latin typeface="Lucida Console" pitchFamily="49" charset="0"/>
              </a:rPr>
              <a:t>01011010 =&gt; ASCII “Z”</a:t>
            </a:r>
          </a:p>
        </p:txBody>
      </p:sp>
    </p:spTree>
    <p:extLst>
      <p:ext uri="{BB962C8B-B14F-4D97-AF65-F5344CB8AC3E}">
        <p14:creationId xmlns:p14="http://schemas.microsoft.com/office/powerpoint/2010/main" val="12091096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Stream Cipher – XOR Operation</a:t>
            </a:r>
          </a:p>
          <a:p>
            <a:pPr lvl="1">
              <a:defRPr/>
            </a:pPr>
            <a:endParaRPr lang="en-GB" altLang="en-US" sz="2000" dirty="0"/>
          </a:p>
        </p:txBody>
      </p:sp>
      <p:sp>
        <p:nvSpPr>
          <p:cNvPr id="3" name="Rectangle 3">
            <a:extLst>
              <a:ext uri="{FF2B5EF4-FFF2-40B4-BE49-F238E27FC236}">
                <a16:creationId xmlns:a16="http://schemas.microsoft.com/office/drawing/2014/main" id="{1926900C-D357-B676-C049-1C9D26D20158}"/>
              </a:ext>
            </a:extLst>
          </p:cNvPr>
          <p:cNvSpPr>
            <a:spLocks noChangeArrowheads="1"/>
          </p:cNvSpPr>
          <p:nvPr/>
        </p:nvSpPr>
        <p:spPr bwMode="auto">
          <a:xfrm>
            <a:off x="152400" y="2438400"/>
            <a:ext cx="7974816" cy="3962400"/>
          </a:xfrm>
          <a:prstGeom prst="rect">
            <a:avLst/>
          </a:prstGeom>
          <a:noFill/>
          <a:ln w="9525">
            <a:noFill/>
            <a:miter lim="800000"/>
            <a:headEnd/>
            <a:tailEnd/>
          </a:ln>
          <a:effectLst/>
        </p:spPr>
        <p:txBody>
          <a:bodyPr/>
          <a:lstStyle/>
          <a:p>
            <a:pPr marL="342900" indent="-342900">
              <a:spcBef>
                <a:spcPct val="20000"/>
              </a:spcBef>
            </a:pPr>
            <a:r>
              <a:rPr lang="en-US" sz="2400" dirty="0">
                <a:solidFill>
                  <a:srgbClr val="003399"/>
                </a:solidFill>
              </a:rPr>
              <a:t>Message 			</a:t>
            </a:r>
            <a:r>
              <a:rPr lang="en-US" sz="2400" dirty="0">
                <a:solidFill>
                  <a:srgbClr val="003399"/>
                </a:solidFill>
                <a:latin typeface="Lucida Console" pitchFamily="49" charset="0"/>
              </a:rPr>
              <a:t>01011010 =&gt; ASCII “Z”</a:t>
            </a:r>
          </a:p>
          <a:p>
            <a:pPr marL="342900" indent="-342900">
              <a:spcBef>
                <a:spcPct val="20000"/>
              </a:spcBef>
            </a:pPr>
            <a:r>
              <a:rPr lang="en-US" sz="2400" dirty="0">
                <a:solidFill>
                  <a:srgbClr val="003399"/>
                </a:solidFill>
              </a:rPr>
              <a:t>Keystream			</a:t>
            </a:r>
            <a:r>
              <a:rPr lang="en-US" sz="2400" dirty="0">
                <a:solidFill>
                  <a:srgbClr val="003399"/>
                </a:solidFill>
                <a:latin typeface="Lucida Console" pitchFamily="49" charset="0"/>
              </a:rPr>
              <a:t>01100011 =&gt; ASCII “c”</a:t>
            </a:r>
          </a:p>
          <a:p>
            <a:pPr marL="342900" indent="-342900">
              <a:spcBef>
                <a:spcPct val="20000"/>
              </a:spcBef>
            </a:pPr>
            <a:endParaRPr lang="en-US" sz="2400" dirty="0">
              <a:solidFill>
                <a:srgbClr val="003399"/>
              </a:solidFill>
              <a:latin typeface="Lucida Console" pitchFamily="49" charset="0"/>
            </a:endParaRPr>
          </a:p>
          <a:p>
            <a:pPr marL="342900" indent="-342900">
              <a:spcBef>
                <a:spcPct val="20000"/>
              </a:spcBef>
            </a:pPr>
            <a:r>
              <a:rPr lang="en-US" sz="2400" dirty="0">
                <a:solidFill>
                  <a:srgbClr val="003399"/>
                </a:solidFill>
              </a:rPr>
              <a:t>Ciphertext 			</a:t>
            </a:r>
            <a:r>
              <a:rPr lang="en-US" sz="2400" dirty="0">
                <a:solidFill>
                  <a:srgbClr val="003399"/>
                </a:solidFill>
                <a:latin typeface="Lucida Console" pitchFamily="49" charset="0"/>
              </a:rPr>
              <a:t>00111001 =&gt; ASCII “9”</a:t>
            </a:r>
          </a:p>
          <a:p>
            <a:pPr marL="342900" indent="-342900">
              <a:spcBef>
                <a:spcPct val="20000"/>
              </a:spcBef>
            </a:pPr>
            <a:r>
              <a:rPr lang="en-US" sz="2400" dirty="0">
                <a:solidFill>
                  <a:srgbClr val="003399"/>
                </a:solidFill>
              </a:rPr>
              <a:t>--------------------------------------------------------------------------------</a:t>
            </a:r>
          </a:p>
          <a:p>
            <a:pPr marL="342900" indent="-342900">
              <a:spcBef>
                <a:spcPct val="20000"/>
              </a:spcBef>
            </a:pPr>
            <a:r>
              <a:rPr lang="en-US" sz="2400" dirty="0">
                <a:solidFill>
                  <a:srgbClr val="003399"/>
                </a:solidFill>
              </a:rPr>
              <a:t>Ciphertext 			</a:t>
            </a:r>
            <a:r>
              <a:rPr lang="en-US" sz="2400" dirty="0">
                <a:solidFill>
                  <a:srgbClr val="003399"/>
                </a:solidFill>
                <a:latin typeface="Lucida Console" pitchFamily="49" charset="0"/>
              </a:rPr>
              <a:t>00111001 =&gt; ASCII “9”</a:t>
            </a:r>
          </a:p>
          <a:p>
            <a:pPr marL="342900" indent="-342900">
              <a:spcBef>
                <a:spcPct val="20000"/>
              </a:spcBef>
            </a:pPr>
            <a:r>
              <a:rPr lang="en-US" sz="2400" dirty="0">
                <a:solidFill>
                  <a:srgbClr val="003399"/>
                </a:solidFill>
              </a:rPr>
              <a:t>Keystream			</a:t>
            </a:r>
            <a:r>
              <a:rPr lang="en-US" sz="2400" dirty="0">
                <a:solidFill>
                  <a:srgbClr val="003399"/>
                </a:solidFill>
                <a:latin typeface="Lucida Console" pitchFamily="49" charset="0"/>
              </a:rPr>
              <a:t>01100011 =&gt; ASCII “c”</a:t>
            </a:r>
          </a:p>
          <a:p>
            <a:pPr marL="342900" indent="-342900">
              <a:spcBef>
                <a:spcPct val="20000"/>
              </a:spcBef>
            </a:pPr>
            <a:endParaRPr lang="en-US" sz="2400" dirty="0">
              <a:solidFill>
                <a:srgbClr val="003399"/>
              </a:solidFill>
              <a:latin typeface="Lucida Console" pitchFamily="49" charset="0"/>
            </a:endParaRPr>
          </a:p>
          <a:p>
            <a:pPr marL="342900" indent="-342900">
              <a:spcBef>
                <a:spcPct val="20000"/>
              </a:spcBef>
            </a:pPr>
            <a:r>
              <a:rPr lang="en-US" sz="2400" dirty="0">
                <a:solidFill>
                  <a:srgbClr val="003399"/>
                </a:solidFill>
              </a:rPr>
              <a:t>Message 			</a:t>
            </a:r>
            <a:r>
              <a:rPr lang="en-US" sz="2400" dirty="0">
                <a:solidFill>
                  <a:srgbClr val="003399"/>
                </a:solidFill>
                <a:latin typeface="Lucida Console" pitchFamily="49" charset="0"/>
              </a:rPr>
              <a:t>01011010 =&gt; ASCII “Z”</a:t>
            </a:r>
          </a:p>
        </p:txBody>
      </p:sp>
    </p:spTree>
    <p:extLst>
      <p:ext uri="{BB962C8B-B14F-4D97-AF65-F5344CB8AC3E}">
        <p14:creationId xmlns:p14="http://schemas.microsoft.com/office/powerpoint/2010/main" val="3540270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fr-FR" altLang="en-US" b="1" dirty="0"/>
              <a:t>Block </a:t>
            </a:r>
            <a:r>
              <a:rPr lang="en-GB" altLang="en-US" b="1" dirty="0"/>
              <a:t>Cipher</a:t>
            </a:r>
            <a:r>
              <a:rPr lang="fr-FR" altLang="en-US" b="1" dirty="0"/>
              <a:t> – Confusion vs. Diffusion</a:t>
            </a:r>
          </a:p>
          <a:p>
            <a:pPr marL="0" indent="0">
              <a:buNone/>
              <a:defRPr/>
            </a:pPr>
            <a:r>
              <a:rPr lang="en-GB" altLang="en-US" sz="2400" dirty="0"/>
              <a:t>Block Ciphers use “confusion” and “diffusion” in </a:t>
            </a:r>
            <a:br>
              <a:rPr lang="en-GB" altLang="en-US" sz="2400" dirty="0"/>
            </a:br>
            <a:r>
              <a:rPr lang="en-GB" altLang="en-US" sz="2400" dirty="0"/>
              <a:t>their encryption methods:</a:t>
            </a:r>
          </a:p>
          <a:p>
            <a:pPr>
              <a:defRPr/>
            </a:pPr>
            <a:r>
              <a:rPr lang="en-GB" altLang="en-US" sz="2400" u="sng" dirty="0"/>
              <a:t>Confusion</a:t>
            </a:r>
            <a:r>
              <a:rPr lang="en-GB" altLang="en-US" sz="2400" dirty="0"/>
              <a:t> refers to making the relationship between the </a:t>
            </a:r>
            <a:r>
              <a:rPr lang="en-GB" altLang="en-US" sz="2400" u="sng" dirty="0"/>
              <a:t>key</a:t>
            </a:r>
            <a:r>
              <a:rPr lang="en-GB" altLang="en-US" sz="2400" dirty="0"/>
              <a:t> and the </a:t>
            </a:r>
            <a:r>
              <a:rPr lang="en-GB" altLang="en-US" sz="2400" u="sng" dirty="0"/>
              <a:t>ciphertext</a:t>
            </a:r>
            <a:r>
              <a:rPr lang="en-GB" altLang="en-US" sz="2400" dirty="0"/>
              <a:t> as complex and involved as possible.</a:t>
            </a:r>
          </a:p>
          <a:p>
            <a:pPr lvl="1">
              <a:defRPr/>
            </a:pPr>
            <a:r>
              <a:rPr lang="en-GB" altLang="en-US" sz="2000" dirty="0"/>
              <a:t>One aim of confusion is to make it very hard to find the key even if one has a large number of plaintext-ciphertext pairs produced with the same key. </a:t>
            </a:r>
          </a:p>
          <a:p>
            <a:pPr lvl="1">
              <a:defRPr/>
            </a:pPr>
            <a:r>
              <a:rPr lang="en-GB" altLang="en-US" sz="2000" dirty="0"/>
              <a:t>Therefore, each bit of the ciphertext should depend on the entire key, and in different ways on different bits of the key. </a:t>
            </a:r>
          </a:p>
          <a:p>
            <a:pPr lvl="1">
              <a:defRPr/>
            </a:pPr>
            <a:r>
              <a:rPr lang="en-GB" altLang="en-US" sz="2000" dirty="0"/>
              <a:t>In particular, changing one bit of the key should change the ciphertext completely.</a:t>
            </a:r>
          </a:p>
          <a:p>
            <a:pPr>
              <a:defRPr/>
            </a:pPr>
            <a:endParaRPr lang="en-GB" altLang="en-US" sz="2400" dirty="0"/>
          </a:p>
          <a:p>
            <a:pPr lvl="1">
              <a:defRPr/>
            </a:pPr>
            <a:endParaRPr lang="en-GB" altLang="en-US" sz="2000" dirty="0"/>
          </a:p>
        </p:txBody>
      </p:sp>
    </p:spTree>
    <p:extLst>
      <p:ext uri="{BB962C8B-B14F-4D97-AF65-F5344CB8AC3E}">
        <p14:creationId xmlns:p14="http://schemas.microsoft.com/office/powerpoint/2010/main" val="21283811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fr-FR" altLang="en-US" b="1" dirty="0"/>
              <a:t>Block </a:t>
            </a:r>
            <a:r>
              <a:rPr lang="en-GB" altLang="en-US" b="1" dirty="0"/>
              <a:t>Cipher</a:t>
            </a:r>
            <a:r>
              <a:rPr lang="fr-FR" altLang="en-US" b="1" dirty="0"/>
              <a:t> – Confusion vs. Diffusion</a:t>
            </a:r>
          </a:p>
          <a:p>
            <a:pPr marL="0" indent="0">
              <a:buNone/>
              <a:defRPr/>
            </a:pPr>
            <a:r>
              <a:rPr lang="en-GB" altLang="en-US" sz="2400" dirty="0"/>
              <a:t>Block Ciphers use “confusion” and “diffusion” in </a:t>
            </a:r>
            <a:br>
              <a:rPr lang="en-GB" altLang="en-US" sz="2400" dirty="0"/>
            </a:br>
            <a:r>
              <a:rPr lang="en-GB" altLang="en-US" sz="2400" dirty="0"/>
              <a:t>their encryption methods:</a:t>
            </a:r>
          </a:p>
          <a:p>
            <a:pPr>
              <a:defRPr/>
            </a:pPr>
            <a:r>
              <a:rPr lang="en-GB" altLang="en-US" sz="2400" b="1" u="sng" dirty="0"/>
              <a:t>Diffusion</a:t>
            </a:r>
            <a:r>
              <a:rPr lang="en-GB" altLang="en-US" sz="2400" dirty="0"/>
              <a:t> may be used to define the property that the repetition in the </a:t>
            </a:r>
            <a:r>
              <a:rPr lang="en-GB" altLang="en-US" sz="2400" u="sng" dirty="0"/>
              <a:t>plaintext</a:t>
            </a:r>
            <a:r>
              <a:rPr lang="en-GB" altLang="en-US" sz="2400" dirty="0"/>
              <a:t> statistics "dissipates" in the </a:t>
            </a:r>
            <a:r>
              <a:rPr lang="en-GB" altLang="en-US" sz="2400" u="sng" dirty="0"/>
              <a:t>ciphertext</a:t>
            </a:r>
            <a:r>
              <a:rPr lang="en-GB" altLang="en-US" sz="2400" dirty="0"/>
              <a:t> statistics</a:t>
            </a:r>
          </a:p>
          <a:p>
            <a:pPr lvl="1">
              <a:defRPr/>
            </a:pPr>
            <a:r>
              <a:rPr lang="en-GB" altLang="en-US" sz="2000" dirty="0"/>
              <a:t>Diffusion means that the output bits should depend on the input bits in a very complex way. </a:t>
            </a:r>
          </a:p>
          <a:p>
            <a:pPr lvl="1">
              <a:defRPr/>
            </a:pPr>
            <a:r>
              <a:rPr lang="en-GB" altLang="en-US" sz="2000" dirty="0"/>
              <a:t>In a cipher with good diffusion, if one bit of the plaintext is changed, then the ciphertext should change completely, in an unpredictable.</a:t>
            </a:r>
          </a:p>
          <a:p>
            <a:pPr>
              <a:defRPr/>
            </a:pPr>
            <a:endParaRPr lang="en-GB" altLang="en-US" sz="2400" dirty="0"/>
          </a:p>
          <a:p>
            <a:pPr lvl="1">
              <a:defRPr/>
            </a:pPr>
            <a:endParaRPr lang="en-GB" altLang="en-US" sz="2000" dirty="0"/>
          </a:p>
        </p:txBody>
      </p:sp>
    </p:spTree>
    <p:extLst>
      <p:ext uri="{BB962C8B-B14F-4D97-AF65-F5344CB8AC3E}">
        <p14:creationId xmlns:p14="http://schemas.microsoft.com/office/powerpoint/2010/main" val="2951020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fr-FR" altLang="en-US" b="1" dirty="0" err="1"/>
              <a:t>Asymmetric</a:t>
            </a:r>
            <a:r>
              <a:rPr lang="fr-FR" altLang="en-US" b="1" dirty="0"/>
              <a:t> Key </a:t>
            </a:r>
            <a:r>
              <a:rPr lang="fr-FR" altLang="en-US" b="1" dirty="0" err="1"/>
              <a:t>Cryptography</a:t>
            </a:r>
            <a:endParaRPr lang="fr-FR" altLang="en-US" b="1" dirty="0"/>
          </a:p>
          <a:p>
            <a:pPr marL="0" indent="0">
              <a:buNone/>
              <a:defRPr/>
            </a:pPr>
            <a:r>
              <a:rPr lang="en-GB" altLang="en-US" sz="2400" dirty="0"/>
              <a:t>Asymmetric key cryptography involves two mathematically related but different keys known as a key-pair (a private key &amp; a public key).</a:t>
            </a:r>
          </a:p>
          <a:p>
            <a:pPr>
              <a:defRPr/>
            </a:pPr>
            <a:r>
              <a:rPr lang="en-GB" altLang="en-US" sz="2400" dirty="0"/>
              <a:t>The public key is derived from the private key.</a:t>
            </a:r>
          </a:p>
          <a:p>
            <a:pPr lvl="1">
              <a:defRPr/>
            </a:pPr>
            <a:r>
              <a:rPr lang="en-GB" altLang="en-US" sz="2000" dirty="0"/>
              <a:t>Only the owner has the private key.</a:t>
            </a:r>
          </a:p>
          <a:p>
            <a:pPr lvl="1">
              <a:defRPr/>
            </a:pPr>
            <a:r>
              <a:rPr lang="en-GB" altLang="en-US" sz="2000" dirty="0"/>
              <a:t>The private key cannot be deduced (theoretically) by </a:t>
            </a:r>
            <a:r>
              <a:rPr lang="en-GB" altLang="en-US" sz="2000" dirty="0" err="1"/>
              <a:t>analyzing</a:t>
            </a:r>
            <a:r>
              <a:rPr lang="en-GB" altLang="en-US" sz="2000" dirty="0"/>
              <a:t> the public key.</a:t>
            </a:r>
          </a:p>
          <a:p>
            <a:pPr lvl="1">
              <a:defRPr/>
            </a:pPr>
            <a:endParaRPr lang="en-GB" altLang="en-US" sz="2000" dirty="0"/>
          </a:p>
        </p:txBody>
      </p:sp>
    </p:spTree>
    <p:extLst>
      <p:ext uri="{BB962C8B-B14F-4D97-AF65-F5344CB8AC3E}">
        <p14:creationId xmlns:p14="http://schemas.microsoft.com/office/powerpoint/2010/main" val="16227760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fr-FR" altLang="en-US" b="1" dirty="0" err="1"/>
              <a:t>Asymmetric</a:t>
            </a:r>
            <a:r>
              <a:rPr lang="fr-FR" altLang="en-US" b="1" dirty="0"/>
              <a:t> Key </a:t>
            </a:r>
            <a:r>
              <a:rPr lang="fr-FR" altLang="en-US" b="1" dirty="0" err="1"/>
              <a:t>Cryptography</a:t>
            </a:r>
            <a:endParaRPr lang="fr-FR" altLang="en-US" b="1" dirty="0"/>
          </a:p>
          <a:p>
            <a:pPr>
              <a:defRPr/>
            </a:pPr>
            <a:r>
              <a:rPr lang="en-GB" altLang="en-US" sz="2400" dirty="0"/>
              <a:t>Secure message format:</a:t>
            </a:r>
          </a:p>
          <a:p>
            <a:pPr>
              <a:defRPr/>
            </a:pPr>
            <a:endParaRPr lang="en-GB" altLang="en-US" sz="2400" dirty="0"/>
          </a:p>
          <a:p>
            <a:pPr>
              <a:defRPr/>
            </a:pPr>
            <a:endParaRPr lang="en-GB" altLang="en-US" sz="2400" dirty="0"/>
          </a:p>
          <a:p>
            <a:pPr>
              <a:defRPr/>
            </a:pPr>
            <a:endParaRPr lang="en-GB" altLang="en-US" sz="2400" dirty="0"/>
          </a:p>
          <a:p>
            <a:pPr>
              <a:defRPr/>
            </a:pPr>
            <a:endParaRPr lang="en-GB" altLang="en-US" sz="2400" dirty="0"/>
          </a:p>
          <a:p>
            <a:pPr>
              <a:defRPr/>
            </a:pPr>
            <a:r>
              <a:rPr lang="en-GB" altLang="en-US" sz="2400" dirty="0"/>
              <a:t>Open message format:</a:t>
            </a:r>
          </a:p>
          <a:p>
            <a:pPr>
              <a:defRPr/>
            </a:pPr>
            <a:endParaRPr lang="en-GB" altLang="en-US" sz="2400" dirty="0"/>
          </a:p>
          <a:p>
            <a:pPr lvl="1">
              <a:defRPr/>
            </a:pPr>
            <a:endParaRPr lang="en-GB" altLang="en-US" sz="2000" dirty="0"/>
          </a:p>
        </p:txBody>
      </p:sp>
      <p:graphicFrame>
        <p:nvGraphicFramePr>
          <p:cNvPr id="3" name="Object 2">
            <a:extLst>
              <a:ext uri="{FF2B5EF4-FFF2-40B4-BE49-F238E27FC236}">
                <a16:creationId xmlns:a16="http://schemas.microsoft.com/office/drawing/2014/main" id="{D7C5B922-E026-645A-1B60-EF34B1626751}"/>
              </a:ext>
            </a:extLst>
          </p:cNvPr>
          <p:cNvGraphicFramePr>
            <a:graphicFrameLocks noChangeAspect="1"/>
          </p:cNvGraphicFramePr>
          <p:nvPr>
            <p:extLst>
              <p:ext uri="{D42A27DB-BD31-4B8C-83A1-F6EECF244321}">
                <p14:modId xmlns:p14="http://schemas.microsoft.com/office/powerpoint/2010/main" val="1490686640"/>
              </p:ext>
            </p:extLst>
          </p:nvPr>
        </p:nvGraphicFramePr>
        <p:xfrm>
          <a:off x="3671618" y="2286000"/>
          <a:ext cx="5429247" cy="2047874"/>
        </p:xfrm>
        <a:graphic>
          <a:graphicData uri="http://schemas.openxmlformats.org/presentationml/2006/ole">
            <mc:AlternateContent xmlns:mc="http://schemas.openxmlformats.org/markup-compatibility/2006">
              <mc:Choice xmlns:v="urn:schemas-microsoft-com:vml" Requires="v">
                <p:oleObj name="Visio" r:id="rId3" imgW="8491728" imgH="3156012" progId="Visio.Drawing.11">
                  <p:embed/>
                </p:oleObj>
              </mc:Choice>
              <mc:Fallback>
                <p:oleObj name="Visio" r:id="rId3" imgW="8491728" imgH="3156012" progId="Visio.Drawing.11">
                  <p:embed/>
                  <p:pic>
                    <p:nvPicPr>
                      <p:cNvPr id="95027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1618" y="2286000"/>
                        <a:ext cx="5429247" cy="2047874"/>
                      </a:xfrm>
                      <a:prstGeom prst="rect">
                        <a:avLst/>
                      </a:prstGeom>
                      <a:noFill/>
                    </p:spPr>
                  </p:pic>
                </p:oleObj>
              </mc:Fallback>
            </mc:AlternateContent>
          </a:graphicData>
        </a:graphic>
      </p:graphicFrame>
      <p:graphicFrame>
        <p:nvGraphicFramePr>
          <p:cNvPr id="5" name="Object 2">
            <a:extLst>
              <a:ext uri="{FF2B5EF4-FFF2-40B4-BE49-F238E27FC236}">
                <a16:creationId xmlns:a16="http://schemas.microsoft.com/office/drawing/2014/main" id="{1F501682-AAC4-FA97-C02C-F28511DB40A1}"/>
              </a:ext>
            </a:extLst>
          </p:cNvPr>
          <p:cNvGraphicFramePr>
            <a:graphicFrameLocks noChangeAspect="1"/>
          </p:cNvGraphicFramePr>
          <p:nvPr>
            <p:extLst>
              <p:ext uri="{D42A27DB-BD31-4B8C-83A1-F6EECF244321}">
                <p14:modId xmlns:p14="http://schemas.microsoft.com/office/powerpoint/2010/main" val="2989399238"/>
              </p:ext>
            </p:extLst>
          </p:nvPr>
        </p:nvGraphicFramePr>
        <p:xfrm>
          <a:off x="3694872" y="4773682"/>
          <a:ext cx="5429250" cy="2047875"/>
        </p:xfrm>
        <a:graphic>
          <a:graphicData uri="http://schemas.openxmlformats.org/presentationml/2006/ole">
            <mc:AlternateContent xmlns:mc="http://schemas.openxmlformats.org/markup-compatibility/2006">
              <mc:Choice xmlns:v="urn:schemas-microsoft-com:vml" Requires="v">
                <p:oleObj name="Visio" r:id="rId5" imgW="8491728" imgH="3156012" progId="Visio.Drawing.11">
                  <p:embed/>
                </p:oleObj>
              </mc:Choice>
              <mc:Fallback>
                <p:oleObj name="Visio" r:id="rId5" imgW="8491728" imgH="3156012" progId="Visio.Drawing.11">
                  <p:embed/>
                  <p:pic>
                    <p:nvPicPr>
                      <p:cNvPr id="9"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4872" y="4773682"/>
                        <a:ext cx="5429250" cy="204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4677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Asymmetric Key Cryptography – Algorithms</a:t>
            </a:r>
          </a:p>
          <a:p>
            <a:pPr marL="0" indent="0">
              <a:buNone/>
              <a:defRPr/>
            </a:pPr>
            <a:r>
              <a:rPr lang="en-GB" altLang="en-US" sz="2400" dirty="0"/>
              <a:t>Asymmetric key cryptography is mathematically more complex than symmetric key cryptography.</a:t>
            </a:r>
          </a:p>
          <a:p>
            <a:pPr>
              <a:defRPr/>
            </a:pPr>
            <a:r>
              <a:rPr lang="en-GB" altLang="en-US" sz="2400" dirty="0"/>
              <a:t>Factorization algorithms</a:t>
            </a:r>
          </a:p>
          <a:p>
            <a:pPr>
              <a:defRPr/>
            </a:pPr>
            <a:r>
              <a:rPr lang="en-GB" altLang="en-US" sz="2400" dirty="0"/>
              <a:t>Discrete logarithm algorithms</a:t>
            </a:r>
          </a:p>
          <a:p>
            <a:pPr>
              <a:defRPr/>
            </a:pPr>
            <a:r>
              <a:rPr lang="en-GB" altLang="en-US" sz="2400" dirty="0"/>
              <a:t>The public-key cryptography process is more slower than symmetric key cryptography process. (100 times slower in software, 1,000 to 10,000 times slower in hardware)</a:t>
            </a:r>
          </a:p>
          <a:p>
            <a:pPr>
              <a:defRPr/>
            </a:pPr>
            <a:r>
              <a:rPr lang="en-GB" altLang="en-US" sz="2400" dirty="0"/>
              <a:t>Key sizes must be relatively large.</a:t>
            </a:r>
          </a:p>
          <a:p>
            <a:pPr>
              <a:defRPr/>
            </a:pPr>
            <a:r>
              <a:rPr lang="en-GB" altLang="en-US" sz="2400" dirty="0"/>
              <a:t>Asymmetric key cryptosystems / public-key cryptosystems </a:t>
            </a:r>
          </a:p>
          <a:p>
            <a:pPr lvl="1">
              <a:defRPr/>
            </a:pPr>
            <a:r>
              <a:rPr lang="en-GB" altLang="en-US" sz="2000" dirty="0"/>
              <a:t>RSA (Rivest–Shamir–Adleman) </a:t>
            </a:r>
          </a:p>
          <a:p>
            <a:pPr lvl="1">
              <a:defRPr/>
            </a:pPr>
            <a:r>
              <a:rPr lang="en-GB" altLang="en-US" sz="2000" dirty="0"/>
              <a:t>Elliptic-curve cryptography (ECC)</a:t>
            </a:r>
          </a:p>
          <a:p>
            <a:pPr lvl="1">
              <a:defRPr/>
            </a:pPr>
            <a:endParaRPr lang="en-GB" altLang="en-US" sz="2000" dirty="0"/>
          </a:p>
        </p:txBody>
      </p:sp>
    </p:spTree>
    <p:extLst>
      <p:ext uri="{BB962C8B-B14F-4D97-AF65-F5344CB8AC3E}">
        <p14:creationId xmlns:p14="http://schemas.microsoft.com/office/powerpoint/2010/main" val="5266666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a:xfrm>
            <a:off x="134155" y="152400"/>
            <a:ext cx="8145462" cy="1066800"/>
          </a:xfrm>
        </p:spPr>
        <p:txBody>
          <a:bodyPr>
            <a:noAutofit/>
          </a:bodyPr>
          <a:lstStyle/>
          <a:p>
            <a:r>
              <a:rPr lang="en-GB" altLang="en-US" sz="3600" dirty="0"/>
              <a:t>Cryptographic Algorithms</a:t>
            </a:r>
            <a:endParaRPr lang="en-US" sz="3600" dirty="0"/>
          </a:p>
        </p:txBody>
      </p:sp>
      <p:sp>
        <p:nvSpPr>
          <p:cNvPr id="4" name="Content Placeholder 3"/>
          <p:cNvSpPr>
            <a:spLocks noGrp="1"/>
          </p:cNvSpPr>
          <p:nvPr>
            <p:ph idx="1"/>
          </p:nvPr>
        </p:nvSpPr>
        <p:spPr>
          <a:xfrm>
            <a:off x="152400" y="1600200"/>
            <a:ext cx="8839200" cy="5257800"/>
          </a:xfrm>
        </p:spPr>
        <p:txBody>
          <a:bodyPr>
            <a:normAutofit/>
          </a:bodyPr>
          <a:lstStyle/>
          <a:p>
            <a:pPr marL="0" indent="0">
              <a:buNone/>
              <a:defRPr/>
            </a:pPr>
            <a:r>
              <a:rPr lang="en-GB" altLang="en-US" b="1" dirty="0"/>
              <a:t>Symmetric vs. Asymmetric Summary</a:t>
            </a:r>
          </a:p>
          <a:p>
            <a:pPr marL="0" indent="0">
              <a:buNone/>
              <a:defRPr/>
            </a:pPr>
            <a:endParaRPr lang="en-GB" altLang="en-US" sz="2000" dirty="0"/>
          </a:p>
        </p:txBody>
      </p:sp>
      <p:pic>
        <p:nvPicPr>
          <p:cNvPr id="3" name="Picture 2">
            <a:extLst>
              <a:ext uri="{FF2B5EF4-FFF2-40B4-BE49-F238E27FC236}">
                <a16:creationId xmlns:a16="http://schemas.microsoft.com/office/drawing/2014/main" id="{0053B6F4-3A6B-7FE6-E227-19AC82B0E2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333" y="2286000"/>
            <a:ext cx="8636067" cy="3880523"/>
          </a:xfrm>
          <a:prstGeom prst="rect">
            <a:avLst/>
          </a:prstGeom>
        </p:spPr>
      </p:pic>
    </p:spTree>
    <p:extLst>
      <p:ext uri="{BB962C8B-B14F-4D97-AF65-F5344CB8AC3E}">
        <p14:creationId xmlns:p14="http://schemas.microsoft.com/office/powerpoint/2010/main" val="3669520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3839</Words>
  <Application>Microsoft Office PowerPoint</Application>
  <PresentationFormat>On-screen Show (4:3)</PresentationFormat>
  <Paragraphs>1053</Paragraphs>
  <Slides>37</Slides>
  <Notes>37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6" baseType="lpstr">
      <vt:lpstr>ＭＳ Ｐゴシック</vt:lpstr>
      <vt:lpstr>Arial</vt:lpstr>
      <vt:lpstr>Arial Black</vt:lpstr>
      <vt:lpstr>Arial Narrow</vt:lpstr>
      <vt:lpstr>Calibri</vt:lpstr>
      <vt:lpstr>Courier New</vt:lpstr>
      <vt:lpstr>Lucida Console</vt:lpstr>
      <vt:lpstr>Office Theme</vt:lpstr>
      <vt:lpstr>Visio</vt:lpstr>
      <vt:lpstr>Cryptography</vt:lpstr>
      <vt:lpstr>Cryptography</vt:lpstr>
      <vt:lpstr>Concept: Security Principles and Cryptography</vt:lpstr>
      <vt:lpstr>Terms &amp; Definition: Cryptograph </vt:lpstr>
      <vt:lpstr>Terms &amp; Definition: Cryptograph </vt:lpstr>
      <vt:lpstr>History of Cryptograph </vt:lpstr>
      <vt:lpstr>History of Cryptograph </vt:lpstr>
      <vt:lpstr>Cryptographic Algorithm &amp; Operation</vt:lpstr>
      <vt:lpstr>Strength of Encryption</vt:lpstr>
      <vt:lpstr>Strength of Encryption</vt:lpstr>
      <vt:lpstr>Cipher Types</vt:lpstr>
      <vt:lpstr>Cipher Types: Classic Ciphers</vt:lpstr>
      <vt:lpstr>Cipher Types: Classic Ciphers</vt:lpstr>
      <vt:lpstr>Cipher Types: Classic Ciphers</vt:lpstr>
      <vt:lpstr>Cipher Types: Classic Ciphers</vt:lpstr>
      <vt:lpstr>Cipher Types: Modern Ciphers</vt:lpstr>
      <vt:lpstr>Cipher Types: Modern Ciphers</vt:lpstr>
      <vt:lpstr>Cipher Types: Modern Ciphers</vt:lpstr>
      <vt:lpstr>Cipher Types: Modern Ciphers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lpstr>Cryptographic Algorithms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2017-01-30T04:28:05Z</dcterms:created>
  <dcterms:modified xsi:type="dcterms:W3CDTF">2024-01-16T07:48:56Z</dcterms:modified>
</cp:coreProperties>
</file>