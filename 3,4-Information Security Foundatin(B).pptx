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embeddedFontLst>
    <p:embeddedFont>
      <p:font typeface="Arial Black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h2zekskMhu0i7k+xFdiHxgEen+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NCAE-IA (National center of academic excellence in information assurance/cybersecurity)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 by Design Principles according to OWASP (Open Web Application Security Project)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Secure System Design Principles and the CISSP (Certified Information Systems Security Professional)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Comprehensively: full-scale, broadly, completely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Modularization is the process of dividing a task into subtasks. This division is done on a logical or functional basis. Each component performs a separate, independent part of the task.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Astonishment: amazing or surprising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0"/>
          <p:cNvSpPr txBox="1"/>
          <p:nvPr>
            <p:ph idx="2" type="body"/>
          </p:nvPr>
        </p:nvSpPr>
        <p:spPr>
          <a:xfrm>
            <a:off x="152400" y="64008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/>
        </p:nvSpPr>
        <p:spPr>
          <a:xfrm>
            <a:off x="1219200" y="5486400"/>
            <a:ext cx="358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Your Interactive Guide to the Digital World</a:t>
            </a:r>
            <a:endParaRPr/>
          </a:p>
        </p:txBody>
      </p:sp>
      <p:sp>
        <p:nvSpPr>
          <p:cNvPr id="30" name="Google Shape;30;p12"/>
          <p:cNvSpPr/>
          <p:nvPr/>
        </p:nvSpPr>
        <p:spPr>
          <a:xfrm>
            <a:off x="0" y="4267200"/>
            <a:ext cx="4876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Discovering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	Computers 2012</a:t>
            </a:r>
            <a:endParaRPr/>
          </a:p>
        </p:txBody>
      </p:sp>
      <p:pic>
        <p:nvPicPr>
          <p:cNvPr id="31" name="Google Shape;3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86606" y="3276600"/>
            <a:ext cx="3957394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23589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1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4"/>
          <p:cNvSpPr txBox="1"/>
          <p:nvPr>
            <p:ph idx="3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15"/>
          <p:cNvSpPr txBox="1"/>
          <p:nvPr>
            <p:ph idx="5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6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8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2247900" y="-495300"/>
            <a:ext cx="4648200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1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5DFEC"/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5F497A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5F497A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/>
          <p:nvPr/>
        </p:nvSpPr>
        <p:spPr>
          <a:xfrm>
            <a:off x="0" y="1219200"/>
            <a:ext cx="9144000" cy="457200"/>
          </a:xfrm>
          <a:prstGeom prst="rect">
            <a:avLst/>
          </a:prstGeom>
          <a:gradFill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9"/>
          <p:cNvSpPr/>
          <p:nvPr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kx="120000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Calibri"/>
              <a:buNone/>
            </a:pPr>
            <a:r>
              <a:rPr lang="en-US" sz="2400"/>
              <a:t>Information Security Foundation</a:t>
            </a:r>
            <a:endParaRPr/>
          </a:p>
        </p:txBody>
      </p:sp>
      <p:sp>
        <p:nvSpPr>
          <p:cNvPr id="95" name="Google Shape;95;p1"/>
          <p:cNvSpPr txBox="1"/>
          <p:nvPr>
            <p:ph idx="1" type="body"/>
          </p:nvPr>
        </p:nvSpPr>
        <p:spPr>
          <a:xfrm>
            <a:off x="152400" y="1524000"/>
            <a:ext cx="88392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b="1" sz="4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SzPts val="4400"/>
              <a:buNone/>
            </a:pPr>
            <a:r>
              <a:rPr b="1" lang="en-US" sz="4400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rPr>
              <a:t>Information Security</a:t>
            </a:r>
            <a:endParaRPr b="1" sz="2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134155" y="152400"/>
            <a:ext cx="814546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Fundamental Security Design Principles</a:t>
            </a:r>
            <a:endParaRPr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Despite years of research, it is still difficult to design systems that comprehensively prevent security flaws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But good practices for good design have been documented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Economy of mechanism, fail-safe defaults, complete mediation, open design, separation of privileges, least privilege, least common mechanism, psychological acceptability, isolation, encapsulation, modularity, layering, least astonishment</a:t>
            </a:r>
            <a:endParaRPr/>
          </a:p>
          <a:p>
            <a:pPr indent="0" lvl="1" marL="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134155" y="152400"/>
            <a:ext cx="814546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Fundamental Security Design Principles</a:t>
            </a:r>
            <a:endParaRPr sz="3600"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Economy of mechanism</a:t>
            </a:r>
            <a:r>
              <a:rPr lang="en-US"/>
              <a:t>: the design of security measures should be as simple as possible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The checking and testing process is less complex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Fewer possibilities exist for errors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Fail-safe default</a:t>
            </a:r>
            <a:r>
              <a:rPr lang="en-US"/>
              <a:t>: access decisions should be based on permissions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Default, all the mechanism should have a lack of access </a:t>
            </a:r>
            <a:endParaRPr/>
          </a:p>
          <a:p>
            <a:pPr indent="0" lvl="1" marL="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134155" y="152400"/>
            <a:ext cx="814546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Fundamental Security Design Principles</a:t>
            </a:r>
            <a:endParaRPr sz="3600"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Complete mediation</a:t>
            </a:r>
            <a:r>
              <a:rPr lang="en-US"/>
              <a:t>: </a:t>
            </a:r>
            <a:r>
              <a:rPr lang="en-US" u="sng"/>
              <a:t>every access</a:t>
            </a:r>
            <a:r>
              <a:rPr lang="en-US"/>
              <a:t> should checked against an </a:t>
            </a:r>
            <a:r>
              <a:rPr lang="en-US" u="sng"/>
              <a:t>access control system</a:t>
            </a:r>
            <a:endParaRPr u="sng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Open design</a:t>
            </a:r>
            <a:r>
              <a:rPr lang="en-US"/>
              <a:t>: the design should be open rather than secret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Like in the cryptographic algorithm, the encryption key is kept secret while the encryption algorithm is opened for a public investigation.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134155" y="152400"/>
            <a:ext cx="814546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Fundamental security design principles</a:t>
            </a:r>
            <a:endParaRPr sz="3600"/>
          </a:p>
        </p:txBody>
      </p:sp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Isolation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The system that has critical data, processes or resources must be isolated from public access.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The files or data of one user must be kept isolated with the files or data of another user.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Security mechanism must be isolated from unwanted access.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134155" y="152400"/>
            <a:ext cx="814546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Fundamental security design principles</a:t>
            </a:r>
            <a:endParaRPr sz="3600"/>
          </a:p>
        </p:txBody>
      </p:sp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Encapsulation</a:t>
            </a:r>
            <a:r>
              <a:rPr lang="en-US"/>
              <a:t>: similar to object concepts (hide internal structures)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Modularity</a:t>
            </a:r>
            <a:r>
              <a:rPr lang="en-US"/>
              <a:t>: security mechanism must be generated as separate and protected modules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Layering (defense in depth)</a:t>
            </a:r>
            <a:r>
              <a:rPr lang="en-US"/>
              <a:t>: applying multiple security layers provides multiple barriers to the adversary, if he tries to access the protected system.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134155" y="152400"/>
            <a:ext cx="814546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Fundamental security design principles</a:t>
            </a:r>
            <a:endParaRPr sz="3600"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Least astonishment</a:t>
            </a:r>
            <a:r>
              <a:rPr lang="en-US"/>
              <a:t>: a program or interface should always respond in a way that is least likely to astonish a user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Separation of privilege</a:t>
            </a:r>
            <a:r>
              <a:rPr lang="en-US"/>
              <a:t>: multiple privileges should be needed to do achieve access (or complete a task)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Least privilege: Only those limited privileges should be assigned to the user which are essential to perform the desired task.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134155" y="152400"/>
            <a:ext cx="814546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Fundamental security design principles</a:t>
            </a:r>
            <a:endParaRPr sz="3600"/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Least common mechanism</a:t>
            </a:r>
            <a:r>
              <a:rPr lang="en-US"/>
              <a:t>: a design should minimize the function shared by different users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Psychological acceptability</a:t>
            </a:r>
            <a:r>
              <a:rPr lang="en-US"/>
              <a:t>: </a:t>
            </a:r>
            <a:r>
              <a:rPr lang="en-US"/>
              <a:t>Security</a:t>
            </a:r>
            <a:r>
              <a:rPr lang="en-US"/>
              <a:t> mechanisms </a:t>
            </a:r>
            <a:r>
              <a:rPr lang="en-US"/>
              <a:t>designed</a:t>
            </a:r>
            <a:r>
              <a:rPr lang="en-US"/>
              <a:t> to protect the system should not interfere with the working of the user every time.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Security mechanism should introduce minimum hurdles to the user of the system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2017-01-30T04:28:05Z</dcterms:created>
</cp:coreProperties>
</file>