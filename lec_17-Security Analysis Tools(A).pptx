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Arial Black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L0PXVQuhFJzzPTPSaIqxAIcDa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Black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network socket is an internal endpoint for sending or receiving data within a node on a computer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socket consists of three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IP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transport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port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1030 is a 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(10.1.1.2 , TCP , port 1030) is a socket.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network socket is an internal endpoint for sending or receiving data within a node on a computer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socket consists of three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IP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transport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port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1030 is a 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(10.1.1.2 , TCP , port 1030) is a socket.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network socket is an internal endpoint for sending or receiving data within a node on a computer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socket consists of three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IP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transport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port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1030 is a 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(10.1.1.2 , TCP , port 1030) is a socket.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network socket is an internal endpoint for sending or receiving data within a node on a computer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socket consists of three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IP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transport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port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1030 is a 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(10.1.1.2 , TCP , port 1030) is a socket.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network socket is an internal endpoint for sending or receiving data within a node on a computer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socket consists of three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IP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transport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port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1030 is a 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(10.1.1.2 , TCP , port 1030) is a socket.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network socket is an internal endpoint for sending or receiving data within a node on a computer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socket consists of three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IP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transport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port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1030 is a 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(10.1.1.2 , TCP , port 1030) is a socket.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network socket is an internal endpoint for sending or receiving data within a node on a computer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socket consists of three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IP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transport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port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1030 is a 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(10.1.1.2 , TCP , port 1030) is a socket.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network socket is an internal endpoint for sending or receiving data within a node on a computer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socket consists of three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IP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transport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port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1030 is a 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(10.1.1.2 , TCP , port 1030) is a socket.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network socket is an internal endpoint for sending or receiving data within a node on a computer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socket consists of three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IP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transport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port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1030 is a 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(10.1.1.2 , TCP , port 1030) is a socket.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network socket is an internal endpoint for sending or receiving data within a node on a computer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socket consists of three things: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IP address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transport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port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1030 is a 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(10.1.1.2 , TCP , port 1030) is a socket.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5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17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0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4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Security Analysis Tools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2286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Security Analysis Tools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Footprinting and Fingerprinting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of Analysis Tools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Security Analysis Tools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The ability to </a:t>
            </a:r>
            <a:r>
              <a:rPr lang="en-US" sz="2800" u="sng"/>
              <a:t>look at systems from the attacker</a:t>
            </a:r>
            <a:r>
              <a:rPr lang="en-US" sz="2800"/>
              <a:t>’s point of view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Find vulnerabilities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Help </a:t>
            </a:r>
            <a:r>
              <a:rPr lang="en-US" sz="2800" u="sng"/>
              <a:t>prevent future attacks</a:t>
            </a:r>
            <a:r>
              <a:rPr lang="en-US" sz="2800"/>
              <a:t> on systems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Create a </a:t>
            </a:r>
            <a:r>
              <a:rPr lang="en-US" sz="2800" u="sng"/>
              <a:t>better way to protect systems</a:t>
            </a:r>
            <a:r>
              <a:rPr lang="en-US" sz="2800"/>
              <a:t> from attacks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Footprinting and Fingerprinting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u="sng"/>
              <a:t>Footprinting</a:t>
            </a:r>
            <a:r>
              <a:rPr lang="en-US" sz="2800"/>
              <a:t>: determining what </a:t>
            </a:r>
            <a:r>
              <a:rPr lang="en-US" sz="2800" u="sng"/>
              <a:t>hostnames</a:t>
            </a:r>
            <a:r>
              <a:rPr lang="en-US" sz="2800"/>
              <a:t>, </a:t>
            </a:r>
            <a:r>
              <a:rPr lang="en-US" sz="2800" u="sng"/>
              <a:t>IP addresses</a:t>
            </a:r>
            <a:r>
              <a:rPr lang="en-US" sz="2800"/>
              <a:t> a target org.’s 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u="sng"/>
              <a:t>Fingerprinting</a:t>
            </a:r>
            <a:r>
              <a:rPr lang="en-US" sz="2800"/>
              <a:t>: </a:t>
            </a:r>
            <a:r>
              <a:rPr lang="en-US" sz="2800" u="sng"/>
              <a:t>systematic survey</a:t>
            </a:r>
            <a:r>
              <a:rPr lang="en-US" sz="2800"/>
              <a:t> of resources found in footprinting stage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Useful for </a:t>
            </a:r>
            <a:r>
              <a:rPr lang="en-US" sz="2400" u="sng"/>
              <a:t>discovering weaknesses</a:t>
            </a:r>
            <a:r>
              <a:rPr lang="en-US" sz="2400"/>
              <a:t> in org.’s network or systems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Port Scanners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Packet Analyzers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Content Filters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Trap and Trace Tools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Port and Vulnerability Scanners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Are tools that automatically search </a:t>
            </a:r>
            <a:r>
              <a:rPr lang="en-US" sz="2800" u="sng"/>
              <a:t>networks for hosts and vulnerabilities</a:t>
            </a:r>
            <a:endParaRPr u="sng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Software that is capable of </a:t>
            </a:r>
            <a:r>
              <a:rPr lang="en-US" sz="2800" u="sng"/>
              <a:t>finding all of the active computers</a:t>
            </a:r>
            <a:r>
              <a:rPr lang="en-US" sz="2800"/>
              <a:t>, </a:t>
            </a:r>
            <a:r>
              <a:rPr lang="en-US" sz="2800" u="sng"/>
              <a:t>open ports</a:t>
            </a:r>
            <a:r>
              <a:rPr lang="en-US" sz="2800"/>
              <a:t>, and </a:t>
            </a:r>
            <a:r>
              <a:rPr lang="en-US" sz="2800" u="sng"/>
              <a:t>services on a network</a:t>
            </a:r>
            <a:r>
              <a:rPr lang="en-US" sz="2800"/>
              <a:t>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Are capable of scanning networks for very detailed information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Example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b="1" lang="en-US" sz="2400"/>
              <a:t>Nmap</a:t>
            </a:r>
            <a:r>
              <a:rPr lang="en-US" sz="2400"/>
              <a:t>: </a:t>
            </a:r>
            <a:endParaRPr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b="1" lang="en-US" sz="2400"/>
              <a:t>Nessus</a:t>
            </a:r>
            <a:r>
              <a:rPr lang="en-US" sz="2400"/>
              <a:t>: </a:t>
            </a:r>
            <a:endParaRPr u="sng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Port and Vulnerability Scanners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Nmap</a:t>
            </a: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An excellent security tool because it allows you to determine which </a:t>
            </a:r>
            <a:r>
              <a:rPr lang="en-US" sz="2400" u="sng"/>
              <a:t>services are being offered by</a:t>
            </a:r>
            <a:r>
              <a:rPr lang="en-US" sz="2400"/>
              <a:t> a system.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Nessus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 tool to scan systems and </a:t>
            </a:r>
            <a:r>
              <a:rPr lang="en-US" sz="2400" u="sng"/>
              <a:t>evaluate vulnerabilities</a:t>
            </a:r>
            <a:r>
              <a:rPr lang="en-US" sz="2400"/>
              <a:t> present in services offered by that system.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Best </a:t>
            </a:r>
            <a:r>
              <a:rPr lang="en-US" sz="2400" u="sng"/>
              <a:t>free network vulnerability scanner</a:t>
            </a:r>
            <a:r>
              <a:rPr lang="en-US" sz="2400"/>
              <a:t> and the best to run on Linux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Port and Vulnerability Scanners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Ports</a:t>
            </a:r>
            <a:endParaRPr sz="28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Ports act as </a:t>
            </a:r>
            <a:r>
              <a:rPr lang="en-US" sz="2200" u="sng"/>
              <a:t>logical communications endpoint</a:t>
            </a:r>
            <a:r>
              <a:rPr lang="en-US" sz="2200"/>
              <a:t> for specific program on computers for delivery of data sent</a:t>
            </a:r>
            <a:endParaRPr/>
          </a:p>
          <a:p>
            <a:pPr indent="-276225" lvl="0" marL="342900" rtl="0" algn="l">
              <a:spcBef>
                <a:spcPts val="210"/>
              </a:spcBef>
              <a:spcAft>
                <a:spcPts val="0"/>
              </a:spcAft>
              <a:buSzPts val="1050"/>
              <a:buNone/>
            </a:pPr>
            <a:r>
              <a:t/>
            </a:r>
            <a:endParaRPr sz="105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There are a total of </a:t>
            </a:r>
            <a:r>
              <a:rPr lang="en-US" sz="2200" u="sng"/>
              <a:t>65,536</a:t>
            </a:r>
            <a:r>
              <a:rPr lang="en-US" sz="2200"/>
              <a:t> ports, numbering between 0 and 65,535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Ports are defined by the Internet Assigned Numbers Authority or </a:t>
            </a:r>
            <a:r>
              <a:rPr lang="en-US" sz="2200" u="sng"/>
              <a:t>IANA</a:t>
            </a:r>
            <a:endParaRPr u="sng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Port and Vulnerability Scanners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Ports</a:t>
            </a:r>
            <a:endParaRPr sz="28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314" y="2743200"/>
            <a:ext cx="8714874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Port and Vulnerability Scanners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TCP Connection, Establishment and Termination</a:t>
            </a:r>
            <a:endParaRPr sz="28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Establishes that the destination device is present on the network</a:t>
            </a:r>
            <a:endParaRPr/>
          </a:p>
          <a:p>
            <a:pPr indent="-146050" lvl="1" marL="742950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Verifies that the </a:t>
            </a:r>
            <a:r>
              <a:rPr lang="en-US" sz="2200" u="sng"/>
              <a:t>destination device has an active service and is accepting requests </a:t>
            </a:r>
            <a:r>
              <a:rPr lang="en-US" sz="2200"/>
              <a:t>on the destination port number </a:t>
            </a:r>
            <a:endParaRPr/>
          </a:p>
          <a:p>
            <a:pPr indent="-146050" lvl="1" marL="742950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Informs the destination device that the source client plans to establish a communication session on that port number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Port and Vulnerability Scanners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TCP Connection, Establishment and Termination</a:t>
            </a:r>
            <a:endParaRPr sz="28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Three-way handshake to establish connection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Host A sends a </a:t>
            </a:r>
            <a:r>
              <a:rPr b="1" lang="en-US" sz="2000">
                <a:solidFill>
                  <a:srgbClr val="0000FF"/>
                </a:solidFill>
              </a:rPr>
              <a:t>SYN</a:t>
            </a:r>
            <a:r>
              <a:rPr lang="en-US" sz="2000"/>
              <a:t> (open) to the host B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Host B returns a SYN acknowledgment (</a:t>
            </a:r>
            <a:r>
              <a:rPr b="1" lang="en-US" sz="2000">
                <a:solidFill>
                  <a:srgbClr val="FF3300"/>
                </a:solidFill>
              </a:rPr>
              <a:t>SYN ACK</a:t>
            </a:r>
            <a:r>
              <a:rPr lang="en-US" sz="2000"/>
              <a:t>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Host A sends an</a:t>
            </a:r>
            <a:r>
              <a:rPr lang="en-US" sz="2000">
                <a:solidFill>
                  <a:srgbClr val="0000FF"/>
                </a:solidFill>
              </a:rPr>
              <a:t> </a:t>
            </a:r>
            <a:r>
              <a:rPr b="1" lang="en-US" sz="2000">
                <a:solidFill>
                  <a:srgbClr val="0000FF"/>
                </a:solidFill>
              </a:rPr>
              <a:t>ACK</a:t>
            </a:r>
            <a:r>
              <a:rPr lang="en-US" sz="2000"/>
              <a:t> to acknowledge the SYN ACK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cxnSp>
        <p:nvCxnSpPr>
          <p:cNvPr id="168" name="Google Shape;168;p11"/>
          <p:cNvCxnSpPr/>
          <p:nvPr/>
        </p:nvCxnSpPr>
        <p:spPr>
          <a:xfrm flipH="1" rot="-5400000">
            <a:off x="7297991" y="3391693"/>
            <a:ext cx="287338" cy="1603375"/>
          </a:xfrm>
          <a:prstGeom prst="straightConnector1">
            <a:avLst/>
          </a:prstGeom>
          <a:noFill/>
          <a:ln cap="flat" cmpd="sng" w="19050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" name="Google Shape;169;p11"/>
          <p:cNvCxnSpPr/>
          <p:nvPr/>
        </p:nvCxnSpPr>
        <p:spPr>
          <a:xfrm rot="5400000">
            <a:off x="7288466" y="3929856"/>
            <a:ext cx="300038" cy="1574800"/>
          </a:xfrm>
          <a:prstGeom prst="straightConnector1">
            <a:avLst/>
          </a:prstGeom>
          <a:noFill/>
          <a:ln cap="flat" cmpd="sng" w="19050">
            <a:solidFill>
              <a:srgbClr val="FF33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" name="Google Shape;170;p11"/>
          <p:cNvCxnSpPr/>
          <p:nvPr/>
        </p:nvCxnSpPr>
        <p:spPr>
          <a:xfrm flipH="1" rot="-5400000">
            <a:off x="7200360" y="4587875"/>
            <a:ext cx="457200" cy="1600200"/>
          </a:xfrm>
          <a:prstGeom prst="straightConnector1">
            <a:avLst/>
          </a:prstGeom>
          <a:noFill/>
          <a:ln cap="flat" cmpd="sng" w="19050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" name="Google Shape;171;p11"/>
          <p:cNvCxnSpPr/>
          <p:nvPr/>
        </p:nvCxnSpPr>
        <p:spPr>
          <a:xfrm flipH="1" rot="-5400000">
            <a:off x="7197979" y="5126830"/>
            <a:ext cx="469900" cy="1598613"/>
          </a:xfrm>
          <a:prstGeom prst="straightConnector1">
            <a:avLst/>
          </a:prstGeom>
          <a:noFill/>
          <a:ln cap="flat" cmpd="sng" w="19050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2" name="Google Shape;172;p11"/>
          <p:cNvSpPr txBox="1"/>
          <p:nvPr/>
        </p:nvSpPr>
        <p:spPr>
          <a:xfrm rot="605430">
            <a:off x="7161349" y="3720583"/>
            <a:ext cx="5495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SYN</a:t>
            </a:r>
            <a:endParaRPr/>
          </a:p>
        </p:txBody>
      </p:sp>
      <p:sp>
        <p:nvSpPr>
          <p:cNvPr id="173" name="Google Shape;173;p11"/>
          <p:cNvSpPr txBox="1"/>
          <p:nvPr/>
        </p:nvSpPr>
        <p:spPr>
          <a:xfrm rot="-653020">
            <a:off x="6778085" y="4360346"/>
            <a:ext cx="1308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SYN ACK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 rot="1044999">
            <a:off x="7384851" y="5128696"/>
            <a:ext cx="5597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ACK</a:t>
            </a:r>
            <a:endParaRPr/>
          </a:p>
        </p:txBody>
      </p:sp>
      <p:sp>
        <p:nvSpPr>
          <p:cNvPr id="175" name="Google Shape;175;p11"/>
          <p:cNvSpPr txBox="1"/>
          <p:nvPr/>
        </p:nvSpPr>
        <p:spPr>
          <a:xfrm rot="1003808">
            <a:off x="7113920" y="5549383"/>
            <a:ext cx="620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cxnSp>
        <p:nvCxnSpPr>
          <p:cNvPr id="176" name="Google Shape;176;p11"/>
          <p:cNvCxnSpPr/>
          <p:nvPr/>
        </p:nvCxnSpPr>
        <p:spPr>
          <a:xfrm flipH="1" rot="-5400000">
            <a:off x="6788403" y="5283994"/>
            <a:ext cx="2890837" cy="6350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1"/>
          <p:cNvCxnSpPr/>
          <p:nvPr/>
        </p:nvCxnSpPr>
        <p:spPr>
          <a:xfrm rot="5400000">
            <a:off x="5237416" y="5244306"/>
            <a:ext cx="2797175" cy="23813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1"/>
          <p:cNvSpPr txBox="1"/>
          <p:nvPr/>
        </p:nvSpPr>
        <p:spPr>
          <a:xfrm>
            <a:off x="6463760" y="3388668"/>
            <a:ext cx="36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8030622" y="3350568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180" name="Google Shape;180;p11"/>
          <p:cNvCxnSpPr/>
          <p:nvPr/>
        </p:nvCxnSpPr>
        <p:spPr>
          <a:xfrm flipH="1" rot="-5400000">
            <a:off x="7226554" y="5468143"/>
            <a:ext cx="469900" cy="1598613"/>
          </a:xfrm>
          <a:prstGeom prst="straightConnector1">
            <a:avLst/>
          </a:prstGeom>
          <a:noFill/>
          <a:ln cap="flat" cmpd="sng" w="19050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1" name="Google Shape;181;p11"/>
          <p:cNvSpPr txBox="1"/>
          <p:nvPr/>
        </p:nvSpPr>
        <p:spPr>
          <a:xfrm rot="1003808">
            <a:off x="7142495" y="5890696"/>
            <a:ext cx="620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4252577"/>
            <a:ext cx="5432738" cy="2376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1621498"/>
            <a:ext cx="6096000" cy="252057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2"/>
          <p:cNvSpPr/>
          <p:nvPr/>
        </p:nvSpPr>
        <p:spPr>
          <a:xfrm>
            <a:off x="76200" y="2150819"/>
            <a:ext cx="15354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establishment</a:t>
            </a: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76200" y="5074275"/>
            <a:ext cx="2032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 release</a:t>
            </a:r>
            <a:endParaRPr/>
          </a:p>
        </p:txBody>
      </p:sp>
      <p:grpSp>
        <p:nvGrpSpPr>
          <p:cNvPr id="192" name="Google Shape;192;p12"/>
          <p:cNvGrpSpPr/>
          <p:nvPr/>
        </p:nvGrpSpPr>
        <p:grpSpPr>
          <a:xfrm>
            <a:off x="6553200" y="2915310"/>
            <a:ext cx="1524000" cy="306388"/>
            <a:chOff x="3696" y="3264"/>
            <a:chExt cx="1152" cy="192"/>
          </a:xfrm>
        </p:grpSpPr>
        <p:cxnSp>
          <p:nvCxnSpPr>
            <p:cNvPr id="193" name="Google Shape;193;p12"/>
            <p:cNvCxnSpPr/>
            <p:nvPr/>
          </p:nvCxnSpPr>
          <p:spPr>
            <a:xfrm>
              <a:off x="3696" y="3264"/>
              <a:ext cx="115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194" name="Google Shape;194;p12"/>
            <p:cNvCxnSpPr/>
            <p:nvPr/>
          </p:nvCxnSpPr>
          <p:spPr>
            <a:xfrm flipH="1" rot="10800000">
              <a:off x="3696" y="3408"/>
              <a:ext cx="1152" cy="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  <p:sp>
        <p:nvSpPr>
          <p:cNvPr id="195" name="Google Shape;195;p12"/>
          <p:cNvSpPr txBox="1"/>
          <p:nvPr/>
        </p:nvSpPr>
        <p:spPr>
          <a:xfrm>
            <a:off x="7848600" y="2797150"/>
            <a:ext cx="1295400" cy="91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Combined into one step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202" name="Google Shape;202;p1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Packet Analyzers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u="sng"/>
              <a:t>A network tool that collects and analyzes copies of packets from a network</a:t>
            </a:r>
            <a:endParaRPr u="sng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Can provide network admin with </a:t>
            </a:r>
            <a:r>
              <a:rPr lang="en-US" sz="2800" u="sng"/>
              <a:t>information to solve networking issues</a:t>
            </a:r>
            <a:r>
              <a:rPr lang="en-US" sz="2800"/>
              <a:t> (or attacker eavesdropping)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Needs to be on the network that </a:t>
            </a:r>
            <a:r>
              <a:rPr lang="en-US" sz="2800" u="sng"/>
              <a:t>you want to sniff </a:t>
            </a:r>
            <a:endParaRPr u="sng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Example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TCPDUMP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Ethereal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Wireshark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