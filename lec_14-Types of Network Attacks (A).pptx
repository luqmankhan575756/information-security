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858000" cy="9144000"/>
  <p:embeddedFontLst>
    <p:embeddedFont>
      <p:font typeface="Arial Black"/>
      <p:regular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1" roundtripDataSignature="AMtx7miO3+qyZ2cfeRcXBp7BTXBX0FmS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ialBlack-regular.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 name="Google Shape;9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6" name="Google Shape;10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3" name="Google Shape;11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0" name="Google Shape;12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ruh·</a:t>
            </a:r>
            <a:r>
              <a:rPr b="1" lang="en-US"/>
              <a:t>kaa</a:t>
            </a:r>
            <a:r>
              <a:rPr lang="en-US"/>
              <a:t>·nuh·sns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7" name="Google Shape;12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4" name="Google Shape;1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Wurmz</a:t>
            </a:r>
            <a:endParaRPr/>
          </a:p>
          <a:p>
            <a:pPr indent="0" lvl="0" marL="0" rtl="0" algn="l">
              <a:spcBef>
                <a:spcPts val="0"/>
              </a:spcBef>
              <a:spcAft>
                <a:spcPts val="0"/>
              </a:spcAft>
              <a:buNone/>
            </a:pPr>
            <a:r>
              <a:rPr lang="en-US"/>
              <a:t>muh·</a:t>
            </a:r>
            <a:r>
              <a:rPr b="1" lang="en-US"/>
              <a:t>li</a:t>
            </a:r>
            <a:r>
              <a:rPr lang="en-US"/>
              <a:t>·shuhs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1" name="Google Shape;14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Pirated software is software that has been copied or distributed for free or at a vastly reduced price against the wishes of the creator.</a:t>
            </a:r>
            <a:endParaRPr/>
          </a:p>
          <a:p>
            <a:pPr indent="0" lvl="0" marL="0" rtl="0" algn="l">
              <a:spcBef>
                <a:spcPts val="0"/>
              </a:spcBef>
              <a:spcAft>
                <a:spcPts val="0"/>
              </a:spcAft>
              <a:buNone/>
            </a:pPr>
            <a:r>
              <a:rPr lang="en-US"/>
              <a:t>Generally 'pirated' means one or more of the following depending on context:</a:t>
            </a:r>
            <a:endParaRPr/>
          </a:p>
          <a:p>
            <a:pPr indent="0" lvl="0" marL="0" rtl="0" algn="l">
              <a:spcBef>
                <a:spcPts val="0"/>
              </a:spcBef>
              <a:spcAft>
                <a:spcPts val="0"/>
              </a:spcAft>
              <a:buNone/>
            </a:pPr>
            <a:r>
              <a:rPr lang="en-US"/>
              <a:t>Unlicensed, i.e. the software is being used without paying the developer(s) for a license to use it.</a:t>
            </a:r>
            <a:endParaRPr/>
          </a:p>
          <a:p>
            <a:pPr indent="0" lvl="0" marL="0" rtl="0" algn="l">
              <a:spcBef>
                <a:spcPts val="0"/>
              </a:spcBef>
              <a:spcAft>
                <a:spcPts val="0"/>
              </a:spcAft>
              <a:buNone/>
            </a:pPr>
            <a:r>
              <a:rPr lang="en-US"/>
              <a:t>Unlawfully distributed, i.e. posted somewhere for people to download (normally for free) without the developer's permission and often with the license keys needed to use it</a:t>
            </a:r>
            <a:endParaRPr/>
          </a:p>
          <a:p>
            <a:pPr indent="0" lvl="0" marL="0" rtl="0" algn="l">
              <a:spcBef>
                <a:spcPts val="0"/>
              </a:spcBef>
              <a:spcAft>
                <a:spcPts val="0"/>
              </a:spcAft>
              <a:buNone/>
            </a:pPr>
            <a:r>
              <a:rPr lang="en-US"/>
              <a:t>'Cracked', i.e. someone has altered the software to remove copy protection systems such as the license key check</a:t>
            </a:r>
            <a:endParaRPr/>
          </a:p>
          <a:p>
            <a:pPr indent="0" lvl="0" marL="0" rtl="0" algn="l">
              <a:spcBef>
                <a:spcPts val="0"/>
              </a:spcBef>
              <a:spcAft>
                <a:spcPts val="0"/>
              </a:spcAft>
              <a:buNone/>
            </a:pPr>
            <a:r>
              <a:rPr lang="en-US"/>
              <a:t>The opposite of pirated would be normally be 'licensed' or a 'legitimate copy' of the software.</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t>Disgruntled </a:t>
            </a:r>
            <a:r>
              <a:rPr lang="en-US"/>
              <a:t>angry or dissatisfied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Google Shape;15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62" name="Google Shape;1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i="1" lang="en-US"/>
              <a:t>MD5</a:t>
            </a:r>
            <a:r>
              <a:rPr lang="en-US"/>
              <a:t> message-digest algorithm</a:t>
            </a:r>
            <a:endParaRPr/>
          </a:p>
          <a:p>
            <a:pPr indent="0" lvl="0" marL="0" rtl="0" algn="l">
              <a:spcBef>
                <a:spcPts val="0"/>
              </a:spcBef>
              <a:spcAft>
                <a:spcPts val="0"/>
              </a:spcAft>
              <a:buNone/>
            </a:pPr>
            <a:r>
              <a:rPr i="1" lang="en-US"/>
              <a:t>SHA</a:t>
            </a:r>
            <a:r>
              <a:rPr lang="en-US"/>
              <a:t>-</a:t>
            </a:r>
            <a:r>
              <a:rPr i="1" lang="en-US"/>
              <a:t>1</a:t>
            </a:r>
            <a:r>
              <a:rPr lang="en-US"/>
              <a:t> (Secure Hash Algorithm </a:t>
            </a:r>
            <a:r>
              <a:rPr i="1" lang="en-US"/>
              <a:t>1</a:t>
            </a:r>
            <a:r>
              <a:rPr lang="en-US"/>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16"/>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6"/>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16"/>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0" name="Google Shape;20;p16"/>
          <p:cNvSpPr txBox="1"/>
          <p:nvPr>
            <p:ph idx="2" type="body"/>
          </p:nvPr>
        </p:nvSpPr>
        <p:spPr>
          <a:xfrm>
            <a:off x="152400" y="6400800"/>
            <a:ext cx="1676400" cy="4572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 name="Google Shape;21;p16"/>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2" name="Shape 22"/>
        <p:cNvGrpSpPr/>
        <p:nvPr/>
      </p:nvGrpSpPr>
      <p:grpSpPr>
        <a:xfrm>
          <a:off x="0" y="0"/>
          <a:ext cx="0" cy="0"/>
          <a:chOff x="0" y="0"/>
          <a:chExt cx="0" cy="0"/>
        </a:xfrm>
      </p:grpSpPr>
      <p:sp>
        <p:nvSpPr>
          <p:cNvPr id="23" name="Google Shape;23;p17"/>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7"/>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1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17"/>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7"/>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1200" u="none" cap="none" strike="noStrike">
                <a:solidFill>
                  <a:srgbClr val="EEEBCA"/>
                </a:solidFill>
                <a:latin typeface="Calibri"/>
                <a:ea typeface="Calibri"/>
                <a:cs typeface="Calibri"/>
                <a:sym typeface="Calibri"/>
              </a:defRPr>
            </a:lvl1pPr>
            <a:lvl2pPr indent="0" lvl="1" marL="0" algn="ctr">
              <a:spcBef>
                <a:spcPts val="0"/>
              </a:spcBef>
              <a:buNone/>
              <a:defRPr b="1" i="0" sz="1200" u="none" cap="none" strike="noStrike">
                <a:solidFill>
                  <a:srgbClr val="EEEBCA"/>
                </a:solidFill>
                <a:latin typeface="Calibri"/>
                <a:ea typeface="Calibri"/>
                <a:cs typeface="Calibri"/>
                <a:sym typeface="Calibri"/>
              </a:defRPr>
            </a:lvl2pPr>
            <a:lvl3pPr indent="0" lvl="2" marL="0" algn="ctr">
              <a:spcBef>
                <a:spcPts val="0"/>
              </a:spcBef>
              <a:buNone/>
              <a:defRPr b="1" i="0" sz="1200" u="none" cap="none" strike="noStrike">
                <a:solidFill>
                  <a:srgbClr val="EEEBCA"/>
                </a:solidFill>
                <a:latin typeface="Calibri"/>
                <a:ea typeface="Calibri"/>
                <a:cs typeface="Calibri"/>
                <a:sym typeface="Calibri"/>
              </a:defRPr>
            </a:lvl3pPr>
            <a:lvl4pPr indent="0" lvl="3" marL="0" algn="ctr">
              <a:spcBef>
                <a:spcPts val="0"/>
              </a:spcBef>
              <a:buNone/>
              <a:defRPr b="1" i="0" sz="1200" u="none" cap="none" strike="noStrike">
                <a:solidFill>
                  <a:srgbClr val="EEEBCA"/>
                </a:solidFill>
                <a:latin typeface="Calibri"/>
                <a:ea typeface="Calibri"/>
                <a:cs typeface="Calibri"/>
                <a:sym typeface="Calibri"/>
              </a:defRPr>
            </a:lvl4pPr>
            <a:lvl5pPr indent="0" lvl="4" marL="0" algn="ctr">
              <a:spcBef>
                <a:spcPts val="0"/>
              </a:spcBef>
              <a:buNone/>
              <a:defRPr b="1" i="0" sz="1200" u="none" cap="none" strike="noStrike">
                <a:solidFill>
                  <a:srgbClr val="EEEBCA"/>
                </a:solidFill>
                <a:latin typeface="Calibri"/>
                <a:ea typeface="Calibri"/>
                <a:cs typeface="Calibri"/>
                <a:sym typeface="Calibri"/>
              </a:defRPr>
            </a:lvl5pPr>
            <a:lvl6pPr indent="0" lvl="5" marL="0" algn="ctr">
              <a:spcBef>
                <a:spcPts val="0"/>
              </a:spcBef>
              <a:buNone/>
              <a:defRPr b="1" i="0" sz="1200" u="none" cap="none" strike="noStrike">
                <a:solidFill>
                  <a:srgbClr val="EEEBCA"/>
                </a:solidFill>
                <a:latin typeface="Calibri"/>
                <a:ea typeface="Calibri"/>
                <a:cs typeface="Calibri"/>
                <a:sym typeface="Calibri"/>
              </a:defRPr>
            </a:lvl6pPr>
            <a:lvl7pPr indent="0" lvl="6" marL="0" algn="ctr">
              <a:spcBef>
                <a:spcPts val="0"/>
              </a:spcBef>
              <a:buNone/>
              <a:defRPr b="1" i="0" sz="1200" u="none" cap="none" strike="noStrike">
                <a:solidFill>
                  <a:srgbClr val="EEEBCA"/>
                </a:solidFill>
                <a:latin typeface="Calibri"/>
                <a:ea typeface="Calibri"/>
                <a:cs typeface="Calibri"/>
                <a:sym typeface="Calibri"/>
              </a:defRPr>
            </a:lvl7pPr>
            <a:lvl8pPr indent="0" lvl="7" marL="0" algn="ctr">
              <a:spcBef>
                <a:spcPts val="0"/>
              </a:spcBef>
              <a:buNone/>
              <a:defRPr b="1" i="0" sz="1200" u="none" cap="none" strike="noStrike">
                <a:solidFill>
                  <a:srgbClr val="EEEBCA"/>
                </a:solidFill>
                <a:latin typeface="Calibri"/>
                <a:ea typeface="Calibri"/>
                <a:cs typeface="Calibri"/>
                <a:sym typeface="Calibri"/>
              </a:defRPr>
            </a:lvl8pPr>
            <a:lvl9pPr indent="0" lvl="8" marL="0" algn="ctr">
              <a:spcBef>
                <a:spcPts val="0"/>
              </a:spcBef>
              <a:buNone/>
              <a:defRPr b="1" i="0" sz="1200" u="none" cap="none" strike="noStrike">
                <a:solidFill>
                  <a:srgbClr val="EEEBCA"/>
                </a:solidFill>
                <a:latin typeface="Calibri"/>
                <a:ea typeface="Calibri"/>
                <a:cs typeface="Calibri"/>
                <a:sym typeface="Calibri"/>
              </a:defRPr>
            </a:lvl9pPr>
          </a:lstStyle>
          <a:p>
            <a:pPr indent="0" lvl="0" marL="0" rtl="0" algn="ct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18"/>
          <p:cNvSpPr txBox="1"/>
          <p:nvPr/>
        </p:nvSpPr>
        <p:spPr>
          <a:xfrm>
            <a:off x="1219200" y="5486400"/>
            <a:ext cx="3581400" cy="685800"/>
          </a:xfrm>
          <a:prstGeom prst="rect">
            <a:avLst/>
          </a:prstGeom>
          <a:noFill/>
          <a:ln>
            <a:noFill/>
          </a:ln>
        </p:spPr>
        <p:txBody>
          <a:bodyPr anchorCtr="0" anchor="ctr" bIns="45700" lIns="91425" spcFirstLastPara="1" rIns="91425" wrap="square" tIns="45700">
            <a:normAutofit lnSpcReduction="10000"/>
          </a:bodyPr>
          <a:lstStyle/>
          <a:p>
            <a:pPr indent="0" lvl="0" marL="0" marR="0" rtl="0" algn="ctr">
              <a:lnSpc>
                <a:spcPct val="100000"/>
              </a:lnSpc>
              <a:spcBef>
                <a:spcPts val="0"/>
              </a:spcBef>
              <a:spcAft>
                <a:spcPts val="0"/>
              </a:spcAft>
              <a:buClr>
                <a:schemeClr val="dk1"/>
              </a:buClr>
              <a:buSzPts val="2000"/>
              <a:buFont typeface="Arial Black"/>
              <a:buNone/>
            </a:pPr>
            <a:r>
              <a:rPr b="0" i="0" lang="en-US" sz="2000" u="none" cap="none" strike="noStrike">
                <a:solidFill>
                  <a:schemeClr val="dk1"/>
                </a:solidFill>
                <a:latin typeface="Arial Black"/>
                <a:ea typeface="Arial Black"/>
                <a:cs typeface="Arial Black"/>
                <a:sym typeface="Arial Black"/>
              </a:rPr>
              <a:t>Your Interactive Guide to the Digital World</a:t>
            </a:r>
            <a:endParaRPr/>
          </a:p>
        </p:txBody>
      </p:sp>
      <p:sp>
        <p:nvSpPr>
          <p:cNvPr id="30" name="Google Shape;30;p18"/>
          <p:cNvSpPr/>
          <p:nvPr/>
        </p:nvSpPr>
        <p:spPr>
          <a:xfrm>
            <a:off x="0" y="4267200"/>
            <a:ext cx="487680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Arial Black"/>
                <a:ea typeface="Arial Black"/>
                <a:cs typeface="Arial Black"/>
                <a:sym typeface="Arial Black"/>
              </a:rPr>
              <a:t>Discovering </a:t>
            </a:r>
            <a:br>
              <a:rPr b="0" i="0" lang="en-US" sz="3200" u="none" cap="none" strike="noStrike">
                <a:solidFill>
                  <a:schemeClr val="dk1"/>
                </a:solidFill>
                <a:latin typeface="Arial Black"/>
                <a:ea typeface="Arial Black"/>
                <a:cs typeface="Arial Black"/>
                <a:sym typeface="Arial Black"/>
              </a:rPr>
            </a:br>
            <a:r>
              <a:rPr b="0" i="0" lang="en-US" sz="3200" u="none" cap="none" strike="noStrike">
                <a:solidFill>
                  <a:schemeClr val="dk1"/>
                </a:solidFill>
                <a:latin typeface="Arial Black"/>
                <a:ea typeface="Arial Black"/>
                <a:cs typeface="Arial Black"/>
                <a:sym typeface="Arial Black"/>
              </a:rPr>
              <a:t>	Computers 2012</a:t>
            </a:r>
            <a:endParaRPr/>
          </a:p>
        </p:txBody>
      </p:sp>
      <p:pic>
        <p:nvPicPr>
          <p:cNvPr id="31" name="Google Shape;31;p18"/>
          <p:cNvPicPr preferRelativeResize="0"/>
          <p:nvPr/>
        </p:nvPicPr>
        <p:blipFill rotWithShape="1">
          <a:blip r:embed="rId2">
            <a:alphaModFix/>
          </a:blip>
          <a:srcRect b="0" l="0" r="0" t="0"/>
          <a:stretch/>
        </p:blipFill>
        <p:spPr>
          <a:xfrm>
            <a:off x="5186606" y="3276600"/>
            <a:ext cx="3957394" cy="3581400"/>
          </a:xfrm>
          <a:prstGeom prst="rect">
            <a:avLst/>
          </a:prstGeom>
          <a:noFill/>
          <a:ln>
            <a:noFill/>
          </a:ln>
        </p:spPr>
      </p:pic>
      <p:pic>
        <p:nvPicPr>
          <p:cNvPr id="32" name="Google Shape;32;p18"/>
          <p:cNvPicPr preferRelativeResize="0"/>
          <p:nvPr/>
        </p:nvPicPr>
        <p:blipFill rotWithShape="1">
          <a:blip r:embed="rId3">
            <a:alphaModFix/>
          </a:blip>
          <a:srcRect b="0" l="0" r="0" t="0"/>
          <a:stretch/>
        </p:blipFill>
        <p:spPr>
          <a:xfrm>
            <a:off x="0" y="0"/>
            <a:ext cx="9144000" cy="3235890"/>
          </a:xfrm>
          <a:prstGeom prst="rect">
            <a:avLst/>
          </a:prstGeom>
          <a:noFill/>
          <a:ln>
            <a:noFill/>
          </a:ln>
          <a:effectLst>
            <a:outerShdw blurRad="292100" rotWithShape="0" algn="tl" dir="2700000" dist="139700">
              <a:srgbClr val="333333">
                <a:alpha val="64705"/>
              </a:srgbClr>
            </a:outerShdw>
          </a:effectLst>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5F497A"/>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sz="2000">
                <a:solidFill>
                  <a:srgbClr val="888888"/>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6" name="Google Shape;36;p1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19"/>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9" name="Shape 39"/>
        <p:cNvGrpSpPr/>
        <p:nvPr/>
      </p:nvGrpSpPr>
      <p:grpSpPr>
        <a:xfrm>
          <a:off x="0" y="0"/>
          <a:ext cx="0" cy="0"/>
          <a:chOff x="0" y="0"/>
          <a:chExt cx="0" cy="0"/>
        </a:xfrm>
      </p:grpSpPr>
      <p:sp>
        <p:nvSpPr>
          <p:cNvPr id="40" name="Google Shape;40;p20"/>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20"/>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20"/>
          <p:cNvSpPr txBox="1"/>
          <p:nvPr>
            <p:ph idx="3" type="body"/>
          </p:nvPr>
        </p:nvSpPr>
        <p:spPr>
          <a:xfrm>
            <a:off x="152400" y="6400800"/>
            <a:ext cx="1676400" cy="3048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6" name="Shape 46"/>
        <p:cNvGrpSpPr/>
        <p:nvPr/>
      </p:nvGrpSpPr>
      <p:grpSpPr>
        <a:xfrm>
          <a:off x="0" y="0"/>
          <a:ext cx="0" cy="0"/>
          <a:chOff x="0" y="0"/>
          <a:chExt cx="0" cy="0"/>
        </a:xfrm>
      </p:grpSpPr>
      <p:sp>
        <p:nvSpPr>
          <p:cNvPr id="47" name="Google Shape;47;p2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21"/>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21"/>
          <p:cNvSpPr txBox="1"/>
          <p:nvPr>
            <p:ph idx="5" type="body"/>
          </p:nvPr>
        </p:nvSpPr>
        <p:spPr>
          <a:xfrm>
            <a:off x="152400" y="6400800"/>
            <a:ext cx="1676400" cy="3048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2"/>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2"/>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23"/>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F497A"/>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SzPts val="3200"/>
              <a:buChar char="•"/>
              <a:defRPr sz="3200"/>
            </a:lvl1pPr>
            <a:lvl2pPr indent="-406400" lvl="1" marL="914400" algn="l">
              <a:spcBef>
                <a:spcPts val="560"/>
              </a:spcBef>
              <a:spcAft>
                <a:spcPts val="0"/>
              </a:spcAft>
              <a:buSzPts val="2800"/>
              <a:buChar char="–"/>
              <a:defRPr sz="2800"/>
            </a:lvl2pPr>
            <a:lvl3pPr indent="-381000" lvl="2" marL="1371600" algn="l">
              <a:spcBef>
                <a:spcPts val="480"/>
              </a:spcBef>
              <a:spcAft>
                <a:spcPts val="0"/>
              </a:spcAft>
              <a:buSzPts val="240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2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24"/>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4"/>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F497A"/>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5"/>
          <p:cNvSpPr/>
          <p:nvPr>
            <p:ph idx="2" type="pic"/>
          </p:nvPr>
        </p:nvSpPr>
        <p:spPr>
          <a:xfrm>
            <a:off x="1792288" y="612775"/>
            <a:ext cx="5486400" cy="4114800"/>
          </a:xfrm>
          <a:prstGeom prst="rect">
            <a:avLst/>
          </a:prstGeom>
          <a:noFill/>
          <a:ln>
            <a:noFill/>
          </a:ln>
        </p:spPr>
      </p:sp>
      <p:sp>
        <p:nvSpPr>
          <p:cNvPr id="74" name="Google Shape;7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2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25"/>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5"/>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26"/>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
          <p:cNvSpPr txBox="1"/>
          <p:nvPr>
            <p:ph idx="1" type="body"/>
          </p:nvPr>
        </p:nvSpPr>
        <p:spPr>
          <a:xfrm rot="5400000">
            <a:off x="2247900" y="-495300"/>
            <a:ext cx="4648200" cy="8839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26"/>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6"/>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2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27"/>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7"/>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5DFEC"/>
            </a:gs>
            <a:gs pos="64999">
              <a:srgbClr val="F0EBD5"/>
            </a:gs>
            <a:gs pos="100000">
              <a:srgbClr val="D1C39F"/>
            </a:gs>
          </a:gsLst>
          <a:path path="circle">
            <a:fillToRect b="0%" l="100%" r="0%" t="100%"/>
          </a:path>
          <a:tileRect b="-100%" l="0%" r="-100%" t="0%"/>
        </a:gra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F497A"/>
              </a:buClr>
              <a:buSzPts val="4000"/>
              <a:buFont typeface="Calibri"/>
              <a:buNone/>
              <a:defRPr b="1" i="0" sz="4000" u="none" cap="none" strike="noStrike">
                <a:solidFill>
                  <a:srgbClr val="5F497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5"/>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5F497A"/>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rgbClr val="5F497A"/>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5F497A"/>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5F497A"/>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5F497A"/>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5"/>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p:nvPr/>
        </p:nvSpPr>
        <p:spPr>
          <a:xfrm>
            <a:off x="0" y="1219200"/>
            <a:ext cx="9144000" cy="457200"/>
          </a:xfrm>
          <a:prstGeom prst="rect">
            <a:avLst/>
          </a:prstGeom>
          <a:gradFill>
            <a:gsLst>
              <a:gs pos="0">
                <a:srgbClr val="DB7531"/>
              </a:gs>
              <a:gs pos="64999">
                <a:srgbClr val="F0EBD5"/>
              </a:gs>
              <a:gs pos="100000">
                <a:srgbClr val="D1C39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 name="Google Shape;14;p15"/>
          <p:cNvSpPr/>
          <p:nvPr/>
        </p:nvSpPr>
        <p:spPr>
          <a:xfrm>
            <a:off x="8534400" y="6248400"/>
            <a:ext cx="609600" cy="609600"/>
          </a:xfrm>
          <a:prstGeom prst="rect">
            <a:avLst/>
          </a:prstGeom>
          <a:solidFill>
            <a:srgbClr val="DB7531"/>
          </a:solidFill>
          <a:ln>
            <a:noFill/>
          </a:ln>
          <a:effectLst>
            <a:outerShdw blurRad="76200" kx="1200000" rotWithShape="0" algn="br" sy="23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 name="Google Shape;15;p15"/>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200" u="none" cap="none" strike="noStrike">
                <a:solidFill>
                  <a:srgbClr val="EEEBCA"/>
                </a:solidFill>
                <a:latin typeface="Calibri"/>
                <a:ea typeface="Calibri"/>
                <a:cs typeface="Calibri"/>
                <a:sym typeface="Calibri"/>
              </a:defRPr>
            </a:lvl1pPr>
            <a:lvl2pPr indent="0" lvl="1" marL="0" marR="0" rtl="0" algn="ctr">
              <a:spcBef>
                <a:spcPts val="0"/>
              </a:spcBef>
              <a:buNone/>
              <a:defRPr b="1" i="0" sz="1200" u="none" cap="none" strike="noStrike">
                <a:solidFill>
                  <a:srgbClr val="EEEBCA"/>
                </a:solidFill>
                <a:latin typeface="Calibri"/>
                <a:ea typeface="Calibri"/>
                <a:cs typeface="Calibri"/>
                <a:sym typeface="Calibri"/>
              </a:defRPr>
            </a:lvl2pPr>
            <a:lvl3pPr indent="0" lvl="2" marL="0" marR="0" rtl="0" algn="ctr">
              <a:spcBef>
                <a:spcPts val="0"/>
              </a:spcBef>
              <a:buNone/>
              <a:defRPr b="1" i="0" sz="1200" u="none" cap="none" strike="noStrike">
                <a:solidFill>
                  <a:srgbClr val="EEEBCA"/>
                </a:solidFill>
                <a:latin typeface="Calibri"/>
                <a:ea typeface="Calibri"/>
                <a:cs typeface="Calibri"/>
                <a:sym typeface="Calibri"/>
              </a:defRPr>
            </a:lvl3pPr>
            <a:lvl4pPr indent="0" lvl="3" marL="0" marR="0" rtl="0" algn="ctr">
              <a:spcBef>
                <a:spcPts val="0"/>
              </a:spcBef>
              <a:buNone/>
              <a:defRPr b="1" i="0" sz="1200" u="none" cap="none" strike="noStrike">
                <a:solidFill>
                  <a:srgbClr val="EEEBCA"/>
                </a:solidFill>
                <a:latin typeface="Calibri"/>
                <a:ea typeface="Calibri"/>
                <a:cs typeface="Calibri"/>
                <a:sym typeface="Calibri"/>
              </a:defRPr>
            </a:lvl4pPr>
            <a:lvl5pPr indent="0" lvl="4" marL="0" marR="0" rtl="0" algn="ctr">
              <a:spcBef>
                <a:spcPts val="0"/>
              </a:spcBef>
              <a:buNone/>
              <a:defRPr b="1" i="0" sz="1200" u="none" cap="none" strike="noStrike">
                <a:solidFill>
                  <a:srgbClr val="EEEBCA"/>
                </a:solidFill>
                <a:latin typeface="Calibri"/>
                <a:ea typeface="Calibri"/>
                <a:cs typeface="Calibri"/>
                <a:sym typeface="Calibri"/>
              </a:defRPr>
            </a:lvl5pPr>
            <a:lvl6pPr indent="0" lvl="5" marL="0" marR="0" rtl="0" algn="ctr">
              <a:spcBef>
                <a:spcPts val="0"/>
              </a:spcBef>
              <a:buNone/>
              <a:defRPr b="1" i="0" sz="1200" u="none" cap="none" strike="noStrike">
                <a:solidFill>
                  <a:srgbClr val="EEEBCA"/>
                </a:solidFill>
                <a:latin typeface="Calibri"/>
                <a:ea typeface="Calibri"/>
                <a:cs typeface="Calibri"/>
                <a:sym typeface="Calibri"/>
              </a:defRPr>
            </a:lvl6pPr>
            <a:lvl7pPr indent="0" lvl="6" marL="0" marR="0" rtl="0" algn="ctr">
              <a:spcBef>
                <a:spcPts val="0"/>
              </a:spcBef>
              <a:buNone/>
              <a:defRPr b="1" i="0" sz="1200" u="none" cap="none" strike="noStrike">
                <a:solidFill>
                  <a:srgbClr val="EEEBCA"/>
                </a:solidFill>
                <a:latin typeface="Calibri"/>
                <a:ea typeface="Calibri"/>
                <a:cs typeface="Calibri"/>
                <a:sym typeface="Calibri"/>
              </a:defRPr>
            </a:lvl7pPr>
            <a:lvl8pPr indent="0" lvl="7" marL="0" marR="0" rtl="0" algn="ctr">
              <a:spcBef>
                <a:spcPts val="0"/>
              </a:spcBef>
              <a:buNone/>
              <a:defRPr b="1" i="0" sz="1200" u="none" cap="none" strike="noStrike">
                <a:solidFill>
                  <a:srgbClr val="EEEBCA"/>
                </a:solidFill>
                <a:latin typeface="Calibri"/>
                <a:ea typeface="Calibri"/>
                <a:cs typeface="Calibri"/>
                <a:sym typeface="Calibri"/>
              </a:defRPr>
            </a:lvl8pPr>
            <a:lvl9pPr indent="0" lvl="8" marL="0" marR="0" rtl="0" algn="ctr">
              <a:spcBef>
                <a:spcPts val="0"/>
              </a:spcBef>
              <a:buNone/>
              <a:defRPr b="1" i="0" sz="1200" u="none" cap="none" strike="noStrike">
                <a:solidFill>
                  <a:srgbClr val="EEEBCA"/>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F497A"/>
              </a:buClr>
              <a:buSzPts val="2400"/>
              <a:buFont typeface="Calibri"/>
              <a:buNone/>
            </a:pPr>
            <a:r>
              <a:rPr lang="en-US" sz="2400"/>
              <a:t>Types of Network Attacks</a:t>
            </a:r>
            <a:endParaRPr/>
          </a:p>
        </p:txBody>
      </p:sp>
      <p:sp>
        <p:nvSpPr>
          <p:cNvPr id="95" name="Google Shape;95;p1"/>
          <p:cNvSpPr txBox="1"/>
          <p:nvPr>
            <p:ph idx="1" type="body"/>
          </p:nvPr>
        </p:nvSpPr>
        <p:spPr>
          <a:xfrm>
            <a:off x="152400" y="1524000"/>
            <a:ext cx="8839200" cy="3733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200"/>
              <a:buNone/>
            </a:pPr>
            <a:r>
              <a:t/>
            </a:r>
            <a:endParaRPr/>
          </a:p>
          <a:p>
            <a:pPr indent="0" lvl="0" marL="0" rtl="0" algn="ctr">
              <a:spcBef>
                <a:spcPts val="800"/>
              </a:spcBef>
              <a:spcAft>
                <a:spcPts val="0"/>
              </a:spcAft>
              <a:buSzPts val="4000"/>
              <a:buNone/>
            </a:pPr>
            <a:r>
              <a:t/>
            </a:r>
            <a:endParaRPr b="1" sz="4000">
              <a:solidFill>
                <a:srgbClr val="5F497A"/>
              </a:solidFill>
              <a:latin typeface="Calibri"/>
              <a:ea typeface="Calibri"/>
              <a:cs typeface="Calibri"/>
              <a:sym typeface="Calibri"/>
            </a:endParaRPr>
          </a:p>
          <a:p>
            <a:pPr indent="0" lvl="0" marL="0" rtl="0" algn="ctr">
              <a:spcBef>
                <a:spcPts val="880"/>
              </a:spcBef>
              <a:spcAft>
                <a:spcPts val="0"/>
              </a:spcAft>
              <a:buSzPts val="4400"/>
              <a:buNone/>
            </a:pPr>
            <a:r>
              <a:rPr b="1" lang="en-US" sz="4400">
                <a:solidFill>
                  <a:srgbClr val="5F497A"/>
                </a:solidFill>
                <a:latin typeface="Calibri"/>
                <a:ea typeface="Calibri"/>
                <a:cs typeface="Calibri"/>
                <a:sym typeface="Calibri"/>
              </a:rPr>
              <a:t>Information Security</a:t>
            </a:r>
            <a:endParaRPr b="1" sz="2000">
              <a:solidFill>
                <a:srgbClr val="5F497A"/>
              </a:solidFill>
              <a:latin typeface="Calibri"/>
              <a:ea typeface="Calibri"/>
              <a:cs typeface="Calibri"/>
              <a:sym typeface="Calibri"/>
            </a:endParaRPr>
          </a:p>
        </p:txBody>
      </p:sp>
      <p:sp>
        <p:nvSpPr>
          <p:cNvPr id="96" name="Google Shape;96;p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Types of Network Attacks</a:t>
            </a:r>
            <a:endParaRPr sz="3600"/>
          </a:p>
        </p:txBody>
      </p:sp>
      <p:sp>
        <p:nvSpPr>
          <p:cNvPr id="103" name="Google Shape;103;p2"/>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What is Attack</a:t>
            </a:r>
            <a:endParaRPr/>
          </a:p>
          <a:p>
            <a:pPr indent="-342900" lvl="0" marL="342900" rtl="0" algn="l">
              <a:spcBef>
                <a:spcPts val="560"/>
              </a:spcBef>
              <a:spcAft>
                <a:spcPts val="0"/>
              </a:spcAft>
              <a:buSzPts val="2800"/>
              <a:buChar char="•"/>
            </a:pPr>
            <a:r>
              <a:rPr lang="en-US" sz="2800"/>
              <a:t>Types of Network Attacks</a:t>
            </a:r>
            <a:endParaRPr/>
          </a:p>
          <a:p>
            <a:pPr indent="-285750" lvl="1" marL="742950" rtl="0" algn="l">
              <a:spcBef>
                <a:spcPts val="480"/>
              </a:spcBef>
              <a:spcAft>
                <a:spcPts val="0"/>
              </a:spcAft>
              <a:buSzPts val="2400"/>
              <a:buChar char="–"/>
            </a:pPr>
            <a:r>
              <a:rPr lang="en-US" sz="2400"/>
              <a:t>Reconnaissance Attack</a:t>
            </a:r>
            <a:endParaRPr/>
          </a:p>
          <a:p>
            <a:pPr indent="-285750" lvl="1" marL="742950" rtl="0" algn="l">
              <a:spcBef>
                <a:spcPts val="480"/>
              </a:spcBef>
              <a:spcAft>
                <a:spcPts val="0"/>
              </a:spcAft>
              <a:buSzPts val="2400"/>
              <a:buChar char="–"/>
            </a:pPr>
            <a:r>
              <a:rPr lang="en-US" sz="2400"/>
              <a:t>Passive Attack</a:t>
            </a:r>
            <a:endParaRPr/>
          </a:p>
          <a:p>
            <a:pPr indent="-285750" lvl="1" marL="742950" rtl="0" algn="l">
              <a:spcBef>
                <a:spcPts val="480"/>
              </a:spcBef>
              <a:spcAft>
                <a:spcPts val="0"/>
              </a:spcAft>
              <a:buSzPts val="2400"/>
              <a:buChar char="–"/>
            </a:pPr>
            <a:r>
              <a:rPr lang="en-US" sz="2400"/>
              <a:t>Active Attack</a:t>
            </a:r>
            <a:endParaRPr/>
          </a:p>
          <a:p>
            <a:pPr indent="-285750" lvl="1" marL="742950" rtl="0" algn="l">
              <a:spcBef>
                <a:spcPts val="480"/>
              </a:spcBef>
              <a:spcAft>
                <a:spcPts val="0"/>
              </a:spcAft>
              <a:buSzPts val="2400"/>
              <a:buChar char="–"/>
            </a:pPr>
            <a:r>
              <a:rPr lang="en-US" sz="2400"/>
              <a:t>Distributed Attack</a:t>
            </a:r>
            <a:endParaRPr/>
          </a:p>
          <a:p>
            <a:pPr indent="-285750" lvl="1" marL="742950" rtl="0" algn="l">
              <a:spcBef>
                <a:spcPts val="480"/>
              </a:spcBef>
              <a:spcAft>
                <a:spcPts val="0"/>
              </a:spcAft>
              <a:buSzPts val="2400"/>
              <a:buChar char="–"/>
            </a:pPr>
            <a:r>
              <a:rPr lang="en-US" sz="2400"/>
              <a:t>Insider Attack</a:t>
            </a:r>
            <a:endParaRPr/>
          </a:p>
          <a:p>
            <a:pPr indent="-285750" lvl="1" marL="742950" rtl="0" algn="l">
              <a:spcBef>
                <a:spcPts val="480"/>
              </a:spcBef>
              <a:spcAft>
                <a:spcPts val="0"/>
              </a:spcAft>
              <a:buSzPts val="2400"/>
              <a:buChar char="–"/>
            </a:pPr>
            <a:r>
              <a:rPr lang="en-US" sz="2400"/>
              <a:t>Phishing Attack</a:t>
            </a:r>
            <a:endParaRPr/>
          </a:p>
          <a:p>
            <a:pPr indent="-285750" lvl="1" marL="742950" rtl="0" algn="l">
              <a:spcBef>
                <a:spcPts val="480"/>
              </a:spcBef>
              <a:spcAft>
                <a:spcPts val="0"/>
              </a:spcAft>
              <a:buSzPts val="2400"/>
              <a:buChar char="–"/>
            </a:pPr>
            <a:r>
              <a:rPr lang="en-US" sz="2400"/>
              <a:t>Back Door</a:t>
            </a:r>
            <a:endParaRPr/>
          </a:p>
          <a:p>
            <a:pPr indent="-285750" lvl="1" marL="742950" rtl="0" algn="l">
              <a:spcBef>
                <a:spcPts val="480"/>
              </a:spcBef>
              <a:spcAft>
                <a:spcPts val="0"/>
              </a:spcAft>
              <a:buSzPts val="2400"/>
              <a:buChar char="–"/>
            </a:pPr>
            <a:r>
              <a:rPr lang="en-US" sz="2400"/>
              <a:t>Password Attacks</a:t>
            </a:r>
            <a:endParaRPr/>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Types of Network Attacks</a:t>
            </a:r>
            <a:endParaRPr sz="3600"/>
          </a:p>
        </p:txBody>
      </p:sp>
      <p:sp>
        <p:nvSpPr>
          <p:cNvPr id="110" name="Google Shape;110;p3"/>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Types of Network Attacks</a:t>
            </a:r>
            <a:endParaRPr/>
          </a:p>
          <a:p>
            <a:pPr indent="-285750" lvl="1" marL="742950" rtl="0" algn="l">
              <a:spcBef>
                <a:spcPts val="480"/>
              </a:spcBef>
              <a:spcAft>
                <a:spcPts val="0"/>
              </a:spcAft>
              <a:buSzPts val="2400"/>
              <a:buChar char="–"/>
            </a:pPr>
            <a:r>
              <a:rPr lang="en-US" sz="2400"/>
              <a:t>IP Address Spoofing Attack</a:t>
            </a:r>
            <a:endParaRPr/>
          </a:p>
          <a:p>
            <a:pPr indent="-285750" lvl="1" marL="742950" rtl="0" algn="l">
              <a:spcBef>
                <a:spcPts val="480"/>
              </a:spcBef>
              <a:spcAft>
                <a:spcPts val="0"/>
              </a:spcAft>
              <a:buSzPts val="2400"/>
              <a:buChar char="–"/>
            </a:pPr>
            <a:r>
              <a:rPr lang="en-US" sz="2400"/>
              <a:t>ARP (Address Resolution Protocol) Spoofing Attack</a:t>
            </a:r>
            <a:endParaRPr/>
          </a:p>
          <a:p>
            <a:pPr indent="-285750" lvl="1" marL="742950" rtl="0" algn="l">
              <a:spcBef>
                <a:spcPts val="480"/>
              </a:spcBef>
              <a:spcAft>
                <a:spcPts val="0"/>
              </a:spcAft>
              <a:buSzPts val="2400"/>
              <a:buChar char="–"/>
            </a:pPr>
            <a:r>
              <a:rPr lang="en-US" sz="2400"/>
              <a:t>DNS (Domain Name System) Spoofing Attack</a:t>
            </a:r>
            <a:endParaRPr/>
          </a:p>
          <a:p>
            <a:pPr indent="-285750" lvl="1" marL="742950" rtl="0" algn="l">
              <a:spcBef>
                <a:spcPts val="480"/>
              </a:spcBef>
              <a:spcAft>
                <a:spcPts val="0"/>
              </a:spcAft>
              <a:buSzPts val="2400"/>
              <a:buChar char="–"/>
            </a:pPr>
            <a:r>
              <a:rPr lang="en-US" sz="2400"/>
              <a:t>SYN Flood Attack</a:t>
            </a:r>
            <a:endParaRPr/>
          </a:p>
          <a:p>
            <a:pPr indent="-285750" lvl="1" marL="742950" rtl="0" algn="l">
              <a:spcBef>
                <a:spcPts val="480"/>
              </a:spcBef>
              <a:spcAft>
                <a:spcPts val="0"/>
              </a:spcAft>
              <a:buSzPts val="2400"/>
              <a:buChar char="–"/>
            </a:pPr>
            <a:r>
              <a:rPr lang="en-US" sz="2400"/>
              <a:t>Sniffer Attack</a:t>
            </a:r>
            <a:endParaRPr/>
          </a:p>
          <a:p>
            <a:pPr indent="-285750" lvl="1" marL="742950" rtl="0" algn="l">
              <a:spcBef>
                <a:spcPts val="480"/>
              </a:spcBef>
              <a:spcAft>
                <a:spcPts val="0"/>
              </a:spcAft>
              <a:buSzPts val="2400"/>
              <a:buChar char="–"/>
            </a:pPr>
            <a:r>
              <a:rPr lang="en-US" sz="2400"/>
              <a:t>Man-In-The-Middle (MITM) Attack</a:t>
            </a:r>
            <a:endParaRPr/>
          </a:p>
          <a:p>
            <a:pPr indent="-285750" lvl="1" marL="742950" rtl="0" algn="l">
              <a:spcBef>
                <a:spcPts val="480"/>
              </a:spcBef>
              <a:spcAft>
                <a:spcPts val="0"/>
              </a:spcAft>
              <a:buSzPts val="2400"/>
              <a:buChar char="–"/>
            </a:pPr>
            <a:r>
              <a:rPr lang="en-US" sz="2400"/>
              <a:t>Denial of Service (DoS) Attack</a:t>
            </a:r>
            <a:endParaRPr/>
          </a:p>
          <a:p>
            <a:pPr indent="-285750" lvl="1" marL="742950" rtl="0" algn="l">
              <a:spcBef>
                <a:spcPts val="480"/>
              </a:spcBef>
              <a:spcAft>
                <a:spcPts val="0"/>
              </a:spcAft>
              <a:buSzPts val="2400"/>
              <a:buChar char="–"/>
            </a:pPr>
            <a:r>
              <a:rPr lang="en-US" sz="2400"/>
              <a:t>Distributed Denial of Service (DDoS) Attack</a:t>
            </a:r>
            <a:endParaRPr/>
          </a:p>
          <a:p>
            <a:pPr indent="-285750" lvl="1" marL="742950" rtl="0" algn="l">
              <a:spcBef>
                <a:spcPts val="480"/>
              </a:spcBef>
              <a:spcAft>
                <a:spcPts val="0"/>
              </a:spcAft>
              <a:buSzPts val="2400"/>
              <a:buChar char="–"/>
            </a:pPr>
            <a:r>
              <a:rPr lang="en-US" sz="2400"/>
              <a:t>SQL Injection Attack</a:t>
            </a:r>
            <a:endParaRPr/>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What is Attack</a:t>
            </a:r>
            <a:endParaRPr/>
          </a:p>
        </p:txBody>
      </p:sp>
      <p:sp>
        <p:nvSpPr>
          <p:cNvPr id="117" name="Google Shape;117;p4"/>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sz="2400"/>
              <a:t>An attack occurs when someone attempts to </a:t>
            </a:r>
            <a:r>
              <a:rPr lang="en-US" sz="2400" u="sng"/>
              <a:t>exploit a vulnerability</a:t>
            </a:r>
            <a:endParaRPr u="sng"/>
          </a:p>
          <a:p>
            <a:pPr indent="-285750" lvl="1" marL="742950" rtl="0" algn="l">
              <a:spcBef>
                <a:spcPts val="400"/>
              </a:spcBef>
              <a:spcAft>
                <a:spcPts val="0"/>
              </a:spcAft>
              <a:buSzPts val="2000"/>
              <a:buChar char="–"/>
            </a:pPr>
            <a:r>
              <a:rPr lang="en-US" sz="2000"/>
              <a:t>An </a:t>
            </a:r>
            <a:r>
              <a:rPr lang="en-US" sz="2000" u="sng"/>
              <a:t>exploit</a:t>
            </a:r>
            <a:r>
              <a:rPr lang="en-US" sz="2000"/>
              <a:t> is a technique to compromise a system</a:t>
            </a:r>
            <a:endParaRPr/>
          </a:p>
          <a:p>
            <a:pPr indent="-285750" lvl="1" marL="742950" rtl="0" algn="l">
              <a:spcBef>
                <a:spcPts val="400"/>
              </a:spcBef>
              <a:spcAft>
                <a:spcPts val="0"/>
              </a:spcAft>
              <a:buSzPts val="2000"/>
              <a:buChar char="–"/>
            </a:pPr>
            <a:r>
              <a:rPr lang="en-US" sz="2000"/>
              <a:t>A </a:t>
            </a:r>
            <a:r>
              <a:rPr lang="en-US" sz="2000" u="sng"/>
              <a:t>vulnerability</a:t>
            </a:r>
            <a:r>
              <a:rPr lang="en-US" sz="2000"/>
              <a:t> is a weakness which can be exploited by an attacker</a:t>
            </a:r>
            <a:endParaRPr/>
          </a:p>
          <a:p>
            <a:pPr indent="-342900" lvl="0" marL="342900" rtl="0" algn="l">
              <a:spcBef>
                <a:spcPts val="480"/>
              </a:spcBef>
              <a:spcAft>
                <a:spcPts val="0"/>
              </a:spcAft>
              <a:buSzPts val="2400"/>
              <a:buChar char="•"/>
            </a:pPr>
            <a:r>
              <a:rPr lang="en-US" sz="2400"/>
              <a:t>A compromise occurs when an attack is successful</a:t>
            </a:r>
            <a:endParaRPr/>
          </a:p>
          <a:p>
            <a:pPr indent="-285750" lvl="1" marL="742950" rtl="0" algn="l">
              <a:spcBef>
                <a:spcPts val="400"/>
              </a:spcBef>
              <a:spcAft>
                <a:spcPts val="0"/>
              </a:spcAft>
              <a:buSzPts val="2000"/>
              <a:buChar char="–"/>
            </a:pPr>
            <a:r>
              <a:rPr lang="en-US" sz="2000"/>
              <a:t>Which damages or steals organization’s information</a:t>
            </a:r>
            <a:endParaRPr/>
          </a:p>
          <a:p>
            <a:pPr indent="-158750" lvl="1" marL="742950" rtl="0" algn="l">
              <a:spcBef>
                <a:spcPts val="400"/>
              </a:spcBef>
              <a:spcAft>
                <a:spcPts val="0"/>
              </a:spcAft>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Types of Network Attacks</a:t>
            </a:r>
            <a:endParaRPr sz="3600"/>
          </a:p>
        </p:txBody>
      </p:sp>
      <p:sp>
        <p:nvSpPr>
          <p:cNvPr id="124" name="Google Shape;124;p5"/>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800"/>
              <a:buNone/>
            </a:pPr>
            <a:r>
              <a:rPr b="1" lang="en-US" sz="2800"/>
              <a:t>Reconnaissance Attack</a:t>
            </a:r>
            <a:endParaRPr/>
          </a:p>
          <a:p>
            <a:pPr indent="-342900" lvl="1" marL="342900" rtl="0" algn="l">
              <a:spcBef>
                <a:spcPts val="480"/>
              </a:spcBef>
              <a:spcAft>
                <a:spcPts val="0"/>
              </a:spcAft>
              <a:buSzPts val="2400"/>
              <a:buFont typeface="Arial"/>
              <a:buChar char="•"/>
            </a:pPr>
            <a:r>
              <a:rPr lang="en-US" sz="2400"/>
              <a:t>In this kind of attack, an </a:t>
            </a:r>
            <a:r>
              <a:rPr lang="en-US" sz="2400" u="sng"/>
              <a:t>adversary collects as much information</a:t>
            </a:r>
            <a:r>
              <a:rPr lang="en-US" sz="2400"/>
              <a:t> about your network as he needed for other attacks. </a:t>
            </a:r>
            <a:endParaRPr/>
          </a:p>
          <a:p>
            <a:pPr indent="-342900" lvl="1" marL="342900" rtl="0" algn="l">
              <a:spcBef>
                <a:spcPts val="480"/>
              </a:spcBef>
              <a:spcAft>
                <a:spcPts val="0"/>
              </a:spcAft>
              <a:buSzPts val="2400"/>
              <a:buFont typeface="Arial"/>
              <a:buChar char="•"/>
            </a:pPr>
            <a:r>
              <a:rPr lang="en-US" sz="2400"/>
              <a:t>This information includes IP address range, server location, running OS, software version, types of devices etc. </a:t>
            </a:r>
            <a:endParaRPr/>
          </a:p>
          <a:p>
            <a:pPr indent="-342900" lvl="1" marL="342900" rtl="0" algn="l">
              <a:spcBef>
                <a:spcPts val="480"/>
              </a:spcBef>
              <a:spcAft>
                <a:spcPts val="0"/>
              </a:spcAft>
              <a:buSzPts val="2400"/>
              <a:buFont typeface="Arial"/>
              <a:buChar char="•"/>
            </a:pPr>
            <a:r>
              <a:rPr lang="en-US" sz="2400"/>
              <a:t>Packet capturing software, Ping command, traceroot command, nslookup are some example tools which can be used to collect this information. </a:t>
            </a:r>
            <a:endParaRPr/>
          </a:p>
          <a:p>
            <a:pPr indent="-342900" lvl="1" marL="342900" rtl="0" algn="l">
              <a:spcBef>
                <a:spcPts val="480"/>
              </a:spcBef>
              <a:spcAft>
                <a:spcPts val="0"/>
              </a:spcAft>
              <a:buSzPts val="2400"/>
              <a:buFont typeface="Arial"/>
              <a:buChar char="•"/>
            </a:pPr>
            <a:r>
              <a:rPr lang="en-US" sz="2400"/>
              <a:t>Adversary will use this information in mapping your infrastructure for next possible attack.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Types of Network Attacks</a:t>
            </a:r>
            <a:endParaRPr sz="3600"/>
          </a:p>
        </p:txBody>
      </p:sp>
      <p:sp>
        <p:nvSpPr>
          <p:cNvPr id="131" name="Google Shape;131;p6"/>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Passive Attack</a:t>
            </a:r>
            <a:endParaRPr/>
          </a:p>
          <a:p>
            <a:pPr indent="-342900" lvl="1" marL="342900" rtl="0" algn="l">
              <a:spcBef>
                <a:spcPts val="480"/>
              </a:spcBef>
              <a:spcAft>
                <a:spcPts val="0"/>
              </a:spcAft>
              <a:buSzPts val="2400"/>
              <a:buFont typeface="Arial"/>
              <a:buChar char="•"/>
            </a:pPr>
            <a:r>
              <a:rPr lang="en-US" sz="2400"/>
              <a:t>In this attack an adversary </a:t>
            </a:r>
            <a:r>
              <a:rPr lang="en-US" sz="2400" u="sng"/>
              <a:t>deploys a sniffer tool</a:t>
            </a:r>
            <a:r>
              <a:rPr lang="en-US" sz="2400"/>
              <a:t> and waits for sensitive information to be captured. </a:t>
            </a:r>
            <a:endParaRPr/>
          </a:p>
          <a:p>
            <a:pPr indent="-342900" lvl="1" marL="342900" rtl="0" algn="l">
              <a:spcBef>
                <a:spcPts val="480"/>
              </a:spcBef>
              <a:spcAft>
                <a:spcPts val="0"/>
              </a:spcAft>
              <a:buSzPts val="2400"/>
              <a:buFont typeface="Arial"/>
              <a:buChar char="•"/>
            </a:pPr>
            <a:r>
              <a:rPr lang="en-US" sz="2400"/>
              <a:t>This information can be used for other types of attacks. </a:t>
            </a:r>
            <a:endParaRPr/>
          </a:p>
          <a:p>
            <a:pPr indent="-342900" lvl="1" marL="342900" rtl="0" algn="l">
              <a:spcBef>
                <a:spcPts val="480"/>
              </a:spcBef>
              <a:spcAft>
                <a:spcPts val="0"/>
              </a:spcAft>
              <a:buSzPts val="2400"/>
              <a:buFont typeface="Arial"/>
              <a:buChar char="•"/>
            </a:pPr>
            <a:r>
              <a:rPr lang="en-US" sz="2400"/>
              <a:t>It includes </a:t>
            </a:r>
            <a:r>
              <a:rPr lang="en-US" sz="2400" u="sng"/>
              <a:t>packet sniffer tools</a:t>
            </a:r>
            <a:r>
              <a:rPr lang="en-US" sz="2400"/>
              <a:t>, </a:t>
            </a:r>
            <a:r>
              <a:rPr lang="en-US" sz="2400" u="sng"/>
              <a:t>traffic analysis software</a:t>
            </a:r>
            <a:r>
              <a:rPr lang="en-US" sz="2400"/>
              <a:t>, filtering clear text passwords from </a:t>
            </a:r>
            <a:r>
              <a:rPr lang="en-US" sz="2400" u="sng"/>
              <a:t>unencrypted traffic</a:t>
            </a:r>
            <a:r>
              <a:rPr lang="en-US" sz="2400"/>
              <a:t> and seeking authentication information from </a:t>
            </a:r>
            <a:r>
              <a:rPr lang="en-US" sz="2400" u="sng"/>
              <a:t>unprotected communication</a:t>
            </a:r>
            <a:r>
              <a:rPr lang="en-US" sz="2400"/>
              <a:t>. </a:t>
            </a:r>
            <a:endParaRPr/>
          </a:p>
          <a:p>
            <a:pPr indent="-342900" lvl="1" marL="342900" rtl="0" algn="l">
              <a:spcBef>
                <a:spcPts val="480"/>
              </a:spcBef>
              <a:spcAft>
                <a:spcPts val="0"/>
              </a:spcAft>
              <a:buSzPts val="2400"/>
              <a:buFont typeface="Arial"/>
              <a:buChar char="•"/>
            </a:pPr>
            <a:r>
              <a:rPr lang="en-US" sz="2400"/>
              <a:t>Once an adversary found any sensitive or authentication information, he will use that without the knowledge of the user.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Types of Network Attacks</a:t>
            </a:r>
            <a:endParaRPr sz="3600"/>
          </a:p>
        </p:txBody>
      </p:sp>
      <p:sp>
        <p:nvSpPr>
          <p:cNvPr id="138" name="Google Shape;138;p7"/>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Active Attack</a:t>
            </a:r>
            <a:endParaRPr/>
          </a:p>
          <a:p>
            <a:pPr indent="-342900" lvl="1" marL="342900" rtl="0" algn="l">
              <a:spcBef>
                <a:spcPts val="480"/>
              </a:spcBef>
              <a:spcAft>
                <a:spcPts val="0"/>
              </a:spcAft>
              <a:buSzPts val="2400"/>
              <a:buFont typeface="Arial"/>
              <a:buChar char="•"/>
            </a:pPr>
            <a:r>
              <a:rPr lang="en-US" sz="2400"/>
              <a:t>In this attack an adversary does </a:t>
            </a:r>
            <a:r>
              <a:rPr lang="en-US" sz="2400" u="sng"/>
              <a:t>not wait for any sensitive</a:t>
            </a:r>
            <a:r>
              <a:rPr lang="en-US" sz="2400"/>
              <a:t> or authentication information. </a:t>
            </a:r>
            <a:endParaRPr/>
          </a:p>
          <a:p>
            <a:pPr indent="-342900" lvl="1" marL="342900" rtl="0" algn="l">
              <a:spcBef>
                <a:spcPts val="480"/>
              </a:spcBef>
              <a:spcAft>
                <a:spcPts val="0"/>
              </a:spcAft>
              <a:buSzPts val="2400"/>
              <a:buFont typeface="Arial"/>
              <a:buChar char="•"/>
            </a:pPr>
            <a:r>
              <a:rPr lang="en-US" sz="2400"/>
              <a:t>He actively tries to </a:t>
            </a:r>
            <a:r>
              <a:rPr lang="en-US" sz="2400" u="sng"/>
              <a:t>break or bypass the secured systems</a:t>
            </a:r>
            <a:r>
              <a:rPr lang="en-US" sz="2400"/>
              <a:t>. It includes </a:t>
            </a:r>
            <a:r>
              <a:rPr lang="en-US" sz="2400" u="sng"/>
              <a:t>viruses</a:t>
            </a:r>
            <a:r>
              <a:rPr lang="en-US" sz="2400"/>
              <a:t>, </a:t>
            </a:r>
            <a:r>
              <a:rPr lang="en-US" sz="2400" u="sng"/>
              <a:t>worms</a:t>
            </a:r>
            <a:r>
              <a:rPr lang="en-US" sz="2400"/>
              <a:t>, </a:t>
            </a:r>
            <a:r>
              <a:rPr lang="en-US" sz="2400" u="sng"/>
              <a:t>trojan horses</a:t>
            </a:r>
            <a:r>
              <a:rPr lang="en-US" sz="2400"/>
              <a:t>, stealing login information, inserting malicious code and penetrating network backbone. </a:t>
            </a:r>
            <a:endParaRPr/>
          </a:p>
          <a:p>
            <a:pPr indent="-342900" lvl="1" marL="342900" rtl="0" algn="l">
              <a:spcBef>
                <a:spcPts val="480"/>
              </a:spcBef>
              <a:spcAft>
                <a:spcPts val="0"/>
              </a:spcAft>
              <a:buSzPts val="2400"/>
              <a:buFont typeface="Arial"/>
              <a:buChar char="•"/>
            </a:pPr>
            <a:r>
              <a:rPr lang="en-US" sz="2400"/>
              <a:t>Active attacks are the most dangerous in natures. It results in disclosing sensitive information, modification of data or complete data lost.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Types of Network Attacks</a:t>
            </a:r>
            <a:endParaRPr sz="3600"/>
          </a:p>
        </p:txBody>
      </p:sp>
      <p:sp>
        <p:nvSpPr>
          <p:cNvPr id="145" name="Google Shape;145;p8"/>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Distributed Attack</a:t>
            </a:r>
            <a:endParaRPr/>
          </a:p>
          <a:p>
            <a:pPr indent="-342900" lvl="1" marL="342900" rtl="0" algn="l">
              <a:spcBef>
                <a:spcPts val="480"/>
              </a:spcBef>
              <a:spcAft>
                <a:spcPts val="0"/>
              </a:spcAft>
              <a:buSzPts val="2400"/>
              <a:buFont typeface="Arial"/>
              <a:buChar char="•"/>
            </a:pPr>
            <a:r>
              <a:rPr lang="en-US" sz="2400"/>
              <a:t>In this attack an adversary hides malicious code in trusted software. </a:t>
            </a:r>
            <a:endParaRPr/>
          </a:p>
          <a:p>
            <a:pPr indent="-342900" lvl="1" marL="342900" rtl="0" algn="l">
              <a:spcBef>
                <a:spcPts val="480"/>
              </a:spcBef>
              <a:spcAft>
                <a:spcPts val="0"/>
              </a:spcAft>
              <a:buSzPts val="2400"/>
              <a:buFont typeface="Arial"/>
              <a:buChar char="•"/>
            </a:pPr>
            <a:r>
              <a:rPr lang="en-US" sz="2400"/>
              <a:t>Later this software is distributed to many other users through the internet without their knowledge. </a:t>
            </a:r>
            <a:endParaRPr/>
          </a:p>
          <a:p>
            <a:pPr indent="-342900" lvl="1" marL="342900" rtl="0" algn="l">
              <a:spcBef>
                <a:spcPts val="480"/>
              </a:spcBef>
              <a:spcAft>
                <a:spcPts val="0"/>
              </a:spcAft>
              <a:buSzPts val="2400"/>
              <a:buFont typeface="Arial"/>
              <a:buChar char="•"/>
            </a:pPr>
            <a:r>
              <a:rPr lang="en-US" sz="2400"/>
              <a:t>Once end user installs infected software, it starts sending sensitive information to the adversary silently. Pirated software is heavily used for this purpose.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Types of Network Attacks</a:t>
            </a:r>
            <a:endParaRPr sz="3600"/>
          </a:p>
        </p:txBody>
      </p:sp>
      <p:sp>
        <p:nvSpPr>
          <p:cNvPr id="152" name="Google Shape;152;p9"/>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Insider Attack</a:t>
            </a:r>
            <a:r>
              <a:rPr lang="en-US" sz="2800"/>
              <a:t>	</a:t>
            </a:r>
            <a:endParaRPr/>
          </a:p>
          <a:p>
            <a:pPr indent="-342900" lvl="1" marL="342900" rtl="0" algn="l">
              <a:spcBef>
                <a:spcPts val="480"/>
              </a:spcBef>
              <a:spcAft>
                <a:spcPts val="0"/>
              </a:spcAft>
              <a:buSzPts val="2400"/>
              <a:buFont typeface="Arial"/>
              <a:buChar char="•"/>
            </a:pPr>
            <a:r>
              <a:rPr lang="en-US" sz="2400"/>
              <a:t>According to a survey more than 70% attacks are insider. Insider attacks are divided in two categories; intentionally and accidentally. </a:t>
            </a:r>
            <a:endParaRPr/>
          </a:p>
          <a:p>
            <a:pPr indent="-342900" lvl="1" marL="342900" rtl="0" algn="l">
              <a:spcBef>
                <a:spcPts val="480"/>
              </a:spcBef>
              <a:spcAft>
                <a:spcPts val="0"/>
              </a:spcAft>
              <a:buSzPts val="2400"/>
              <a:buFont typeface="Arial"/>
              <a:buChar char="•"/>
            </a:pPr>
            <a:r>
              <a:rPr lang="en-US" sz="2400"/>
              <a:t>In</a:t>
            </a:r>
            <a:r>
              <a:rPr lang="en-US" sz="2400" u="sng"/>
              <a:t> intentionally attack</a:t>
            </a:r>
            <a:r>
              <a:rPr lang="en-US" sz="2400"/>
              <a:t>, an attacker intentionally damage network infrastructure or data. </a:t>
            </a:r>
            <a:endParaRPr/>
          </a:p>
          <a:p>
            <a:pPr indent="-342900" lvl="1" marL="342900" rtl="0" algn="l">
              <a:spcBef>
                <a:spcPts val="480"/>
              </a:spcBef>
              <a:spcAft>
                <a:spcPts val="0"/>
              </a:spcAft>
              <a:buSzPts val="2400"/>
              <a:buFont typeface="Arial"/>
              <a:buChar char="•"/>
            </a:pPr>
            <a:r>
              <a:rPr lang="en-US" sz="2400"/>
              <a:t>Intentionally attacks are done by disgruntled or frustrated employees for </a:t>
            </a:r>
            <a:r>
              <a:rPr lang="en-US" sz="2400" u="sng"/>
              <a:t>money or revenge</a:t>
            </a:r>
            <a:r>
              <a:rPr lang="en-US" sz="2400"/>
              <a:t>. </a:t>
            </a:r>
            <a:endParaRPr/>
          </a:p>
          <a:p>
            <a:pPr indent="-342900" lvl="1" marL="342900" rtl="0" algn="l">
              <a:spcBef>
                <a:spcPts val="480"/>
              </a:spcBef>
              <a:spcAft>
                <a:spcPts val="0"/>
              </a:spcAft>
              <a:buSzPts val="2400"/>
              <a:buFont typeface="Arial"/>
              <a:buChar char="•"/>
            </a:pPr>
            <a:r>
              <a:rPr lang="en-US" sz="2400"/>
              <a:t>In </a:t>
            </a:r>
            <a:r>
              <a:rPr lang="en-US" sz="2400" u="sng"/>
              <a:t>accidentally attack</a:t>
            </a:r>
            <a:r>
              <a:rPr lang="en-US" sz="2400"/>
              <a:t>, damages are done by the carelessness or lack of knowledge.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134155" y="152400"/>
            <a:ext cx="8145462" cy="106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Types of Network Attacks</a:t>
            </a:r>
            <a:endParaRPr sz="3600"/>
          </a:p>
        </p:txBody>
      </p:sp>
      <p:sp>
        <p:nvSpPr>
          <p:cNvPr id="159" name="Google Shape;159;p10"/>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800"/>
              <a:buNone/>
            </a:pPr>
            <a:r>
              <a:rPr b="1" lang="en-US" sz="2800"/>
              <a:t>Phishing Attack</a:t>
            </a:r>
            <a:endParaRPr/>
          </a:p>
          <a:p>
            <a:pPr indent="-342900" lvl="1" marL="342900" rtl="0" algn="l">
              <a:spcBef>
                <a:spcPts val="480"/>
              </a:spcBef>
              <a:spcAft>
                <a:spcPts val="0"/>
              </a:spcAft>
              <a:buSzPts val="2400"/>
              <a:buFont typeface="Arial"/>
              <a:buChar char="•"/>
            </a:pPr>
            <a:r>
              <a:rPr lang="en-US" sz="2400"/>
              <a:t>In this attack an adversary creates </a:t>
            </a:r>
            <a:r>
              <a:rPr lang="en-US" sz="2400" u="sng"/>
              <a:t>fake email address or website</a:t>
            </a:r>
            <a:r>
              <a:rPr lang="en-US" sz="2400"/>
              <a:t> which looks like a </a:t>
            </a:r>
            <a:r>
              <a:rPr lang="en-US" sz="2400" u="sng"/>
              <a:t>reputed mail address or popular site</a:t>
            </a:r>
            <a:r>
              <a:rPr lang="en-US" sz="2400"/>
              <a:t>. </a:t>
            </a:r>
            <a:endParaRPr/>
          </a:p>
          <a:p>
            <a:pPr indent="-342900" lvl="1" marL="342900" rtl="0" algn="l">
              <a:spcBef>
                <a:spcPts val="480"/>
              </a:spcBef>
              <a:spcAft>
                <a:spcPts val="0"/>
              </a:spcAft>
              <a:buSzPts val="2400"/>
              <a:buFont typeface="Arial"/>
              <a:buChar char="•"/>
            </a:pPr>
            <a:r>
              <a:rPr lang="en-US" sz="2400"/>
              <a:t>Later attacker sends email using their name. These emails contain </a:t>
            </a:r>
            <a:r>
              <a:rPr lang="en-US" sz="2400" u="sng"/>
              <a:t>convincing message</a:t>
            </a:r>
            <a:r>
              <a:rPr lang="en-US" sz="2400"/>
              <a:t>, some time with a </a:t>
            </a:r>
            <a:r>
              <a:rPr lang="en-US" sz="2400" u="sng"/>
              <a:t>link</a:t>
            </a:r>
            <a:r>
              <a:rPr lang="en-US" sz="2400"/>
              <a:t> that leads to a fake site. </a:t>
            </a:r>
            <a:endParaRPr/>
          </a:p>
          <a:p>
            <a:pPr indent="-342900" lvl="1" marL="342900" rtl="0" algn="l">
              <a:spcBef>
                <a:spcPts val="480"/>
              </a:spcBef>
              <a:spcAft>
                <a:spcPts val="0"/>
              </a:spcAft>
              <a:buSzPts val="2400"/>
              <a:buFont typeface="Arial"/>
              <a:buChar char="•"/>
            </a:pPr>
            <a:r>
              <a:rPr lang="en-US" sz="2400"/>
              <a:t>This fake site looks exactly same as original site. Without knowing the truth user tries to log on with their account information, hacker records this authentication information and uses it on real site.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Types of Network Attacks</a:t>
            </a:r>
            <a:endParaRPr/>
          </a:p>
        </p:txBody>
      </p:sp>
      <p:sp>
        <p:nvSpPr>
          <p:cNvPr id="166" name="Google Shape;166;p11"/>
          <p:cNvSpPr txBox="1"/>
          <p:nvPr>
            <p:ph idx="1" type="body"/>
          </p:nvPr>
        </p:nvSpPr>
        <p:spPr>
          <a:xfrm>
            <a:off x="152400" y="1600200"/>
            <a:ext cx="8305800" cy="4572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800"/>
              <a:buNone/>
            </a:pPr>
            <a:r>
              <a:rPr b="1" lang="en-US" sz="2800"/>
              <a:t>Back Door</a:t>
            </a:r>
            <a:endParaRPr/>
          </a:p>
          <a:p>
            <a:pPr indent="-342900" lvl="1" marL="342900" rtl="0" algn="l">
              <a:spcBef>
                <a:spcPts val="480"/>
              </a:spcBef>
              <a:spcAft>
                <a:spcPts val="0"/>
              </a:spcAft>
              <a:buSzPts val="2400"/>
              <a:buFont typeface="Arial"/>
              <a:buChar char="•"/>
            </a:pPr>
            <a:r>
              <a:rPr lang="en-US" sz="2400"/>
              <a:t>An account that is secretly set up without the administrator’s knowledge or permission, that cannot be easily detected, and that allows for remote access to the device</a:t>
            </a:r>
            <a:endParaRPr/>
          </a:p>
          <a:p>
            <a:pPr indent="-342900" lvl="0" marL="342900" rtl="0" algn="l">
              <a:spcBef>
                <a:spcPts val="480"/>
              </a:spcBef>
              <a:spcAft>
                <a:spcPts val="0"/>
              </a:spcAft>
              <a:buSzPts val="2400"/>
              <a:buChar char="•"/>
            </a:pPr>
            <a:r>
              <a:rPr lang="en-US" sz="2400"/>
              <a:t>Back doors can be created on a network device in two ways</a:t>
            </a:r>
            <a:endParaRPr/>
          </a:p>
          <a:p>
            <a:pPr indent="-285750" lvl="1" marL="742950" rtl="0" algn="l">
              <a:spcBef>
                <a:spcPts val="400"/>
              </a:spcBef>
              <a:spcAft>
                <a:spcPts val="0"/>
              </a:spcAft>
              <a:buSzPts val="2000"/>
              <a:buChar char="–"/>
            </a:pPr>
            <a:r>
              <a:rPr lang="en-US" sz="2000"/>
              <a:t>The network device can be infected by an attacker using a virus, worm, or Trojan horse</a:t>
            </a:r>
            <a:endParaRPr/>
          </a:p>
          <a:p>
            <a:pPr indent="-285750" lvl="1" marL="742950" rtl="0" algn="l">
              <a:spcBef>
                <a:spcPts val="400"/>
              </a:spcBef>
              <a:spcAft>
                <a:spcPts val="0"/>
              </a:spcAft>
              <a:buSzPts val="2000"/>
              <a:buChar char="–"/>
            </a:pPr>
            <a:r>
              <a:rPr lang="en-US" sz="2000"/>
              <a:t>A programmer of the software creates a back door on the device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Types of Network Attacks</a:t>
            </a:r>
            <a:endParaRPr/>
          </a:p>
        </p:txBody>
      </p:sp>
      <p:sp>
        <p:nvSpPr>
          <p:cNvPr id="172" name="Google Shape;172;p12"/>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Password Attacks</a:t>
            </a:r>
            <a:endParaRPr/>
          </a:p>
          <a:p>
            <a:pPr indent="-342900" lvl="0" marL="342900" rtl="0" algn="l">
              <a:spcBef>
                <a:spcPts val="480"/>
              </a:spcBef>
              <a:spcAft>
                <a:spcPts val="0"/>
              </a:spcAft>
              <a:buSzPts val="2400"/>
              <a:buChar char="•"/>
            </a:pPr>
            <a:r>
              <a:rPr lang="en-US" sz="2400"/>
              <a:t>Online attack</a:t>
            </a:r>
            <a:endParaRPr/>
          </a:p>
          <a:p>
            <a:pPr indent="-285750" lvl="1" marL="742950" rtl="0" algn="l">
              <a:spcBef>
                <a:spcPts val="400"/>
              </a:spcBef>
              <a:spcAft>
                <a:spcPts val="0"/>
              </a:spcAft>
              <a:buSzPts val="2000"/>
              <a:buChar char="–"/>
            </a:pPr>
            <a:r>
              <a:rPr lang="en-US" sz="2000"/>
              <a:t>Try to guess password in a live online system</a:t>
            </a:r>
            <a:endParaRPr/>
          </a:p>
          <a:p>
            <a:pPr indent="-285750" lvl="1" marL="742950" rtl="0" algn="l">
              <a:spcBef>
                <a:spcPts val="400"/>
              </a:spcBef>
              <a:spcAft>
                <a:spcPts val="0"/>
              </a:spcAft>
              <a:buSzPts val="2000"/>
              <a:buChar char="–"/>
            </a:pPr>
            <a:r>
              <a:rPr lang="en-US" sz="2000"/>
              <a:t>Best defense: account lockout policy</a:t>
            </a:r>
            <a:endParaRPr/>
          </a:p>
          <a:p>
            <a:pPr indent="-342900" lvl="0" marL="342900" rtl="0" algn="l">
              <a:spcBef>
                <a:spcPts val="480"/>
              </a:spcBef>
              <a:spcAft>
                <a:spcPts val="0"/>
              </a:spcAft>
              <a:buSzPts val="2400"/>
              <a:buChar char="•"/>
            </a:pPr>
            <a:r>
              <a:rPr lang="en-US" sz="2400"/>
              <a:t>Offline attack</a:t>
            </a:r>
            <a:endParaRPr/>
          </a:p>
          <a:p>
            <a:pPr indent="-285750" lvl="1" marL="742950" rtl="0" algn="l">
              <a:spcBef>
                <a:spcPts val="400"/>
              </a:spcBef>
              <a:spcAft>
                <a:spcPts val="0"/>
              </a:spcAft>
              <a:buSzPts val="2000"/>
              <a:buChar char="–"/>
            </a:pPr>
            <a:r>
              <a:rPr lang="en-US" sz="2000"/>
              <a:t>Capture a database or packets</a:t>
            </a:r>
            <a:endParaRPr/>
          </a:p>
          <a:p>
            <a:pPr indent="-285750" lvl="1" marL="742950" rtl="0" algn="l">
              <a:spcBef>
                <a:spcPts val="400"/>
              </a:spcBef>
              <a:spcAft>
                <a:spcPts val="0"/>
              </a:spcAft>
              <a:buSzPts val="2000"/>
              <a:buChar char="–"/>
            </a:pPr>
            <a:r>
              <a:rPr lang="en-US" sz="2000"/>
              <a:t>Guess passwords to match the data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3"/>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Types of Network Attacks</a:t>
            </a:r>
            <a:endParaRPr/>
          </a:p>
        </p:txBody>
      </p:sp>
      <p:sp>
        <p:nvSpPr>
          <p:cNvPr id="178" name="Google Shape;178;p13"/>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Password Attacks</a:t>
            </a:r>
            <a:endParaRPr/>
          </a:p>
          <a:p>
            <a:pPr indent="-342900" lvl="0" marL="342900" rtl="0" algn="l">
              <a:spcBef>
                <a:spcPts val="480"/>
              </a:spcBef>
              <a:spcAft>
                <a:spcPts val="0"/>
              </a:spcAft>
              <a:buSzPts val="2400"/>
              <a:buChar char="•"/>
            </a:pPr>
            <a:r>
              <a:rPr lang="en-US" sz="2400"/>
              <a:t>Brute Force Attack</a:t>
            </a:r>
            <a:endParaRPr/>
          </a:p>
          <a:p>
            <a:pPr indent="-285750" lvl="1" marL="742950" rtl="0" algn="l">
              <a:spcBef>
                <a:spcPts val="400"/>
              </a:spcBef>
              <a:spcAft>
                <a:spcPts val="0"/>
              </a:spcAft>
              <a:buSzPts val="2000"/>
              <a:buChar char="–"/>
            </a:pPr>
            <a:r>
              <a:rPr lang="en-US" sz="2000"/>
              <a:t>Uses every combination of characters</a:t>
            </a:r>
            <a:endParaRPr/>
          </a:p>
          <a:p>
            <a:pPr indent="-285750" lvl="1" marL="742950" rtl="0" algn="l">
              <a:spcBef>
                <a:spcPts val="400"/>
              </a:spcBef>
              <a:spcAft>
                <a:spcPts val="0"/>
              </a:spcAft>
              <a:buSzPts val="2000"/>
              <a:buChar char="–"/>
            </a:pPr>
            <a:r>
              <a:rPr lang="en-US" sz="2000"/>
              <a:t>Very slow for longer passwords</a:t>
            </a:r>
            <a:endParaRPr/>
          </a:p>
          <a:p>
            <a:pPr indent="-342900" lvl="0" marL="342900" rtl="0" algn="l">
              <a:spcBef>
                <a:spcPts val="480"/>
              </a:spcBef>
              <a:spcAft>
                <a:spcPts val="0"/>
              </a:spcAft>
              <a:buSzPts val="2400"/>
              <a:buChar char="•"/>
            </a:pPr>
            <a:r>
              <a:rPr lang="en-US" sz="2400"/>
              <a:t>Dictionary Attack</a:t>
            </a:r>
            <a:endParaRPr/>
          </a:p>
          <a:p>
            <a:pPr indent="-285750" lvl="1" marL="742950" rtl="0" algn="l">
              <a:spcBef>
                <a:spcPts val="400"/>
              </a:spcBef>
              <a:spcAft>
                <a:spcPts val="0"/>
              </a:spcAft>
              <a:buSzPts val="2000"/>
              <a:buChar char="–"/>
            </a:pPr>
            <a:r>
              <a:rPr lang="en-US" sz="2000"/>
              <a:t>Use a list of common passwords</a:t>
            </a:r>
            <a:endParaRPr/>
          </a:p>
          <a:p>
            <a:pPr indent="-285750" lvl="1" marL="742950" rtl="0" algn="l">
              <a:spcBef>
                <a:spcPts val="400"/>
              </a:spcBef>
              <a:spcAft>
                <a:spcPts val="0"/>
              </a:spcAft>
              <a:buSzPts val="2000"/>
              <a:buChar char="–"/>
            </a:pPr>
            <a:r>
              <a:rPr lang="en-US" sz="2000"/>
              <a:t>Very effective because so many real password lists have been published</a:t>
            </a:r>
            <a:endParaRPr/>
          </a:p>
          <a:p>
            <a:pPr indent="0" lvl="1" marL="457200" rtl="0" algn="l">
              <a:spcBef>
                <a:spcPts val="400"/>
              </a:spcBef>
              <a:spcAft>
                <a:spcPts val="0"/>
              </a:spcAft>
              <a:buSzPts val="2000"/>
              <a:buNone/>
            </a:pPr>
            <a:r>
              <a:t/>
            </a:r>
            <a:endParaRPr sz="2000"/>
          </a:p>
          <a:p>
            <a:pPr indent="-158750" lvl="1" marL="742950" rtl="0" algn="l">
              <a:spcBef>
                <a:spcPts val="400"/>
              </a:spcBef>
              <a:spcAft>
                <a:spcPts val="0"/>
              </a:spcAft>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4"/>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Types of Network Attacks</a:t>
            </a:r>
            <a:endParaRPr/>
          </a:p>
        </p:txBody>
      </p:sp>
      <p:sp>
        <p:nvSpPr>
          <p:cNvPr id="184" name="Google Shape;184;p14"/>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Password Attacks</a:t>
            </a:r>
            <a:endParaRPr/>
          </a:p>
          <a:p>
            <a:pPr indent="-342900" lvl="0" marL="342900" rtl="0" algn="l">
              <a:spcBef>
                <a:spcPts val="480"/>
              </a:spcBef>
              <a:spcAft>
                <a:spcPts val="0"/>
              </a:spcAft>
              <a:buSzPts val="2400"/>
              <a:buChar char="•"/>
            </a:pPr>
            <a:r>
              <a:rPr lang="en-US" sz="2400"/>
              <a:t>Password Hashes</a:t>
            </a:r>
            <a:endParaRPr/>
          </a:p>
          <a:p>
            <a:pPr indent="-285750" lvl="1" marL="742950" rtl="0" algn="l">
              <a:spcBef>
                <a:spcPts val="400"/>
              </a:spcBef>
              <a:spcAft>
                <a:spcPts val="0"/>
              </a:spcAft>
              <a:buSzPts val="2000"/>
              <a:buChar char="–"/>
            </a:pPr>
            <a:r>
              <a:rPr lang="en-US" sz="2000"/>
              <a:t>Many systems no longer store plaintext password</a:t>
            </a:r>
            <a:endParaRPr/>
          </a:p>
          <a:p>
            <a:pPr indent="-285750" lvl="1" marL="742950" rtl="0" algn="l">
              <a:spcBef>
                <a:spcPts val="400"/>
              </a:spcBef>
              <a:spcAft>
                <a:spcPts val="0"/>
              </a:spcAft>
              <a:buSzPts val="2000"/>
              <a:buChar char="–"/>
            </a:pPr>
            <a:r>
              <a:rPr lang="en-US" sz="2000"/>
              <a:t>Hash value is stored instead of plain text</a:t>
            </a:r>
            <a:endParaRPr/>
          </a:p>
          <a:p>
            <a:pPr indent="-228600" lvl="2" marL="1143000" rtl="0" algn="l">
              <a:spcBef>
                <a:spcPts val="400"/>
              </a:spcBef>
              <a:spcAft>
                <a:spcPts val="0"/>
              </a:spcAft>
              <a:buSzPts val="2000"/>
              <a:buChar char="•"/>
            </a:pPr>
            <a:r>
              <a:rPr lang="en-US" sz="2000"/>
              <a:t>Windows uses MD4, others use MD5 or SHA-1 or SHA-2</a:t>
            </a:r>
            <a:endParaRPr/>
          </a:p>
          <a:p>
            <a:pPr indent="-285750" lvl="1" marL="742950" rtl="0" algn="l">
              <a:spcBef>
                <a:spcPts val="400"/>
              </a:spcBef>
              <a:spcAft>
                <a:spcPts val="0"/>
              </a:spcAft>
              <a:buSzPts val="2000"/>
              <a:buChar char="–"/>
            </a:pPr>
            <a:r>
              <a:rPr lang="en-US" sz="2000"/>
              <a:t>Hashes can be cracked with dictionary or brute-force attacks</a:t>
            </a:r>
            <a:endParaRPr/>
          </a:p>
          <a:p>
            <a:pPr indent="-342900" lvl="0" marL="342900" rtl="0" algn="l">
              <a:spcBef>
                <a:spcPts val="480"/>
              </a:spcBef>
              <a:spcAft>
                <a:spcPts val="0"/>
              </a:spcAft>
              <a:buSzPts val="2400"/>
              <a:buChar char="•"/>
            </a:pPr>
            <a:r>
              <a:rPr lang="en-US" sz="2400"/>
              <a:t>Hash Collisions</a:t>
            </a:r>
            <a:endParaRPr/>
          </a:p>
          <a:p>
            <a:pPr indent="-285750" lvl="1" marL="742950" rtl="0" algn="l">
              <a:spcBef>
                <a:spcPts val="400"/>
              </a:spcBef>
              <a:spcAft>
                <a:spcPts val="0"/>
              </a:spcAft>
              <a:buSzPts val="2000"/>
              <a:buChar char="–"/>
            </a:pPr>
            <a:r>
              <a:rPr lang="en-US" sz="2000"/>
              <a:t>If two different passwords create the same hash, that is called a </a:t>
            </a:r>
            <a:r>
              <a:rPr b="1" lang="en-US" sz="2000"/>
              <a:t>collision</a:t>
            </a:r>
            <a:endParaRPr sz="2000"/>
          </a:p>
          <a:p>
            <a:pPr indent="-285750" lvl="1" marL="742950" rtl="0" algn="l">
              <a:spcBef>
                <a:spcPts val="400"/>
              </a:spcBef>
              <a:spcAft>
                <a:spcPts val="0"/>
              </a:spcAft>
              <a:buSzPts val="2000"/>
              <a:buChar char="–"/>
            </a:pPr>
            <a:r>
              <a:rPr lang="en-US" sz="2000"/>
              <a:t>A strong hash function should have no known collisions</a:t>
            </a:r>
            <a:endParaRPr/>
          </a:p>
          <a:p>
            <a:pPr indent="0" lvl="0" marL="0" rtl="0" algn="l">
              <a:spcBef>
                <a:spcPts val="480"/>
              </a:spcBef>
              <a:spcAft>
                <a:spcPts val="0"/>
              </a:spcAft>
              <a:buSzPts val="2400"/>
              <a:buNone/>
            </a:pPr>
            <a:r>
              <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2017-01-30T04:28:05Z</dcterms:created>
</cp:coreProperties>
</file>