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6858000" cx="9144000"/>
  <p:notesSz cx="6858000" cy="9144000"/>
  <p:embeddedFontLst>
    <p:embeddedFont>
      <p:font typeface="Arial Black"/>
      <p:regular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i+Wh8tfK6Zhn6NFliPjAM7U+BsK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ArialBlack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https://www.mathsisfun.com/physics/waves-radio-microwave.html</a:t>
            </a:r>
            <a:endParaRPr/>
          </a:p>
        </p:txBody>
      </p:sp>
      <p:sp>
        <p:nvSpPr>
          <p:cNvPr id="107" name="Google Shape;107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8" name="Google Shape;12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Unsolicited: </a:t>
            </a:r>
            <a:r>
              <a:rPr lang="en-US"/>
              <a:t>unrequested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" name="Google Shape;1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Wi-Fi(</a:t>
            </a:r>
            <a:r>
              <a:rPr b="1" lang="en-US"/>
              <a:t>wireless fidelity</a:t>
            </a:r>
            <a:r>
              <a:rPr lang="en-US"/>
              <a:t>.) Fidelity is </a:t>
            </a:r>
            <a:r>
              <a:rPr i="1" lang="en-US"/>
              <a:t>the quality of faithfulness or loyalty</a:t>
            </a:r>
            <a:r>
              <a:rPr lang="en-US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Wi-Fi Protected Access is a security mechanism based on IEEE 802.11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Wi-Fi Protected Access (</a:t>
            </a:r>
            <a:r>
              <a:rPr i="1" lang="en-US"/>
              <a:t>WPA</a:t>
            </a:r>
            <a:r>
              <a:rPr lang="en-US"/>
              <a:t>), Wi-Fi Protected Access 2 (WPA2), and Wi-Fi Protected Access 3 (WPA3)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https://en.wikipedia.org/wiki/IEEE_802.11n-2009</a:t>
            </a:r>
            <a:endParaRPr/>
          </a:p>
        </p:txBody>
      </p:sp>
      <p:sp>
        <p:nvSpPr>
          <p:cNvPr id="179" name="Google Shape;179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Wi-Fi interference is any signal outside of the configured Wi-Fi network that weaken normal operation of the Wi-Fi network</a:t>
            </a:r>
            <a:endParaRPr/>
          </a:p>
        </p:txBody>
      </p:sp>
      <p:sp>
        <p:nvSpPr>
          <p:cNvPr id="186" name="Google Shape;186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ad hoc network is </a:t>
            </a:r>
            <a:r>
              <a:rPr i="1" lang="en-US"/>
              <a:t>a type of wireless local area network (WLAN) that enables devices to connect with others without the need for access points (APs</a:t>
            </a:r>
            <a:r>
              <a:rPr lang="en-US"/>
              <a:t>)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4" name="Google Shape;20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" name="Google Shape;23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" name="Google Shape;24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SSID</a:t>
            </a:r>
            <a:r>
              <a:rPr lang="en-US"/>
              <a:t> stands for Service Set Identifier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</a:t>
            </a:r>
            <a:r>
              <a:rPr b="1" lang="en-US"/>
              <a:t>SSID</a:t>
            </a:r>
            <a:r>
              <a:rPr lang="en-US"/>
              <a:t> (Service Set Identifier) is the name of your wireless network, also known as Network ID. This is viewable to anyone with a wireless device within reachable distance of your network.</a:t>
            </a:r>
            <a:endParaRPr/>
          </a:p>
        </p:txBody>
      </p:sp>
      <p:sp>
        <p:nvSpPr>
          <p:cNvPr id="249" name="Google Shape;249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5" name="Google Shape;25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/>
              <a:t>SSID</a:t>
            </a:r>
            <a:r>
              <a:rPr lang="en-US"/>
              <a:t> stands for Service Set Identifier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</a:t>
            </a:r>
            <a:r>
              <a:rPr b="1" lang="en-US"/>
              <a:t>SSID</a:t>
            </a:r>
            <a:r>
              <a:rPr lang="en-US"/>
              <a:t> (Service Set Identifier) is the name of your wireless network, also known as Network ID. This is viewable to anyone with a wireless device within reachable distance of your network.</a:t>
            </a:r>
            <a:endParaRPr/>
          </a:p>
        </p:txBody>
      </p:sp>
      <p:sp>
        <p:nvSpPr>
          <p:cNvPr id="256" name="Google Shape;256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lightweight access point: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a couple of protocols that you might run into … that are used to communicate … between the wireless LAN controller and the APs. … The first protocol is LWAPP. … That stands for Lightweight Access Point Protocol. … However, that's an older protocol, … it's becoming less popular in favor of CAPWAP. … That stands for Control and Provisioning … of Wireless Access Points. …</a:t>
            </a:r>
            <a:endParaRPr/>
          </a:p>
        </p:txBody>
      </p:sp>
      <p:sp>
        <p:nvSpPr>
          <p:cNvPr id="264" name="Google Shape;264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0" name="Google Shape;27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lightweight access point: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a couple of protocols that you might run into … that are used to communicate … between the wireless LAN controller and the APs. … The first protocol is LWAPP. … That stands for Lightweight Access Point Protocol. … However, that's an older protocol, … it's becoming less popular in favor of CAPWA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CAPWAP (Control and Provisioning of Wireless Access Points) is </a:t>
            </a:r>
            <a:r>
              <a:rPr b="1" lang="en-US"/>
              <a:t>a protocol that enables an access controller to manage a collection of wireless termination points</a:t>
            </a:r>
            <a:r>
              <a:rPr lang="en-US"/>
              <a:t>.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P. … That stands for Control and Provisioning … of Wireless Access Points. …</a:t>
            </a:r>
            <a:endParaRPr/>
          </a:p>
        </p:txBody>
      </p:sp>
      <p:sp>
        <p:nvSpPr>
          <p:cNvPr id="271" name="Google Shape;271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8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28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28"/>
          <p:cNvSpPr txBox="1"/>
          <p:nvPr>
            <p:ph idx="2" type="body"/>
          </p:nvPr>
        </p:nvSpPr>
        <p:spPr>
          <a:xfrm>
            <a:off x="152400" y="64008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8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chemeClr val="dk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9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29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9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0"/>
          <p:cNvSpPr txBox="1"/>
          <p:nvPr/>
        </p:nvSpPr>
        <p:spPr>
          <a:xfrm>
            <a:off x="1219200" y="5486400"/>
            <a:ext cx="3581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 Black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Your Interactive Guide to the Digital World</a:t>
            </a:r>
            <a:endParaRPr/>
          </a:p>
        </p:txBody>
      </p:sp>
      <p:sp>
        <p:nvSpPr>
          <p:cNvPr id="30" name="Google Shape;30;p30"/>
          <p:cNvSpPr/>
          <p:nvPr/>
        </p:nvSpPr>
        <p:spPr>
          <a:xfrm>
            <a:off x="0" y="4267200"/>
            <a:ext cx="48768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Discovering </a:t>
            </a:r>
            <a:br>
              <a:rPr lang="en-US" sz="3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</a:br>
            <a:r>
              <a:rPr lang="en-US" sz="32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	Computers 2012</a:t>
            </a:r>
            <a:endParaRPr/>
          </a:p>
        </p:txBody>
      </p:sp>
      <p:pic>
        <p:nvPicPr>
          <p:cNvPr id="31" name="Google Shape;31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186606" y="3276600"/>
            <a:ext cx="3957394" cy="358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3235890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6" name="Google Shape;36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31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3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3" name="Google Shape;43;p32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2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32"/>
          <p:cNvSpPr txBox="1"/>
          <p:nvPr>
            <p:ph idx="3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3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33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3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" name="Google Shape;54;p33"/>
          <p:cNvSpPr txBox="1"/>
          <p:nvPr>
            <p:ph idx="5" type="body"/>
          </p:nvPr>
        </p:nvSpPr>
        <p:spPr>
          <a:xfrm>
            <a:off x="152400" y="6400800"/>
            <a:ext cx="16764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34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4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35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5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7" name="Google Shape;67;p3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36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6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3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5" name="Google Shape;75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37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7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8"/>
          <p:cNvSpPr txBox="1"/>
          <p:nvPr>
            <p:ph idx="1" type="body"/>
          </p:nvPr>
        </p:nvSpPr>
        <p:spPr>
          <a:xfrm rot="5400000">
            <a:off x="2247900" y="-495300"/>
            <a:ext cx="4648200" cy="8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38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8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39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9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E5DFEC"/>
            </a:gs>
            <a:gs pos="64999">
              <a:srgbClr val="F0EBD5"/>
            </a:gs>
            <a:gs pos="100000">
              <a:srgbClr val="D1C39F"/>
            </a:gs>
          </a:gsLst>
          <a:path path="circle">
            <a:fillToRect b="0%" l="100%" r="0%" t="100%"/>
          </a:path>
          <a:tileRect b="-100%" l="0%" r="-100%" t="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4000"/>
              <a:buFont typeface="Calibri"/>
              <a:buNone/>
              <a:defRPr b="1" i="0" sz="4000" u="none" cap="none" strike="noStrike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7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rgbClr val="5F497A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5F497A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5F497A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7"/>
          <p:cNvSpPr txBox="1"/>
          <p:nvPr>
            <p:ph idx="11" type="ftr"/>
          </p:nvPr>
        </p:nvSpPr>
        <p:spPr>
          <a:xfrm>
            <a:off x="1981200" y="6370637"/>
            <a:ext cx="4724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7"/>
          <p:cNvSpPr/>
          <p:nvPr/>
        </p:nvSpPr>
        <p:spPr>
          <a:xfrm>
            <a:off x="0" y="1219200"/>
            <a:ext cx="9144000" cy="457200"/>
          </a:xfrm>
          <a:prstGeom prst="rect">
            <a:avLst/>
          </a:prstGeom>
          <a:gradFill>
            <a:gsLst>
              <a:gs pos="0">
                <a:srgbClr val="DB7531"/>
              </a:gs>
              <a:gs pos="64999">
                <a:srgbClr val="F0EBD5"/>
              </a:gs>
              <a:gs pos="100000">
                <a:srgbClr val="D1C39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7"/>
          <p:cNvSpPr/>
          <p:nvPr/>
        </p:nvSpPr>
        <p:spPr>
          <a:xfrm>
            <a:off x="8534400" y="6248400"/>
            <a:ext cx="609600" cy="609600"/>
          </a:xfrm>
          <a:prstGeom prst="rect">
            <a:avLst/>
          </a:prstGeom>
          <a:solidFill>
            <a:srgbClr val="DB7531"/>
          </a:solidFill>
          <a:ln>
            <a:noFill/>
          </a:ln>
          <a:effectLst>
            <a:outerShdw blurRad="76200" kx="1200000" rotWithShape="0" algn="br" sy="23000">
              <a:srgbClr val="000000">
                <a:alpha val="2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7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spcBef>
                <a:spcPts val="0"/>
              </a:spcBef>
              <a:buNone/>
              <a:defRPr b="1" i="0" sz="1200" u="none" cap="none" strike="noStrike">
                <a:solidFill>
                  <a:srgbClr val="EEEBCA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2400"/>
              <a:buFont typeface="Calibri"/>
              <a:buNone/>
            </a:pPr>
            <a:r>
              <a:rPr lang="en-US" sz="2400"/>
              <a:t>Wireless Security</a:t>
            </a:r>
            <a:endParaRPr/>
          </a:p>
        </p:txBody>
      </p:sp>
      <p:sp>
        <p:nvSpPr>
          <p:cNvPr id="95" name="Google Shape;95;p1"/>
          <p:cNvSpPr txBox="1"/>
          <p:nvPr>
            <p:ph idx="1" type="body"/>
          </p:nvPr>
        </p:nvSpPr>
        <p:spPr>
          <a:xfrm>
            <a:off x="152400" y="1524000"/>
            <a:ext cx="8839200" cy="3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SzPts val="4000"/>
              <a:buNone/>
            </a:pPr>
            <a:r>
              <a:t/>
            </a:r>
            <a:endParaRPr b="1" sz="4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880"/>
              </a:spcBef>
              <a:spcAft>
                <a:spcPts val="0"/>
              </a:spcAft>
              <a:buSzPts val="4400"/>
              <a:buNone/>
            </a:pPr>
            <a:r>
              <a:rPr b="1" lang="en-US" sz="4400">
                <a:solidFill>
                  <a:srgbClr val="5F497A"/>
                </a:solidFill>
                <a:latin typeface="Calibri"/>
                <a:ea typeface="Calibri"/>
                <a:cs typeface="Calibri"/>
                <a:sym typeface="Calibri"/>
              </a:rPr>
              <a:t>Information Security</a:t>
            </a:r>
            <a:endParaRPr b="1" sz="2000">
              <a:solidFill>
                <a:srgbClr val="5F49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 txBox="1"/>
          <p:nvPr>
            <p:ph idx="12" type="sldNum"/>
          </p:nvPr>
        </p:nvSpPr>
        <p:spPr>
          <a:xfrm>
            <a:off x="8534400" y="6248400"/>
            <a:ext cx="609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/>
          <p:nvPr>
            <p:ph type="title"/>
          </p:nvPr>
        </p:nvSpPr>
        <p:spPr>
          <a:xfrm>
            <a:off x="134155" y="228600"/>
            <a:ext cx="8145462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/>
          </a:p>
        </p:txBody>
      </p:sp>
      <p:sp>
        <p:nvSpPr>
          <p:cNvPr id="103" name="Google Shape;103;p2"/>
          <p:cNvSpPr txBox="1"/>
          <p:nvPr>
            <p:ph idx="1" type="body"/>
          </p:nvPr>
        </p:nvSpPr>
        <p:spPr>
          <a:xfrm>
            <a:off x="152400" y="1600200"/>
            <a:ext cx="88392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Wireless Security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Wireless Network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Wireless Attacks: Bluetooth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IEEE 802.11 Wireless Standard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Wireless Network Modes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Wireless Security Overview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Wireless Networking Components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Wireless LAN Attacks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Six Modes of Wireless NICs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Securing Wireless Networks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8" st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19" st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end="20" st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/>
          </a:p>
        </p:txBody>
      </p:sp>
      <p:sp>
        <p:nvSpPr>
          <p:cNvPr id="110" name="Google Shape;110;p3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Wireless Networks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Wireless networks always have been targets for attackers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Early wireless networking standards had vulnerabilities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Hackers have found wireless networks relatively easy to break into, and even use wireless technology to crack into wired networks.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/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Wireless Attacks: Bluetooth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Bluetooth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Wireless technology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Uses short-range radio frequency transmissions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Provides for rapid, ad-hoc device pairings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Example: smartphone and Bluetooth headphones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Personal Area Network (PAN) technology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Two types of Bluetooth network topologies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Piconet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Scatternet</a:t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/>
          </a:p>
        </p:txBody>
      </p:sp>
      <p:pic>
        <p:nvPicPr>
          <p:cNvPr id="124" name="Google Shape;124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2706" y="1676400"/>
            <a:ext cx="7681294" cy="518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10925" y="1607403"/>
            <a:ext cx="1458733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Bluetooth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/>
          </a:p>
        </p:txBody>
      </p:sp>
      <p:sp>
        <p:nvSpPr>
          <p:cNvPr id="132" name="Google Shape;132;p6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Wireless Attacks: Bluetooth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Piconet</a:t>
            </a:r>
            <a:endParaRPr sz="28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Established when two Bluetooth devices come within range of each other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One device (master) controls all wireless traffic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Other device (slave) takes commands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Active slaves can send transmissions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Parked slaves are connected but not actively participating</a:t>
            </a:r>
            <a:endParaRPr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/>
          </a:p>
        </p:txBody>
      </p:sp>
      <p:sp>
        <p:nvSpPr>
          <p:cNvPr id="139" name="Google Shape;139;p7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Wireless Attacks: Bluetooth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Piconet</a:t>
            </a:r>
            <a:endParaRPr sz="2800"/>
          </a:p>
        </p:txBody>
      </p:sp>
      <p:pic>
        <p:nvPicPr>
          <p:cNvPr id="140" name="Google Shape;1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699197"/>
            <a:ext cx="6391275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/>
          </a:p>
        </p:txBody>
      </p:sp>
      <p:sp>
        <p:nvSpPr>
          <p:cNvPr id="147" name="Google Shape;147;p8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Wireless Attacks: Bluetooth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Scatternet</a:t>
            </a:r>
            <a:endParaRPr sz="28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Group of piconets with connections between different piconets</a:t>
            </a:r>
            <a:endParaRPr sz="24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Bluejacking</a:t>
            </a:r>
            <a:endParaRPr sz="28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Attack that sends unrequested messages to Bluetooth-enabled devices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Text messages, images, or sounds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Considered more irritating than harmful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No data is stolen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/>
          </a:p>
        </p:txBody>
      </p:sp>
      <p:sp>
        <p:nvSpPr>
          <p:cNvPr id="154" name="Google Shape;154;p9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Wireless Attacks: Bluetooth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Scatternet</a:t>
            </a:r>
            <a:endParaRPr sz="2800"/>
          </a:p>
        </p:txBody>
      </p:sp>
      <p:pic>
        <p:nvPicPr>
          <p:cNvPr id="155" name="Google Shape;1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755811"/>
            <a:ext cx="5000625" cy="379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/>
          </a:p>
        </p:txBody>
      </p:sp>
      <p:sp>
        <p:nvSpPr>
          <p:cNvPr id="162" name="Google Shape;162;p10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Wireless Attacks: Bluetooth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Bluesnarfing</a:t>
            </a:r>
            <a:endParaRPr sz="28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Unauthorized access to wireless information through a Bluetooth connection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Often between cell phones and laptops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Attacker copies e-mails, contacts, or other data by connecting to the Bluetooth device without owner’s knowledge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/>
          </a:p>
        </p:txBody>
      </p:sp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IEEE 802.11 Wireless Standard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IEEE 802: a committee responsible for LANs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IEEE 802.11: responsible for developing wireless protocols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Many standards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The Wi-Fi alliance: became popular with 802.11b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Wi-Fi Protected Access (WPA, WPA2)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/>
          </a:p>
        </p:txBody>
      </p:sp>
      <p:sp>
        <p:nvSpPr>
          <p:cNvPr id="175" name="Google Shape;175;p12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-US" sz="3000"/>
              <a:t>IEEE 802.11 Wireless Standard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SzPct val="100000"/>
              <a:buChar char="•"/>
            </a:pPr>
            <a:r>
              <a:rPr lang="en-US"/>
              <a:t>Institute of Electrical and Electronics Engineers (IEEE)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SzPct val="100000"/>
              <a:buChar char="–"/>
            </a:pPr>
            <a:r>
              <a:rPr lang="en-US"/>
              <a:t>Most influential organization for computer networking and wireless communications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SzPct val="100000"/>
              <a:buChar char="–"/>
            </a:pPr>
            <a:r>
              <a:rPr lang="en-US">
                <a:solidFill>
                  <a:schemeClr val="dk1"/>
                </a:solidFill>
              </a:rPr>
              <a:t>Began developing network architecture standards in the 1980s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SzPct val="100000"/>
              <a:buChar char="•"/>
            </a:pPr>
            <a:r>
              <a:rPr lang="en-US">
                <a:solidFill>
                  <a:schemeClr val="dk1"/>
                </a:solidFill>
              </a:rPr>
              <a:t>1997: </a:t>
            </a:r>
            <a:r>
              <a:rPr lang="en-US"/>
              <a:t>R</a:t>
            </a:r>
            <a:r>
              <a:rPr lang="en-US">
                <a:solidFill>
                  <a:schemeClr val="dk1"/>
                </a:solidFill>
              </a:rPr>
              <a:t>elease of IEEE 802.11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SzPct val="100000"/>
              <a:buChar char="–"/>
            </a:pPr>
            <a:r>
              <a:rPr lang="en-US">
                <a:solidFill>
                  <a:schemeClr val="dk1"/>
                </a:solidFill>
              </a:rPr>
              <a:t>Standard for wireless local area networks (WLANs)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SzPct val="100000"/>
              <a:buChar char="–"/>
            </a:pPr>
            <a:r>
              <a:rPr lang="en-US">
                <a:solidFill>
                  <a:schemeClr val="dk1"/>
                </a:solidFill>
              </a:rPr>
              <a:t>Higher speeds added in 1999: IEEE 802.11b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/>
          </a:p>
        </p:txBody>
      </p:sp>
      <p:sp>
        <p:nvSpPr>
          <p:cNvPr id="182" name="Google Shape;182;p13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IEEE 802.11 Wireless Standard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IEEE 802.11a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Specifies maximum rated speed of 54Mbps using the 5GHz spectrum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solidFill>
                  <a:schemeClr val="dk1"/>
                </a:solidFill>
              </a:rPr>
              <a:t>IEEE 802.11g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>
                <a:solidFill>
                  <a:schemeClr val="dk1"/>
                </a:solidFill>
              </a:rPr>
              <a:t>Preserves stable and widely accepted features of 802.11b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>
                <a:solidFill>
                  <a:schemeClr val="dk1"/>
                </a:solidFill>
              </a:rPr>
              <a:t>Increases data transfer rates similar to 802.11a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solidFill>
                  <a:schemeClr val="dk1"/>
                </a:solidFill>
              </a:rPr>
              <a:t>IEEE 802.11n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>
                <a:solidFill>
                  <a:schemeClr val="dk1"/>
                </a:solidFill>
              </a:rPr>
              <a:t>Approve in 2009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/>
          </a:p>
        </p:txBody>
      </p:sp>
      <p:sp>
        <p:nvSpPr>
          <p:cNvPr id="189" name="Google Shape;189;p14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IEEE 802.11 Wireless Standard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Improvements in IEEE 802.11n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>
                <a:solidFill>
                  <a:schemeClr val="dk1"/>
                </a:solidFill>
              </a:rPr>
              <a:t>Speed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>
                <a:solidFill>
                  <a:schemeClr val="dk1"/>
                </a:solidFill>
              </a:rPr>
              <a:t>Coverage area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>
                <a:solidFill>
                  <a:schemeClr val="dk1"/>
                </a:solidFill>
              </a:rPr>
              <a:t>Interference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>
                <a:solidFill>
                  <a:schemeClr val="dk1"/>
                </a:solidFill>
              </a:rPr>
              <a:t>Security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solidFill>
                  <a:schemeClr val="dk1"/>
                </a:solidFill>
              </a:rPr>
              <a:t>Wireless client network interface card adapter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>
                <a:solidFill>
                  <a:schemeClr val="dk1"/>
                </a:solidFill>
              </a:rPr>
              <a:t>Performs same functions as wired adapter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>
                <a:solidFill>
                  <a:schemeClr val="dk1"/>
                </a:solidFill>
              </a:rPr>
              <a:t>Antenna sends and receives signals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5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n-US" sz="3000"/>
              <a:t>Wireless Network Modes</a:t>
            </a:r>
            <a:endParaRPr/>
          </a:p>
          <a:p>
            <a:pPr indent="-342900" lvl="0" marL="342900" rtl="0" algn="l">
              <a:spcBef>
                <a:spcPts val="555"/>
              </a:spcBef>
              <a:spcAft>
                <a:spcPts val="0"/>
              </a:spcAft>
              <a:buSzPct val="100000"/>
              <a:buChar char="•"/>
            </a:pPr>
            <a:r>
              <a:rPr lang="en-US" sz="3000"/>
              <a:t>The 802.11 wireless networks operate in two basic modes: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SzPct val="100000"/>
              <a:buChar char="–"/>
            </a:pPr>
            <a:r>
              <a:rPr lang="en-US"/>
              <a:t>Infrastructure mode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SzPct val="100000"/>
              <a:buChar char="–"/>
            </a:pPr>
            <a:r>
              <a:rPr lang="en-US"/>
              <a:t>Ad-hoc mode</a:t>
            </a:r>
            <a:endParaRPr/>
          </a:p>
          <a:p>
            <a:pPr indent="-342900" lvl="0" marL="342900" rtl="0" algn="l">
              <a:spcBef>
                <a:spcPts val="555"/>
              </a:spcBef>
              <a:spcAft>
                <a:spcPts val="0"/>
              </a:spcAft>
              <a:buSzPct val="100000"/>
              <a:buChar char="•"/>
            </a:pPr>
            <a:r>
              <a:rPr lang="en-US" sz="3000"/>
              <a:t>Infrastructure mode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SzPct val="100000"/>
              <a:buChar char="–"/>
            </a:pPr>
            <a:r>
              <a:rPr lang="en-US"/>
              <a:t>Each wireless client connects directly to a central device called Access Point (AP)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SzPct val="100000"/>
              <a:buChar char="–"/>
            </a:pPr>
            <a:r>
              <a:rPr lang="en-US"/>
              <a:t>No direct connection between wireless clients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SzPct val="100000"/>
              <a:buChar char="–"/>
            </a:pPr>
            <a:r>
              <a:rPr lang="en-US"/>
              <a:t>AP acts as a wireless hub that performs the connections and handles them between wireless clients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Wireless Network Modes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Ad-hoc mode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600"/>
              <a:buChar char="–"/>
            </a:pPr>
            <a:r>
              <a:rPr lang="en-US" sz="2600"/>
              <a:t>Each wireless client connects directly with each other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600"/>
              <a:buChar char="–"/>
            </a:pPr>
            <a:r>
              <a:rPr lang="en-US" sz="2600"/>
              <a:t>No central device managing the connections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600"/>
              <a:buChar char="–"/>
            </a:pPr>
            <a:r>
              <a:rPr lang="en-US" sz="2600"/>
              <a:t>Rapid deployment of a network where no infrastructures exist (advantage in case of disaster…)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SzPts val="2600"/>
              <a:buChar char="–"/>
            </a:pPr>
            <a:r>
              <a:rPr lang="en-US" sz="2600"/>
              <a:t>Each node must maintain its proper authentication list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/>
          </a:p>
        </p:txBody>
      </p:sp>
      <p:sp>
        <p:nvSpPr>
          <p:cNvPr id="208" name="Google Shape;208;p17"/>
          <p:cNvSpPr txBox="1"/>
          <p:nvPr>
            <p:ph idx="1" type="body"/>
          </p:nvPr>
        </p:nvSpPr>
        <p:spPr>
          <a:xfrm>
            <a:off x="152400" y="1600200"/>
            <a:ext cx="88392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Wireless Security Overview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Concerns for wireless security are similar to those found in a wired environment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Security requirements are the same: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Confidentiality, integrity, availability, authenticity, accountability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SzPts val="2000"/>
              <a:buChar char="–"/>
            </a:pPr>
            <a:r>
              <a:rPr lang="en-US" sz="2000"/>
              <a:t>Most significant source of risk is the underlying communications medium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8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/>
          </a:p>
        </p:txBody>
      </p:sp>
      <p:sp>
        <p:nvSpPr>
          <p:cNvPr id="214" name="Google Shape;214;p18"/>
          <p:cNvSpPr txBox="1"/>
          <p:nvPr>
            <p:ph idx="1" type="body"/>
          </p:nvPr>
        </p:nvSpPr>
        <p:spPr>
          <a:xfrm>
            <a:off x="153472" y="1600200"/>
            <a:ext cx="8838127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Wireless Security Overview: Key Risks Factors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Channel: broadcast communication (more sensitive to eavesdropping and jamming)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Mobility: Additional risks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Resources: Advanced OS (iPhone, Android), but limited resources (memory, processing)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Accessibility: Certain devices may be left unattended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9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/>
          </a:p>
        </p:txBody>
      </p:sp>
      <p:sp>
        <p:nvSpPr>
          <p:cNvPr id="221" name="Google Shape;221;p19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Wireless Networking Components (Facilitating points of attacks)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Wireless client: WIFI-enabled laptop/tablet, cell phone, Bluetooth device, …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Access point: Cell towers, WIFI hotspots, wireless routers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Transmission medium: carries signals</a:t>
            </a:r>
            <a:endParaRPr/>
          </a:p>
        </p:txBody>
      </p:sp>
      <p:pic>
        <p:nvPicPr>
          <p:cNvPr descr="f1.pdf" id="222" name="Google Shape;222;p19"/>
          <p:cNvPicPr preferRelativeResize="0"/>
          <p:nvPr/>
        </p:nvPicPr>
        <p:blipFill rotWithShape="1">
          <a:blip r:embed="rId3">
            <a:alphaModFix/>
          </a:blip>
          <a:srcRect b="51383" l="15700" r="16499" t="30917"/>
          <a:stretch/>
        </p:blipFill>
        <p:spPr>
          <a:xfrm>
            <a:off x="609600" y="4332353"/>
            <a:ext cx="7460028" cy="25202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/>
          </a:p>
        </p:txBody>
      </p:sp>
      <p:sp>
        <p:nvSpPr>
          <p:cNvPr id="229" name="Google Shape;229;p20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Wireless Networking Components 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Access point (AP) major parts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Antenna and radio transmitter/receiver send and receive wireless signals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Bridging software to interface wireless devices to other devices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Wired network interface allows it to connect by cable to standard wired networks</a:t>
            </a:r>
            <a:endParaRPr/>
          </a:p>
        </p:txBody>
      </p:sp>
      <p:pic>
        <p:nvPicPr>
          <p:cNvPr id="230" name="Google Shape;2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9600" y="4572000"/>
            <a:ext cx="3352800" cy="2230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/>
          </a:p>
        </p:txBody>
      </p:sp>
      <p:sp>
        <p:nvSpPr>
          <p:cNvPr id="237" name="Google Shape;237;p21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Wireless Networking Components  </a:t>
            </a:r>
            <a:endParaRPr/>
          </a:p>
        </p:txBody>
      </p:sp>
      <p:pic>
        <p:nvPicPr>
          <p:cNvPr id="238" name="Google Shape;2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209800"/>
            <a:ext cx="6623036" cy="43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/>
          </a:p>
        </p:txBody>
      </p:sp>
      <p:sp>
        <p:nvSpPr>
          <p:cNvPr id="245" name="Google Shape;245;p22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Wireless Networking Components 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AP functions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Acts as “base station” for wireless network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Acts as a bridge between wireless and wired networks</a:t>
            </a:r>
            <a:endParaRPr/>
          </a:p>
          <a:p>
            <a:pPr indent="-228600" lvl="2" marL="1143000" rtl="0" algn="l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Can connect to wired network by a cable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Instead of running cable between the two buildings, which is more expensive, two outdoor access points have been configured for wireless mesh.</a:t>
            </a:r>
            <a:endParaRPr sz="24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/>
          </a:p>
        </p:txBody>
      </p:sp>
      <p:sp>
        <p:nvSpPr>
          <p:cNvPr id="252" name="Google Shape;252;p23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Wireless Networking Components 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Autonomous access points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All APs were Autonomous mode, which means that each AP worked as a standalone unit with no knowledge of or interaction among other APs.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APs are connected to the same network, and may use the same SSID, they are all individually configured and separate from one another.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Have necessary “intelligence” for wireless authentication, encryption, and management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4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/>
          </a:p>
        </p:txBody>
      </p:sp>
      <p:sp>
        <p:nvSpPr>
          <p:cNvPr id="259" name="Google Shape;259;p24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Wireless Networking Components 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Autonomous access points</a:t>
            </a:r>
            <a:endParaRPr/>
          </a:p>
        </p:txBody>
      </p:sp>
      <p:pic>
        <p:nvPicPr>
          <p:cNvPr id="260" name="Google Shape;26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600" y="2769752"/>
            <a:ext cx="3124200" cy="3935848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5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/>
          </a:p>
        </p:txBody>
      </p:sp>
      <p:sp>
        <p:nvSpPr>
          <p:cNvPr id="267" name="Google Shape;267;p25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Wireless Networking Components 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Lightweight access points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Rather than using Autonomous mode APs, you can use Lightweight mode APs if you have a network component that offers Wireless LAN Controller services. 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Wireless broadband routers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SzPts val="2400"/>
              <a:buChar char="–"/>
            </a:pPr>
            <a:r>
              <a:rPr lang="en-US" sz="2400"/>
              <a:t>Single hardware device containing AP, firewall, router, and DHCP server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6"/>
          <p:cNvSpPr txBox="1"/>
          <p:nvPr>
            <p:ph type="title"/>
          </p:nvPr>
        </p:nvSpPr>
        <p:spPr>
          <a:xfrm>
            <a:off x="152400" y="152400"/>
            <a:ext cx="8839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5F497A"/>
              </a:buClr>
              <a:buSzPts val="3600"/>
              <a:buFont typeface="Calibri"/>
              <a:buNone/>
            </a:pPr>
            <a:r>
              <a:rPr lang="en-US" sz="3600"/>
              <a:t>Wireless Security</a:t>
            </a:r>
            <a:endParaRPr sz="3600"/>
          </a:p>
        </p:txBody>
      </p:sp>
      <p:sp>
        <p:nvSpPr>
          <p:cNvPr id="274" name="Google Shape;274;p26"/>
          <p:cNvSpPr txBox="1"/>
          <p:nvPr>
            <p:ph idx="1" type="body"/>
          </p:nvPr>
        </p:nvSpPr>
        <p:spPr>
          <a:xfrm>
            <a:off x="152400" y="1600200"/>
            <a:ext cx="88392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2800"/>
              <a:t>Wireless Networking Components  </a:t>
            </a:r>
            <a:endParaRPr/>
          </a:p>
        </p:txBody>
      </p:sp>
      <p:pic>
        <p:nvPicPr>
          <p:cNvPr descr="image0.jpg" id="275" name="Google Shape;275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209800"/>
            <a:ext cx="6019800" cy="43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2017-01-30T04:28:05Z</dcterms:created>
</cp:coreProperties>
</file>