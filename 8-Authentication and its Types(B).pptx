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embeddedFontLst>
    <p:embeddedFont>
      <p:font typeface="Arial Black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QLOZaspnfIZssLSpGOq8kGqLX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rialBlack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OAuth 2.0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Within the OAuth 2.0 paradigm, there are two token types: Access and Refresh Tokens. Access Tokens grant access to a protected resource. \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Swoop is a simple &amp; secure password-free authentication service.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fd89d7ed0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fd89d7ed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6fd89d7ed0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fd89d7ed0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fd89d7ed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6fd89d7ed0_0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fd89d7ed0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fd89d7ed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6fd89d7ed0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fd89d7ed0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fd89d7ed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6fd89d7ed0_0_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fd89d7ed0_0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6fd89d7ed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6fd89d7ed0_0_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fd89d7ed0_0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6fd89d7ed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6fd89d7ed0_0_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fd89d7ed0_0_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6fd89d7ed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6fd89d7ed0_0_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Retinal scan technology is not without its drawbacks. According to a SANS Institute report, users of the technology have complained that the enrollment process -- where each person submits to a detailed retinal scan for the purpose of cataloging their identity -- is uncomfortable and intrusive. Users fear -- without scientific backup -- that the infrared light used in the scan damages their vision. Other optical recognition technology like iris scans, which take a grayscale photo of the iris, are considered less intrusive and are proven to be much faster.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Alan Mathison Turing was an English mathematician, computer scientist, logician, cryptanalyst, philosopher, and theoretical biologist.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Distortions: </a:t>
            </a:r>
            <a:r>
              <a:rPr b="0" lang="en-US" sz="1200"/>
              <a:t>Misrepresentation, twisting</a:t>
            </a:r>
            <a:endParaRPr b="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3"/>
          <p:cNvSpPr txBox="1"/>
          <p:nvPr>
            <p:ph idx="2" type="body"/>
          </p:nvPr>
        </p:nvSpPr>
        <p:spPr>
          <a:xfrm>
            <a:off x="152400" y="64008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/>
        </p:nvSpPr>
        <p:spPr>
          <a:xfrm>
            <a:off x="1219200" y="5486400"/>
            <a:ext cx="358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Your Interactive Guide to the Digital World</a:t>
            </a:r>
            <a:endParaRPr/>
          </a:p>
        </p:txBody>
      </p:sp>
      <p:sp>
        <p:nvSpPr>
          <p:cNvPr id="30" name="Google Shape;30;p15"/>
          <p:cNvSpPr/>
          <p:nvPr/>
        </p:nvSpPr>
        <p:spPr>
          <a:xfrm>
            <a:off x="0" y="4267200"/>
            <a:ext cx="4876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Discovering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	Computers 2012</a:t>
            </a:r>
            <a:endParaRPr/>
          </a:p>
        </p:txBody>
      </p:sp>
      <p:pic>
        <p:nvPicPr>
          <p:cNvPr id="31" name="Google Shape;3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6606" y="3276600"/>
            <a:ext cx="3957394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2358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7"/>
          <p:cNvSpPr txBox="1"/>
          <p:nvPr>
            <p:ph idx="3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18"/>
          <p:cNvSpPr txBox="1"/>
          <p:nvPr>
            <p:ph idx="5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9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0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21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2247900" y="-495300"/>
            <a:ext cx="46482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5DFEC"/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5F497A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5F497A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/>
          <p:nvPr/>
        </p:nvSpPr>
        <p:spPr>
          <a:xfrm>
            <a:off x="0" y="1219200"/>
            <a:ext cx="9144000" cy="457200"/>
          </a:xfrm>
          <a:prstGeom prst="rect">
            <a:avLst/>
          </a:prstGeom>
          <a:gradFill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2"/>
          <p:cNvSpPr/>
          <p:nvPr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kx="120000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Calibri"/>
              <a:buNone/>
            </a:pPr>
            <a:r>
              <a:rPr lang="en-US" sz="2400"/>
              <a:t>Authentication and Access Control</a:t>
            </a:r>
            <a:endParaRPr/>
          </a:p>
        </p:txBody>
      </p:sp>
      <p:sp>
        <p:nvSpPr>
          <p:cNvPr id="95" name="Google Shape;95;p1"/>
          <p:cNvSpPr txBox="1"/>
          <p:nvPr>
            <p:ph idx="1" type="body"/>
          </p:nvPr>
        </p:nvSpPr>
        <p:spPr>
          <a:xfrm>
            <a:off x="152400" y="1524000"/>
            <a:ext cx="8839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b="1" sz="4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SzPts val="4400"/>
              <a:buNone/>
            </a:pPr>
            <a:r>
              <a:rPr b="1" lang="en-US" sz="4400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rPr>
              <a:t>Information Security</a:t>
            </a:r>
            <a:endParaRPr b="1" sz="2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Token-Based Authentication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 token is a </a:t>
            </a:r>
            <a:r>
              <a:rPr lang="en-US" sz="2400" u="sng"/>
              <a:t>highly secure</a:t>
            </a:r>
            <a:r>
              <a:rPr lang="en-US" sz="2400"/>
              <a:t> format used to transmit sensitive information between two parties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Token-based authentication is </a:t>
            </a:r>
            <a:r>
              <a:rPr lang="en-US" sz="2400" u="sng"/>
              <a:t>different</a:t>
            </a:r>
            <a:r>
              <a:rPr lang="en-US" sz="2400"/>
              <a:t> from traditional password-based or server-based authentication techniques.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Tokens offer a second layer of security, and administrators have </a:t>
            </a:r>
            <a:r>
              <a:rPr lang="en-US" sz="2400" u="sng"/>
              <a:t>detailed control</a:t>
            </a:r>
            <a:r>
              <a:rPr lang="en-US" sz="2400"/>
              <a:t> over each action and transaction.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Tokens add security because: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They act as temporary keys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only valid for a short time or one session.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They can be given limited permissions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for example, a token can allow only “read” or “write” access.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Admins can track and revoke them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if something looks wrong, the token can be disabled instantly.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Token-Based Authentication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Token-based authentication is a web authentication protocol </a:t>
            </a:r>
            <a:r>
              <a:rPr lang="en-US" sz="2400"/>
              <a:t>that allows users to </a:t>
            </a:r>
            <a:r>
              <a:rPr lang="en-US" sz="2400" u="sng"/>
              <a:t>verify their identity a single time</a:t>
            </a:r>
            <a:r>
              <a:rPr lang="en-US" sz="2400"/>
              <a:t> and receive a uniquely-generated </a:t>
            </a:r>
            <a:r>
              <a:rPr lang="en-US" sz="2400" u="sng"/>
              <a:t>encrypted token</a:t>
            </a:r>
            <a:r>
              <a:rPr lang="en-US" sz="2400"/>
              <a:t> in exchange.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Most importantly, </a:t>
            </a:r>
            <a:r>
              <a:rPr b="1" lang="en-US" sz="2400"/>
              <a:t>tokens are machine-generated</a:t>
            </a:r>
            <a:r>
              <a:rPr lang="en-US" sz="2400"/>
              <a:t>. Encrypted, machine-generated code is significantly more secure than any password you might create yourself. </a:t>
            </a:r>
            <a:endParaRPr/>
          </a:p>
          <a:p>
            <a:pPr indent="-1079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114300" lvl="0" marL="3429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Token-Based Authentication</a:t>
            </a:r>
            <a:r>
              <a:rPr lang="en-US" sz="3600"/>
              <a:t>: </a:t>
            </a:r>
            <a:r>
              <a:rPr b="1" lang="en-US" sz="2800"/>
              <a:t>Steps</a:t>
            </a:r>
            <a:endParaRPr/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2417956"/>
            <a:ext cx="5839995" cy="1259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1639" y="3817681"/>
            <a:ext cx="5824755" cy="1363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06881" y="5317557"/>
            <a:ext cx="5809513" cy="1120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127" name="Google Shape;127;p5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Token-Based Authentication</a:t>
            </a:r>
            <a:r>
              <a:rPr lang="en-US" sz="3600"/>
              <a:t>: </a:t>
            </a:r>
            <a:r>
              <a:rPr b="1" lang="en-US" sz="2800"/>
              <a:t>Steps</a:t>
            </a:r>
            <a:endParaRPr/>
          </a:p>
        </p:txBody>
      </p:sp>
      <p:pic>
        <p:nvPicPr>
          <p:cNvPr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2514600"/>
            <a:ext cx="5751924" cy="1358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4191000"/>
            <a:ext cx="5751924" cy="122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136" name="Google Shape;136;p6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Biometric authentication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Each person has a set of </a:t>
            </a:r>
            <a:r>
              <a:rPr lang="en-US" sz="2400" u="sng"/>
              <a:t>unique characteristics</a:t>
            </a:r>
            <a:r>
              <a:rPr lang="en-US" sz="2400"/>
              <a:t> that can be used for authentication. Biometrics uses these unique characteristics for authentication.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Today’s Biometric systems examine </a:t>
            </a:r>
            <a:r>
              <a:rPr lang="en-US" sz="2400" u="sng"/>
              <a:t>retina patterns</a:t>
            </a:r>
            <a:r>
              <a:rPr lang="en-US" sz="2400"/>
              <a:t>, </a:t>
            </a:r>
            <a:r>
              <a:rPr lang="en-US" sz="2400" u="sng"/>
              <a:t>iris patterns</a:t>
            </a:r>
            <a:r>
              <a:rPr lang="en-US" sz="2400"/>
              <a:t>, </a:t>
            </a:r>
            <a:r>
              <a:rPr lang="en-US" sz="2400" u="sng"/>
              <a:t>fingerprints</a:t>
            </a:r>
            <a:r>
              <a:rPr lang="en-US" sz="2400"/>
              <a:t>, </a:t>
            </a:r>
            <a:r>
              <a:rPr lang="en-US" sz="2400" u="sng"/>
              <a:t>handprints</a:t>
            </a:r>
            <a:r>
              <a:rPr lang="en-US" sz="2400"/>
              <a:t>, </a:t>
            </a:r>
            <a:r>
              <a:rPr lang="en-US" sz="2400" u="sng"/>
              <a:t>voice patterns</a:t>
            </a:r>
            <a:r>
              <a:rPr lang="en-US" sz="2400"/>
              <a:t>, for authentication.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Biometric identification systems normally </a:t>
            </a:r>
            <a:r>
              <a:rPr lang="en-US" sz="2400" u="sng"/>
              <a:t>work</a:t>
            </a:r>
            <a:r>
              <a:rPr lang="en-US" sz="2400"/>
              <a:t> by obtaining unique characteristics from you, like a fingerprints, a retina pattern etc.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biometric system then compares that to the </a:t>
            </a:r>
            <a:r>
              <a:rPr lang="en-US" sz="2400" u="sng"/>
              <a:t>specimen data</a:t>
            </a:r>
            <a:r>
              <a:rPr lang="en-US" sz="2400"/>
              <a:t> stored in the system. </a:t>
            </a:r>
            <a:endParaRPr/>
          </a:p>
          <a:p>
            <a:pPr indent="-1079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114300" lvl="0" marL="3429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fd89d7ed0_0_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6fd89d7ed0_0_1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6fd89d7ed0_0_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5" name="Google Shape;145;g36fd89d7ed0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24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fd89d7ed0_0_17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6fd89d7ed0_0_17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3" name="Google Shape;153;g36fd89d7ed0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78650"/>
            <a:ext cx="9144000" cy="49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fd89d7ed0_0_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6fd89d7ed0_0_9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6fd89d7ed0_0_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2" name="Google Shape;162;g36fd89d7ed0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fd89d7ed0_0_25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6fd89d7ed0_0_25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0" name="Google Shape;170;g36fd89d7ed0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363" y="1824223"/>
            <a:ext cx="4351275" cy="375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fd89d7ed0_0_3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6fd89d7ed0_0_33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6fd89d7ed0_0_3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9" name="Google Shape;179;g36fd89d7ed0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2893"/>
            <a:ext cx="9144000" cy="6292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fd89d7ed0_0_41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6fd89d7ed0_0_4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7" name="Google Shape;187;g36fd89d7ed0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75" y="1219200"/>
            <a:ext cx="809625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fd89d7ed0_0_4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4" name="Google Shape;194;g36fd89d7ed0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3461" y="0"/>
            <a:ext cx="5197078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201" name="Google Shape;201;p7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Biometric authentication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Despite their security advantages, biometric systems also have considerable </a:t>
            </a:r>
            <a:r>
              <a:rPr lang="en-US" sz="2400" u="sng"/>
              <a:t>downsides</a:t>
            </a:r>
            <a:r>
              <a:rPr lang="en-US" sz="2400"/>
              <a:t>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First, they are </a:t>
            </a:r>
            <a:r>
              <a:rPr lang="en-US" sz="2400" u="sng"/>
              <a:t>expensive to install</a:t>
            </a:r>
            <a:r>
              <a:rPr lang="en-US" sz="2400"/>
              <a:t>, requiring specialized hardware like fingerprint readers or eye scanners.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Second, they come with worrisome </a:t>
            </a:r>
            <a:r>
              <a:rPr lang="en-US" sz="2400" u="sng"/>
              <a:t>privacy concerns</a:t>
            </a:r>
            <a:r>
              <a:rPr lang="en-US" sz="2400"/>
              <a:t>. Users may refuse for sharing their personal biometric data with a company or the government unless there is a good reason to do so.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Third, many users feel that retina scanner biometric authentication system may cause </a:t>
            </a:r>
            <a:r>
              <a:rPr lang="en-US" sz="2400" u="sng"/>
              <a:t>loss of their vision</a:t>
            </a:r>
            <a:r>
              <a:rPr lang="en-US" sz="2400"/>
              <a:t>. 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208" name="Google Shape;208;p8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Single Sign-On (SSO)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Single sign-on (SSO) is a useful feature to consider when deciding </a:t>
            </a:r>
            <a:r>
              <a:rPr lang="en-US" sz="2400" u="sng"/>
              <a:t>between device authentication methods</a:t>
            </a:r>
            <a:r>
              <a:rPr lang="en-US" sz="2400"/>
              <a:t>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SSO enables a user to only enter their credentials once to gain </a:t>
            </a:r>
            <a:r>
              <a:rPr lang="en-US" sz="2400" u="sng"/>
              <a:t>access to multiple applications</a:t>
            </a:r>
            <a:r>
              <a:rPr lang="en-US" sz="2400"/>
              <a:t>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If the two sites are linked with SSO, the user will automatically have access to the cloud storage site after </a:t>
            </a:r>
            <a:r>
              <a:rPr lang="en-US" sz="2400" u="sng"/>
              <a:t>logging on to the email client. </a:t>
            </a:r>
            <a:endParaRPr u="sng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SSO saves time and keeps users happy by </a:t>
            </a:r>
            <a:r>
              <a:rPr lang="en-US" sz="2400" u="sng"/>
              <a:t>avoiding frequently entering passwords. </a:t>
            </a:r>
            <a:endParaRPr u="sng"/>
          </a:p>
          <a:p>
            <a:pPr indent="-1079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114300" lvl="0" marL="3429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215" name="Google Shape;215;p9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Single Sign-On (SSO)</a:t>
            </a:r>
            <a:r>
              <a:rPr lang="en-US" sz="2400"/>
              <a:t>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It can also introduce </a:t>
            </a:r>
            <a:r>
              <a:rPr lang="en-US" sz="2400" u="sng"/>
              <a:t>security risks</a:t>
            </a:r>
            <a:r>
              <a:rPr lang="en-US" sz="2400"/>
              <a:t>; an </a:t>
            </a:r>
            <a:r>
              <a:rPr lang="en-US" sz="2400" u="sng"/>
              <a:t>unauthorized user</a:t>
            </a:r>
            <a:r>
              <a:rPr lang="en-US" sz="2400"/>
              <a:t> who gains access to one system can now penetrate others.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 related technology, </a:t>
            </a:r>
            <a:r>
              <a:rPr lang="en-US" sz="2400" u="sng"/>
              <a:t>single sign-off</a:t>
            </a:r>
            <a:r>
              <a:rPr lang="en-US" sz="2400"/>
              <a:t>, logs users out of every application when they log out of a single one. This strengthen security by making certain that all open sessions are closed. </a:t>
            </a:r>
            <a:endParaRPr/>
          </a:p>
          <a:p>
            <a:pPr indent="-1079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114300" lvl="0" marL="3429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222" name="Google Shape;222;p10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CAPTCHAs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Hackers are using increasingly sophisticated </a:t>
            </a:r>
            <a:r>
              <a:rPr lang="en-US" sz="2400" u="sng"/>
              <a:t>automated programs to break into secure systems</a:t>
            </a:r>
            <a:r>
              <a:rPr lang="en-US" sz="2400"/>
              <a:t>. CAPTCHAs are designed to neutralize this threat.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This authentication method is </a:t>
            </a:r>
            <a:r>
              <a:rPr lang="en-US" sz="2400" u="sng"/>
              <a:t>not focused on verifying a particular user</a:t>
            </a:r>
            <a:r>
              <a:rPr lang="en-US" sz="2400"/>
              <a:t>; rather, it seeks to determine whether a user is in fact human.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term CAPTCHA is an acronym for “</a:t>
            </a:r>
            <a:r>
              <a:rPr lang="en-US" sz="2400" u="sng"/>
              <a:t>completely automated public Turing test to tell computers and humans apart.</a:t>
            </a:r>
            <a:r>
              <a:rPr lang="en-US" sz="2400"/>
              <a:t>”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system displays a </a:t>
            </a:r>
            <a:r>
              <a:rPr lang="en-US" sz="2400" u="sng"/>
              <a:t>distorted image</a:t>
            </a:r>
            <a:r>
              <a:rPr lang="en-US" sz="2400"/>
              <a:t> of </a:t>
            </a:r>
            <a:r>
              <a:rPr lang="en-US" sz="2400" u="sng"/>
              <a:t>letters</a:t>
            </a:r>
            <a:r>
              <a:rPr lang="en-US" sz="2400"/>
              <a:t> and </a:t>
            </a:r>
            <a:r>
              <a:rPr lang="en-US" sz="2400" u="sng"/>
              <a:t>numbers</a:t>
            </a:r>
            <a:r>
              <a:rPr lang="en-US" sz="2400"/>
              <a:t> to the user, asking them to type in what they see. </a:t>
            </a:r>
            <a:endParaRPr/>
          </a:p>
          <a:p>
            <a:pPr indent="-1079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114300" lvl="0" marL="3429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Identification and Authentication</a:t>
            </a:r>
            <a:endParaRPr sz="3600"/>
          </a:p>
        </p:txBody>
      </p:sp>
      <p:sp>
        <p:nvSpPr>
          <p:cNvPr id="229" name="Google Shape;229;p11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CAPTCHAs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u="sng"/>
              <a:t>Computers have a tough time dealing with these distortions</a:t>
            </a:r>
            <a:r>
              <a:rPr lang="en-US" sz="2400"/>
              <a:t>, but humans can typically tell what they are.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Adding a CAPTCHA enhances network security by creating one more barrier to </a:t>
            </a:r>
            <a:r>
              <a:rPr lang="en-US" sz="2400" u="sng"/>
              <a:t>automated hacking systems</a:t>
            </a:r>
            <a:r>
              <a:rPr lang="en-US" sz="2400"/>
              <a:t>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However, they can cause some problems. Individuals with disabilities (such as </a:t>
            </a:r>
            <a:r>
              <a:rPr lang="en-US" sz="2400" u="sng"/>
              <a:t>blind people</a:t>
            </a:r>
            <a:r>
              <a:rPr lang="en-US" sz="2400"/>
              <a:t> using auditory screen readers) may not be able to get past a CAPTCHA.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u="sng"/>
              <a:t>Even nondisabled users sometimes</a:t>
            </a:r>
            <a:r>
              <a:rPr lang="en-US" sz="2400"/>
              <a:t> have trouble figuring them out, leading to frustration and delays. </a:t>
            </a:r>
            <a:endParaRPr/>
          </a:p>
          <a:p>
            <a:pPr indent="-1079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114300" lvl="0" marL="3429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2017-01-30T04:28:05Z</dcterms:created>
</cp:coreProperties>
</file>