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3Z+iwjNBie2AcOjJ53HzcK/8v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9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21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3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4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8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Network Infrastructure Security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Securing a Network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Security through Network Design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Subnetting</a:t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Virtual LAN (VLAN)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Demilitarized Zone (DMZ)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Security through Network Technologies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Network Address Translation (NAT)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Virtual Private Networks (VPN)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Applying Network Security Devices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Firewalls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Proxy Servers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Honeypots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Network Intrusion Detection Systems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Host and Network Intrusion Prevention Systems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Network Protocol Analyzers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52400" y="1600200"/>
            <a:ext cx="8305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Securing a Network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Securing a network </a:t>
            </a:r>
            <a:r>
              <a:rPr lang="en-US" sz="2400" u="sng"/>
              <a:t>begins with the design</a:t>
            </a:r>
            <a:r>
              <a:rPr lang="en-US" sz="2400"/>
              <a:t> of the network and includes secure </a:t>
            </a:r>
            <a:r>
              <a:rPr lang="en-US" sz="2400" u="sng"/>
              <a:t>network technologies</a:t>
            </a:r>
            <a:endParaRPr u="sng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84052" y="1600200"/>
            <a:ext cx="8807548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Classful Addressing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IP addresses are actually two addresses: one part is a network address and one part is a host address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The split between the network and host portions of the IP address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84052" y="1600200"/>
            <a:ext cx="7816948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Subnetting</a:t>
            </a:r>
            <a:endParaRPr b="1" sz="2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Subnetting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To create multiple logical networks that exist within a single Class A, B, or C network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Allows an IP address to be split anywhere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Subnets are a subset of the entire network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Networks can be divided into subnets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Each subnet is treated as a separate network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 subnet can be a WAN or LAN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84052" y="1600200"/>
            <a:ext cx="7816948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Subnetting</a:t>
            </a:r>
            <a:endParaRPr b="1" sz="2800"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13259"/>
            <a:ext cx="8153400" cy="4609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184052" y="1600200"/>
            <a:ext cx="7816948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</a:t>
            </a:r>
            <a:endParaRPr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133601"/>
            <a:ext cx="8610600" cy="4471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ct val="100000"/>
              <a:buFont typeface="Calibri"/>
              <a:buNone/>
            </a:pPr>
            <a:r>
              <a:rPr lang="en-US"/>
              <a:t>Security through Network Design (continued)</a:t>
            </a:r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174674" y="1524000"/>
            <a:ext cx="8969326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through Network Design: Subnetting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Threats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012" y="2733481"/>
            <a:ext cx="5734850" cy="2772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9666" y="2733481"/>
            <a:ext cx="2905530" cy="2772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ct val="100000"/>
              <a:buFont typeface="Calibri"/>
              <a:buNone/>
            </a:pPr>
            <a:r>
              <a:rPr lang="en-US"/>
              <a:t>Security through Network Design (continued)</a:t>
            </a: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152400" y="1676400"/>
            <a:ext cx="883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Subnetting</a:t>
            </a:r>
            <a:endParaRPr b="1" sz="2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Security is enhanced by subnetting a single network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Multiple smaller subnets isolates groups of hosts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Network administrators can utilize network security tools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Subnets also allow network administrators to hide the internal network layout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ct val="100000"/>
              <a:buFont typeface="Calibri"/>
              <a:buNone/>
            </a:pPr>
            <a:r>
              <a:rPr lang="en-US"/>
              <a:t>Security through Network Design (continued)</a:t>
            </a:r>
            <a:endParaRPr/>
          </a:p>
        </p:txBody>
      </p:sp>
      <p:sp>
        <p:nvSpPr>
          <p:cNvPr id="170" name="Google Shape;170;p11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VLAN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Virtual LAN (VLAN)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In most network environments, networks are divided or segmented by using switches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 VLAN allows scattered users to be logically grouped together even though they may be attached to different switches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Can reduce network traffic and provide a degree of security similar to subnetting: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VLANs can be isolated so that sensitive data is transmitted only to members of the VLAN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77" name="Google Shape;177;p12"/>
          <p:cNvSpPr txBox="1"/>
          <p:nvPr>
            <p:ph idx="1" type="body"/>
          </p:nvPr>
        </p:nvSpPr>
        <p:spPr>
          <a:xfrm>
            <a:off x="184052" y="1600200"/>
            <a:ext cx="7816948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VLAN</a:t>
            </a:r>
            <a:endParaRPr/>
          </a:p>
        </p:txBody>
      </p:sp>
      <p:pic>
        <p:nvPicPr>
          <p:cNvPr id="178" name="Google Shape;1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133600"/>
            <a:ext cx="5791721" cy="460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85" name="Google Shape;185;p13"/>
          <p:cNvSpPr txBox="1"/>
          <p:nvPr>
            <p:ph idx="1" type="body"/>
          </p:nvPr>
        </p:nvSpPr>
        <p:spPr>
          <a:xfrm>
            <a:off x="184052" y="1600200"/>
            <a:ext cx="7816948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VLAN</a:t>
            </a:r>
            <a:endParaRPr/>
          </a:p>
        </p:txBody>
      </p:sp>
      <p:pic>
        <p:nvPicPr>
          <p:cNvPr id="186" name="Google Shape;1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133600"/>
            <a:ext cx="5791711" cy="4660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VLAN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VLAN communication can take place in two ways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All devices are connected to the same switch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Traffic is handled by the switch itself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Devices are connected to different switches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VLAN is heavily dependent upon the switch for correctly directing packets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DMZ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Demilitarized Zone (DMZ)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A DMZ is a perimeter network that enables organizations to protect their internal networks.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It enables organizations to provide access to untrusted networks, such as the internet, while keeping private networks or local-area networks (LANs) secure.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Outside users can access the DMZ but cannot enter the secure network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Resources commonly placed in the DMZ include, Web servers, Mail servers, FTP servers, and VoIP servers.</a:t>
            </a:r>
            <a:endParaRPr sz="20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207" name="Google Shape;207;p16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DMZ</a:t>
            </a:r>
            <a:endParaRPr/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981" y="2133502"/>
            <a:ext cx="7330019" cy="457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Network Infrastructure Security</a:t>
            </a:r>
            <a:endParaRPr sz="3600"/>
          </a:p>
        </p:txBody>
      </p:sp>
      <p:sp>
        <p:nvSpPr>
          <p:cNvPr id="215" name="Google Shape;215;p17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through Network Design: DMZ</a:t>
            </a:r>
            <a:endParaRPr/>
          </a:p>
        </p:txBody>
      </p:sp>
      <p:pic>
        <p:nvPicPr>
          <p:cNvPr id="216" name="Google Shape;2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133600"/>
            <a:ext cx="7925906" cy="4420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