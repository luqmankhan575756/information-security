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9144000"/>
  <p:notesSz cx="6858000" cy="9144000"/>
  <p:embeddedFontLst>
    <p:embeddedFont>
      <p:font typeface="Arial Black"/>
      <p:regular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6" roundtripDataSignature="AMtx7mjj+JszWjcTj0scPkaIEghvA5VB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ArialBlack-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9" name="Google Shape;9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6" name="Google Shape;10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3" name="Google Shape;11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0" name="Google Shape;12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i="0" lang="en-US"/>
              <a:t>False Positive</a:t>
            </a:r>
            <a:r>
              <a:rPr b="0" i="0" lang="en-US"/>
              <a:t> (also called False Acceptance) is a probability of stating wronlgy that a biometric sample belongs to a certain person (in fact not the real guy).</a:t>
            </a:r>
            <a:endParaRPr/>
          </a:p>
          <a:p>
            <a:pPr indent="0" lvl="0" marL="0" rtl="0" algn="l">
              <a:spcBef>
                <a:spcPts val="0"/>
              </a:spcBef>
              <a:spcAft>
                <a:spcPts val="0"/>
              </a:spcAft>
              <a:buNone/>
            </a:pPr>
            <a:r>
              <a:rPr b="0" i="0" lang="en-US"/>
              <a:t>For example, your phone gets unlocked by facial recognition when some other guy (not you) is showing his face to it. What’s the probability of that to happen? Quite low? Well, it should be!</a:t>
            </a:r>
            <a:endParaRPr/>
          </a:p>
          <a:p>
            <a:pPr indent="0" lvl="0" marL="0" rtl="0" algn="l">
              <a:spcBef>
                <a:spcPts val="0"/>
              </a:spcBef>
              <a:spcAft>
                <a:spcPts val="0"/>
              </a:spcAft>
              <a:buNone/>
            </a:pPr>
            <a:r>
              <a:rPr b="1" i="0" lang="en-US"/>
              <a:t>False Negative</a:t>
            </a:r>
            <a:r>
              <a:rPr b="0" i="0" lang="en-US"/>
              <a:t> (also called False Rejection) is a probability of stating wrongly that a biometric sample does not belong to a certain person (in fact the real guy).</a:t>
            </a:r>
            <a:endParaRPr/>
          </a:p>
          <a:p>
            <a:pPr indent="0" lvl="0" marL="0" rtl="0" algn="l">
              <a:spcBef>
                <a:spcPts val="0"/>
              </a:spcBef>
              <a:spcAft>
                <a:spcPts val="0"/>
              </a:spcAft>
              <a:buNone/>
            </a:pPr>
            <a:r>
              <a:rPr b="0" i="0" lang="en-US"/>
              <a:t>For example, you are placing your finger onto a fingerprint scanner of your phone to get it unlocked, but it says it didn’t recognize you. What’s the probability of that to happen? But that happens all the time! Because it’s okay to just ask you to do it again. No big deal.</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7" name="Google Shape;12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4" name="Google Shape;13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1" name="Google Shape;14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8" name="Google Shape;14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MIT - Massachusetts Institute of Technology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 name="Google Shape;15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2" name="Google Shape;16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9" name="Google Shape;16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6" name="Google Shape;176;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3" name="Google Shape;18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1" name="Google Shape;19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8" name="Google Shape;19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5" name="Google Shape;20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Hashing is the process of converting a given key into another value. A </a:t>
            </a:r>
            <a:r>
              <a:rPr b="1" lang="en-US"/>
              <a:t>hash function</a:t>
            </a:r>
            <a:r>
              <a:rPr lang="en-US"/>
              <a:t> is used to generate the new value according to a mathematical algorithm. The result of a hash function is known as a </a:t>
            </a:r>
            <a:r>
              <a:rPr b="1" lang="en-US"/>
              <a:t>hash value</a:t>
            </a:r>
            <a:r>
              <a:rPr lang="en-US"/>
              <a:t> or simply, a </a:t>
            </a:r>
            <a:r>
              <a:rPr b="1" lang="en-US"/>
              <a:t>hash</a:t>
            </a:r>
            <a:r>
              <a:rPr lang="en-US"/>
              <a:t>.</a:t>
            </a:r>
            <a:endParaRPr/>
          </a:p>
          <a:p>
            <a:pPr indent="0" lvl="0" marL="0" rtl="0" algn="l">
              <a:spcBef>
                <a:spcPts val="0"/>
              </a:spcBef>
              <a:spcAft>
                <a:spcPts val="0"/>
              </a:spcAft>
              <a:buNone/>
            </a:pPr>
            <a:r>
              <a:rPr lang="en-US"/>
              <a:t>A good hash function uses a </a:t>
            </a:r>
            <a:r>
              <a:rPr b="1" lang="en-US"/>
              <a:t>one-way</a:t>
            </a:r>
            <a:r>
              <a:rPr lang="en-US"/>
              <a:t> hashing algorithm, or in other words, the hash cannot be converted back into the original key.</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2" name="Google Shape;21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9" name="Google Shape;21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User Input:</a:t>
            </a:r>
            <a:r>
              <a:rPr lang="en-US" sz="1100">
                <a:latin typeface="Arial"/>
                <a:ea typeface="Arial"/>
                <a:cs typeface="Arial"/>
                <a:sym typeface="Arial"/>
              </a:rPr>
              <a:t> The user enters their </a:t>
            </a:r>
            <a:r>
              <a:rPr b="1" lang="en-US" sz="1100">
                <a:latin typeface="Arial"/>
                <a:ea typeface="Arial"/>
                <a:cs typeface="Arial"/>
                <a:sym typeface="Arial"/>
              </a:rPr>
              <a:t>Username</a:t>
            </a:r>
            <a:r>
              <a:rPr lang="en-US" sz="1100">
                <a:latin typeface="Arial"/>
                <a:ea typeface="Arial"/>
                <a:cs typeface="Arial"/>
                <a:sym typeface="Arial"/>
              </a:rPr>
              <a:t> and </a:t>
            </a:r>
            <a:r>
              <a:rPr b="1" lang="en-US" sz="1100">
                <a:latin typeface="Arial"/>
                <a:ea typeface="Arial"/>
                <a:cs typeface="Arial"/>
                <a:sym typeface="Arial"/>
              </a:rPr>
              <a:t>Password</a:t>
            </a:r>
            <a:r>
              <a:rPr lang="en-US" sz="1100">
                <a:latin typeface="Arial"/>
                <a:ea typeface="Arial"/>
                <a:cs typeface="Arial"/>
                <a:sym typeface="Arial"/>
              </a:rPr>
              <a:t> into the Client Application.</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Client Hashing:</a:t>
            </a:r>
            <a:r>
              <a:rPr lang="en-US" sz="1100">
                <a:latin typeface="Arial"/>
                <a:ea typeface="Arial"/>
                <a:cs typeface="Arial"/>
                <a:sym typeface="Arial"/>
              </a:rPr>
              <a:t> The Client immediately converts the </a:t>
            </a:r>
            <a:r>
              <a:rPr b="1" lang="en-US" sz="1100">
                <a:latin typeface="Arial"/>
                <a:ea typeface="Arial"/>
                <a:cs typeface="Arial"/>
                <a:sym typeface="Arial"/>
              </a:rPr>
              <a:t>Password</a:t>
            </a:r>
            <a:r>
              <a:rPr lang="en-US" sz="1100">
                <a:latin typeface="Arial"/>
                <a:ea typeface="Arial"/>
                <a:cs typeface="Arial"/>
                <a:sym typeface="Arial"/>
              </a:rPr>
              <a:t> into a secure, scrambled code called a </a:t>
            </a:r>
            <a:r>
              <a:rPr b="1" lang="en-US" sz="1100">
                <a:latin typeface="Arial"/>
                <a:ea typeface="Arial"/>
                <a:cs typeface="Arial"/>
                <a:sym typeface="Arial"/>
              </a:rPr>
              <a:t>hash</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Password Discarded:</a:t>
            </a:r>
            <a:r>
              <a:rPr lang="en-US" sz="1100">
                <a:latin typeface="Arial"/>
                <a:ea typeface="Arial"/>
                <a:cs typeface="Arial"/>
                <a:sym typeface="Arial"/>
              </a:rPr>
              <a:t> The original password is </a:t>
            </a:r>
            <a:r>
              <a:rPr b="1" lang="en-US" sz="1100">
                <a:latin typeface="Arial"/>
                <a:ea typeface="Arial"/>
                <a:cs typeface="Arial"/>
                <a:sym typeface="Arial"/>
              </a:rPr>
              <a:t>thrown away</a:t>
            </a:r>
            <a:r>
              <a:rPr lang="en-US" sz="1100">
                <a:latin typeface="Arial"/>
                <a:ea typeface="Arial"/>
                <a:cs typeface="Arial"/>
                <a:sym typeface="Arial"/>
              </a:rPr>
              <a:t> by the client, so it never leaves the user's device.</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Username Sent:</a:t>
            </a:r>
            <a:r>
              <a:rPr lang="en-US" sz="1100">
                <a:latin typeface="Arial"/>
                <a:ea typeface="Arial"/>
                <a:cs typeface="Arial"/>
                <a:sym typeface="Arial"/>
              </a:rPr>
              <a:t> The Client sends only the </a:t>
            </a:r>
            <a:r>
              <a:rPr b="1" lang="en-US" sz="1100">
                <a:latin typeface="Arial"/>
                <a:ea typeface="Arial"/>
                <a:cs typeface="Arial"/>
                <a:sym typeface="Arial"/>
              </a:rPr>
              <a:t>Username</a:t>
            </a:r>
            <a:r>
              <a:rPr lang="en-US" sz="1100">
                <a:latin typeface="Arial"/>
                <a:ea typeface="Arial"/>
                <a:cs typeface="Arial"/>
                <a:sym typeface="Arial"/>
              </a:rPr>
              <a:t> to the Server.</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Server Challenge:</a:t>
            </a:r>
            <a:r>
              <a:rPr lang="en-US" sz="1100">
                <a:latin typeface="Arial"/>
                <a:ea typeface="Arial"/>
                <a:cs typeface="Arial"/>
                <a:sym typeface="Arial"/>
              </a:rPr>
              <a:t> The Server generates a unique, random question (a </a:t>
            </a:r>
            <a:r>
              <a:rPr b="1" lang="en-US" sz="1100">
                <a:latin typeface="Arial"/>
                <a:ea typeface="Arial"/>
                <a:cs typeface="Arial"/>
                <a:sym typeface="Arial"/>
              </a:rPr>
              <a:t>challenge</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Challenge Sent:</a:t>
            </a:r>
            <a:r>
              <a:rPr lang="en-US" sz="1100">
                <a:latin typeface="Arial"/>
                <a:ea typeface="Arial"/>
                <a:cs typeface="Arial"/>
                <a:sym typeface="Arial"/>
              </a:rPr>
              <a:t> The Server sends this </a:t>
            </a:r>
            <a:r>
              <a:rPr b="1" lang="en-US" sz="1100">
                <a:latin typeface="Arial"/>
                <a:ea typeface="Arial"/>
                <a:cs typeface="Arial"/>
                <a:sym typeface="Arial"/>
              </a:rPr>
              <a:t>challenge</a:t>
            </a:r>
            <a:r>
              <a:rPr lang="en-US" sz="1100">
                <a:latin typeface="Arial"/>
                <a:ea typeface="Arial"/>
                <a:cs typeface="Arial"/>
                <a:sym typeface="Arial"/>
              </a:rPr>
              <a:t> back to the Client.</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Client Encrypts:</a:t>
            </a:r>
            <a:r>
              <a:rPr lang="en-US" sz="1100">
                <a:latin typeface="Arial"/>
                <a:ea typeface="Arial"/>
                <a:cs typeface="Arial"/>
                <a:sym typeface="Arial"/>
              </a:rPr>
              <a:t> The Client uses the </a:t>
            </a:r>
            <a:r>
              <a:rPr b="1" lang="en-US" sz="1100">
                <a:latin typeface="Arial"/>
                <a:ea typeface="Arial"/>
                <a:cs typeface="Arial"/>
                <a:sym typeface="Arial"/>
              </a:rPr>
              <a:t>hash</a:t>
            </a:r>
            <a:r>
              <a:rPr lang="en-US" sz="1100">
                <a:latin typeface="Arial"/>
                <a:ea typeface="Arial"/>
                <a:cs typeface="Arial"/>
                <a:sym typeface="Arial"/>
              </a:rPr>
              <a:t> (the scrambled code from step 2) to encrypt the </a:t>
            </a:r>
            <a:r>
              <a:rPr b="1" lang="en-US" sz="1100">
                <a:latin typeface="Arial"/>
                <a:ea typeface="Arial"/>
                <a:cs typeface="Arial"/>
                <a:sym typeface="Arial"/>
              </a:rPr>
              <a:t>challenge</a:t>
            </a:r>
            <a:r>
              <a:rPr lang="en-US" sz="1100">
                <a:latin typeface="Arial"/>
                <a:ea typeface="Arial"/>
                <a:cs typeface="Arial"/>
                <a:sym typeface="Arial"/>
              </a:rPr>
              <a:t>. This encrypted answer is the proof of identity.</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Result Sent:</a:t>
            </a:r>
            <a:r>
              <a:rPr lang="en-US" sz="1100">
                <a:latin typeface="Arial"/>
                <a:ea typeface="Arial"/>
                <a:cs typeface="Arial"/>
                <a:sym typeface="Arial"/>
              </a:rPr>
              <a:t> The Client sends this </a:t>
            </a:r>
            <a:r>
              <a:rPr b="1" lang="en-US" sz="1100">
                <a:latin typeface="Arial"/>
                <a:ea typeface="Arial"/>
                <a:cs typeface="Arial"/>
                <a:sym typeface="Arial"/>
              </a:rPr>
              <a:t>encrypted result</a:t>
            </a:r>
            <a:r>
              <a:rPr lang="en-US" sz="1100">
                <a:latin typeface="Arial"/>
                <a:ea typeface="Arial"/>
                <a:cs typeface="Arial"/>
                <a:sym typeface="Arial"/>
              </a:rPr>
              <a:t> (the answer) to the Server.</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Server Verification (Steps 9-10):</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The Server looks up the user's stored </a:t>
            </a:r>
            <a:r>
              <a:rPr b="1" lang="en-US" sz="1100">
                <a:latin typeface="Arial"/>
                <a:ea typeface="Arial"/>
                <a:cs typeface="Arial"/>
                <a:sym typeface="Arial"/>
              </a:rPr>
              <a:t>hash</a:t>
            </a:r>
            <a:r>
              <a:rPr lang="en-US" sz="1100">
                <a:latin typeface="Arial"/>
                <a:ea typeface="Arial"/>
                <a:cs typeface="Arial"/>
                <a:sym typeface="Arial"/>
              </a:rPr>
              <a:t> (the same scrambled code, stored from when the user signed up).</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The Server uses its stored </a:t>
            </a:r>
            <a:r>
              <a:rPr b="1" lang="en-US" sz="1100">
                <a:latin typeface="Arial"/>
                <a:ea typeface="Arial"/>
                <a:cs typeface="Arial"/>
                <a:sym typeface="Arial"/>
              </a:rPr>
              <a:t>hash</a:t>
            </a:r>
            <a:r>
              <a:rPr lang="en-US" sz="1100">
                <a:latin typeface="Arial"/>
                <a:ea typeface="Arial"/>
                <a:cs typeface="Arial"/>
                <a:sym typeface="Arial"/>
              </a:rPr>
              <a:t> to encrypt the </a:t>
            </a:r>
            <a:r>
              <a:rPr b="1" lang="en-US" sz="1100">
                <a:latin typeface="Arial"/>
                <a:ea typeface="Arial"/>
                <a:cs typeface="Arial"/>
                <a:sym typeface="Arial"/>
              </a:rPr>
              <a:t>original challenge</a:t>
            </a:r>
            <a:r>
              <a:rPr lang="en-US" sz="1100">
                <a:latin typeface="Arial"/>
                <a:ea typeface="Arial"/>
                <a:cs typeface="Arial"/>
                <a:sym typeface="Arial"/>
              </a:rPr>
              <a:t> it sent.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Comparison:</a:t>
            </a:r>
            <a:r>
              <a:rPr lang="en-US" sz="1100">
                <a:latin typeface="Arial"/>
                <a:ea typeface="Arial"/>
                <a:cs typeface="Arial"/>
                <a:sym typeface="Arial"/>
              </a:rPr>
              <a:t> The Server compares the </a:t>
            </a:r>
            <a:r>
              <a:rPr b="1" lang="en-US" sz="1100">
                <a:latin typeface="Arial"/>
                <a:ea typeface="Arial"/>
                <a:cs typeface="Arial"/>
                <a:sym typeface="Arial"/>
              </a:rPr>
              <a:t>encrypted answer it just generated</a:t>
            </a:r>
            <a:r>
              <a:rPr lang="en-US" sz="1100">
                <a:latin typeface="Arial"/>
                <a:ea typeface="Arial"/>
                <a:cs typeface="Arial"/>
                <a:sym typeface="Arial"/>
              </a:rPr>
              <a:t> with the </a:t>
            </a:r>
            <a:r>
              <a:rPr b="1" lang="en-US" sz="1100">
                <a:latin typeface="Arial"/>
                <a:ea typeface="Arial"/>
                <a:cs typeface="Arial"/>
                <a:sym typeface="Arial"/>
              </a:rPr>
              <a:t>encrypted answer received from the client</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US" sz="1100">
                <a:latin typeface="Arial"/>
                <a:ea typeface="Arial"/>
                <a:cs typeface="Arial"/>
                <a:sym typeface="Arial"/>
              </a:rPr>
              <a:t>Authentication:</a:t>
            </a:r>
            <a:r>
              <a:rPr lang="en-US" sz="1100">
                <a:latin typeface="Arial"/>
                <a:ea typeface="Arial"/>
                <a:cs typeface="Arial"/>
                <a:sym typeface="Arial"/>
              </a:rPr>
              <a:t> If the two encrypted answers match, it proves the Client had the correct password (and therefore the correct hash), and the Server grants </a:t>
            </a:r>
            <a:r>
              <a:rPr b="1" lang="en-US" sz="1100">
                <a:latin typeface="Arial"/>
                <a:ea typeface="Arial"/>
                <a:cs typeface="Arial"/>
                <a:sym typeface="Arial"/>
              </a:rPr>
              <a:t>Authentication</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0"/>
              </a:spcBef>
              <a:spcAft>
                <a:spcPts val="0"/>
              </a:spcAft>
              <a:buNone/>
            </a:pPr>
            <a:r>
              <a:t/>
            </a:r>
            <a:endParaRPr b="1" sz="1300">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21"/>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1"/>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21"/>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0" name="Google Shape;20;p21"/>
          <p:cNvSpPr txBox="1"/>
          <p:nvPr>
            <p:ph idx="2" type="body"/>
          </p:nvPr>
        </p:nvSpPr>
        <p:spPr>
          <a:xfrm>
            <a:off x="152400" y="6400800"/>
            <a:ext cx="1676400" cy="4572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 name="Google Shape;21;p21"/>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22" name="Shape 22"/>
        <p:cNvGrpSpPr/>
        <p:nvPr/>
      </p:nvGrpSpPr>
      <p:grpSpPr>
        <a:xfrm>
          <a:off x="0" y="0"/>
          <a:ext cx="0" cy="0"/>
          <a:chOff x="0" y="0"/>
          <a:chExt cx="0" cy="0"/>
        </a:xfrm>
      </p:grpSpPr>
      <p:sp>
        <p:nvSpPr>
          <p:cNvPr id="23" name="Google Shape;23;p22"/>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2"/>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2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22"/>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2"/>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1" i="0" sz="1200" u="none" cap="none" strike="noStrike">
                <a:solidFill>
                  <a:srgbClr val="EEEBCA"/>
                </a:solidFill>
                <a:latin typeface="Calibri"/>
                <a:ea typeface="Calibri"/>
                <a:cs typeface="Calibri"/>
                <a:sym typeface="Calibri"/>
              </a:defRPr>
            </a:lvl1pPr>
            <a:lvl2pPr indent="0" lvl="1" marL="0" algn="ctr">
              <a:spcBef>
                <a:spcPts val="0"/>
              </a:spcBef>
              <a:buNone/>
              <a:defRPr b="1" i="0" sz="1200" u="none" cap="none" strike="noStrike">
                <a:solidFill>
                  <a:srgbClr val="EEEBCA"/>
                </a:solidFill>
                <a:latin typeface="Calibri"/>
                <a:ea typeface="Calibri"/>
                <a:cs typeface="Calibri"/>
                <a:sym typeface="Calibri"/>
              </a:defRPr>
            </a:lvl2pPr>
            <a:lvl3pPr indent="0" lvl="2" marL="0" algn="ctr">
              <a:spcBef>
                <a:spcPts val="0"/>
              </a:spcBef>
              <a:buNone/>
              <a:defRPr b="1" i="0" sz="1200" u="none" cap="none" strike="noStrike">
                <a:solidFill>
                  <a:srgbClr val="EEEBCA"/>
                </a:solidFill>
                <a:latin typeface="Calibri"/>
                <a:ea typeface="Calibri"/>
                <a:cs typeface="Calibri"/>
                <a:sym typeface="Calibri"/>
              </a:defRPr>
            </a:lvl3pPr>
            <a:lvl4pPr indent="0" lvl="3" marL="0" algn="ctr">
              <a:spcBef>
                <a:spcPts val="0"/>
              </a:spcBef>
              <a:buNone/>
              <a:defRPr b="1" i="0" sz="1200" u="none" cap="none" strike="noStrike">
                <a:solidFill>
                  <a:srgbClr val="EEEBCA"/>
                </a:solidFill>
                <a:latin typeface="Calibri"/>
                <a:ea typeface="Calibri"/>
                <a:cs typeface="Calibri"/>
                <a:sym typeface="Calibri"/>
              </a:defRPr>
            </a:lvl4pPr>
            <a:lvl5pPr indent="0" lvl="4" marL="0" algn="ctr">
              <a:spcBef>
                <a:spcPts val="0"/>
              </a:spcBef>
              <a:buNone/>
              <a:defRPr b="1" i="0" sz="1200" u="none" cap="none" strike="noStrike">
                <a:solidFill>
                  <a:srgbClr val="EEEBCA"/>
                </a:solidFill>
                <a:latin typeface="Calibri"/>
                <a:ea typeface="Calibri"/>
                <a:cs typeface="Calibri"/>
                <a:sym typeface="Calibri"/>
              </a:defRPr>
            </a:lvl5pPr>
            <a:lvl6pPr indent="0" lvl="5" marL="0" algn="ctr">
              <a:spcBef>
                <a:spcPts val="0"/>
              </a:spcBef>
              <a:buNone/>
              <a:defRPr b="1" i="0" sz="1200" u="none" cap="none" strike="noStrike">
                <a:solidFill>
                  <a:srgbClr val="EEEBCA"/>
                </a:solidFill>
                <a:latin typeface="Calibri"/>
                <a:ea typeface="Calibri"/>
                <a:cs typeface="Calibri"/>
                <a:sym typeface="Calibri"/>
              </a:defRPr>
            </a:lvl6pPr>
            <a:lvl7pPr indent="0" lvl="6" marL="0" algn="ctr">
              <a:spcBef>
                <a:spcPts val="0"/>
              </a:spcBef>
              <a:buNone/>
              <a:defRPr b="1" i="0" sz="1200" u="none" cap="none" strike="noStrike">
                <a:solidFill>
                  <a:srgbClr val="EEEBCA"/>
                </a:solidFill>
                <a:latin typeface="Calibri"/>
                <a:ea typeface="Calibri"/>
                <a:cs typeface="Calibri"/>
                <a:sym typeface="Calibri"/>
              </a:defRPr>
            </a:lvl7pPr>
            <a:lvl8pPr indent="0" lvl="7" marL="0" algn="ctr">
              <a:spcBef>
                <a:spcPts val="0"/>
              </a:spcBef>
              <a:buNone/>
              <a:defRPr b="1" i="0" sz="1200" u="none" cap="none" strike="noStrike">
                <a:solidFill>
                  <a:srgbClr val="EEEBCA"/>
                </a:solidFill>
                <a:latin typeface="Calibri"/>
                <a:ea typeface="Calibri"/>
                <a:cs typeface="Calibri"/>
                <a:sym typeface="Calibri"/>
              </a:defRPr>
            </a:lvl8pPr>
            <a:lvl9pPr indent="0" lvl="8" marL="0" algn="ctr">
              <a:spcBef>
                <a:spcPts val="0"/>
              </a:spcBef>
              <a:buNone/>
              <a:defRPr b="1" i="0" sz="1200" u="none" cap="none" strike="noStrike">
                <a:solidFill>
                  <a:srgbClr val="EEEBCA"/>
                </a:solidFill>
                <a:latin typeface="Calibri"/>
                <a:ea typeface="Calibri"/>
                <a:cs typeface="Calibri"/>
                <a:sym typeface="Calibri"/>
              </a:defRPr>
            </a:lvl9pPr>
          </a:lstStyle>
          <a:p>
            <a:pPr indent="0" lvl="0" marL="0" rtl="0" algn="ctr">
              <a:spcBef>
                <a:spcPts val="0"/>
              </a:spcBef>
              <a:spcAft>
                <a:spcPts val="0"/>
              </a:spcAft>
              <a:buNone/>
            </a:pPr>
            <a:r>
              <a:rPr lang="en-US"/>
              <a:t>2-</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8" name="Shape 28"/>
        <p:cNvGrpSpPr/>
        <p:nvPr/>
      </p:nvGrpSpPr>
      <p:grpSpPr>
        <a:xfrm>
          <a:off x="0" y="0"/>
          <a:ext cx="0" cy="0"/>
          <a:chOff x="0" y="0"/>
          <a:chExt cx="0" cy="0"/>
        </a:xfrm>
      </p:grpSpPr>
      <p:sp>
        <p:nvSpPr>
          <p:cNvPr id="29" name="Google Shape;29;p23"/>
          <p:cNvSpPr txBox="1"/>
          <p:nvPr/>
        </p:nvSpPr>
        <p:spPr>
          <a:xfrm>
            <a:off x="1219200" y="5486400"/>
            <a:ext cx="3581400" cy="685800"/>
          </a:xfrm>
          <a:prstGeom prst="rect">
            <a:avLst/>
          </a:prstGeom>
          <a:noFill/>
          <a:ln>
            <a:noFill/>
          </a:ln>
        </p:spPr>
        <p:txBody>
          <a:bodyPr anchorCtr="0" anchor="ctr" bIns="45700" lIns="91425" spcFirstLastPara="1" rIns="91425" wrap="square" tIns="45700">
            <a:normAutofit lnSpcReduction="10000"/>
          </a:bodyPr>
          <a:lstStyle/>
          <a:p>
            <a:pPr indent="0" lvl="0" marL="0" marR="0" rtl="0" algn="ctr">
              <a:lnSpc>
                <a:spcPct val="100000"/>
              </a:lnSpc>
              <a:spcBef>
                <a:spcPts val="0"/>
              </a:spcBef>
              <a:spcAft>
                <a:spcPts val="0"/>
              </a:spcAft>
              <a:buClr>
                <a:schemeClr val="dk1"/>
              </a:buClr>
              <a:buSzPts val="2000"/>
              <a:buFont typeface="Arial Black"/>
              <a:buNone/>
            </a:pPr>
            <a:r>
              <a:rPr b="0" i="0" lang="en-US" sz="2000" u="none" cap="none" strike="noStrike">
                <a:solidFill>
                  <a:schemeClr val="dk1"/>
                </a:solidFill>
                <a:latin typeface="Arial Black"/>
                <a:ea typeface="Arial Black"/>
                <a:cs typeface="Arial Black"/>
                <a:sym typeface="Arial Black"/>
              </a:rPr>
              <a:t>Your Interactive Guide to the Digital World</a:t>
            </a:r>
            <a:endParaRPr/>
          </a:p>
        </p:txBody>
      </p:sp>
      <p:sp>
        <p:nvSpPr>
          <p:cNvPr id="30" name="Google Shape;30;p23"/>
          <p:cNvSpPr/>
          <p:nvPr/>
        </p:nvSpPr>
        <p:spPr>
          <a:xfrm>
            <a:off x="0" y="4267200"/>
            <a:ext cx="487680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Arial Black"/>
                <a:ea typeface="Arial Black"/>
                <a:cs typeface="Arial Black"/>
                <a:sym typeface="Arial Black"/>
              </a:rPr>
              <a:t>Discovering </a:t>
            </a:r>
            <a:br>
              <a:rPr b="0" i="0" lang="en-US" sz="3200" u="none" cap="none" strike="noStrike">
                <a:solidFill>
                  <a:schemeClr val="dk1"/>
                </a:solidFill>
                <a:latin typeface="Arial Black"/>
                <a:ea typeface="Arial Black"/>
                <a:cs typeface="Arial Black"/>
                <a:sym typeface="Arial Black"/>
              </a:rPr>
            </a:br>
            <a:r>
              <a:rPr b="0" i="0" lang="en-US" sz="3200" u="none" cap="none" strike="noStrike">
                <a:solidFill>
                  <a:schemeClr val="dk1"/>
                </a:solidFill>
                <a:latin typeface="Arial Black"/>
                <a:ea typeface="Arial Black"/>
                <a:cs typeface="Arial Black"/>
                <a:sym typeface="Arial Black"/>
              </a:rPr>
              <a:t>	Computers 2012</a:t>
            </a:r>
            <a:endParaRPr/>
          </a:p>
        </p:txBody>
      </p:sp>
      <p:pic>
        <p:nvPicPr>
          <p:cNvPr id="31" name="Google Shape;31;p23"/>
          <p:cNvPicPr preferRelativeResize="0"/>
          <p:nvPr/>
        </p:nvPicPr>
        <p:blipFill rotWithShape="1">
          <a:blip r:embed="rId2">
            <a:alphaModFix/>
          </a:blip>
          <a:srcRect b="0" l="0" r="0" t="0"/>
          <a:stretch/>
        </p:blipFill>
        <p:spPr>
          <a:xfrm>
            <a:off x="5186606" y="3276600"/>
            <a:ext cx="3957394" cy="3581400"/>
          </a:xfrm>
          <a:prstGeom prst="rect">
            <a:avLst/>
          </a:prstGeom>
          <a:noFill/>
          <a:ln>
            <a:noFill/>
          </a:ln>
        </p:spPr>
      </p:pic>
      <p:pic>
        <p:nvPicPr>
          <p:cNvPr id="32" name="Google Shape;32;p23"/>
          <p:cNvPicPr preferRelativeResize="0"/>
          <p:nvPr/>
        </p:nvPicPr>
        <p:blipFill rotWithShape="1">
          <a:blip r:embed="rId3">
            <a:alphaModFix/>
          </a:blip>
          <a:srcRect b="0" l="0" r="0" t="0"/>
          <a:stretch/>
        </p:blipFill>
        <p:spPr>
          <a:xfrm>
            <a:off x="0" y="0"/>
            <a:ext cx="9144000" cy="3235890"/>
          </a:xfrm>
          <a:prstGeom prst="rect">
            <a:avLst/>
          </a:prstGeom>
          <a:noFill/>
          <a:ln>
            <a:noFill/>
          </a:ln>
          <a:effectLst>
            <a:outerShdw blurRad="292100" rotWithShape="0" algn="tl" dir="2700000" dist="139700">
              <a:srgbClr val="333333">
                <a:alpha val="64705"/>
              </a:srgbClr>
            </a:outerShdw>
          </a:effectLst>
        </p:spPr>
      </p:pic>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2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5F497A"/>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2000"/>
              <a:buNone/>
              <a:defRPr sz="2000">
                <a:solidFill>
                  <a:srgbClr val="888888"/>
                </a:solidFill>
              </a:defRPr>
            </a:lvl1pPr>
            <a:lvl2pPr indent="-228600" lvl="1" marL="914400" algn="l">
              <a:spcBef>
                <a:spcPts val="360"/>
              </a:spcBef>
              <a:spcAft>
                <a:spcPts val="0"/>
              </a:spcAft>
              <a:buSzPts val="1800"/>
              <a:buNone/>
              <a:defRPr sz="1800">
                <a:solidFill>
                  <a:srgbClr val="888888"/>
                </a:solidFill>
              </a:defRPr>
            </a:lvl2pPr>
            <a:lvl3pPr indent="-228600" lvl="2" marL="1371600" algn="l">
              <a:spcBef>
                <a:spcPts val="320"/>
              </a:spcBef>
              <a:spcAft>
                <a:spcPts val="0"/>
              </a:spcAft>
              <a:buSzPts val="1600"/>
              <a:buNone/>
              <a:defRPr sz="1600">
                <a:solidFill>
                  <a:srgbClr val="888888"/>
                </a:solidFill>
              </a:defRPr>
            </a:lvl3pPr>
            <a:lvl4pPr indent="-228600" lvl="3" marL="1828800" algn="l">
              <a:spcBef>
                <a:spcPts val="280"/>
              </a:spcBef>
              <a:spcAft>
                <a:spcPts val="0"/>
              </a:spcAft>
              <a:buSzPts val="1400"/>
              <a:buNone/>
              <a:defRPr sz="1400">
                <a:solidFill>
                  <a:srgbClr val="888888"/>
                </a:solidFill>
              </a:defRPr>
            </a:lvl4pPr>
            <a:lvl5pPr indent="-228600" lvl="4" marL="2286000" algn="l">
              <a:spcBef>
                <a:spcPts val="280"/>
              </a:spcBef>
              <a:spcAft>
                <a:spcPts val="0"/>
              </a:spcAft>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6" name="Google Shape;36;p2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7" name="Google Shape;37;p24"/>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9" name="Shape 39"/>
        <p:cNvGrpSpPr/>
        <p:nvPr/>
      </p:nvGrpSpPr>
      <p:grpSpPr>
        <a:xfrm>
          <a:off x="0" y="0"/>
          <a:ext cx="0" cy="0"/>
          <a:chOff x="0" y="0"/>
          <a:chExt cx="0" cy="0"/>
        </a:xfrm>
      </p:grpSpPr>
      <p:sp>
        <p:nvSpPr>
          <p:cNvPr id="40" name="Google Shape;40;p25"/>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2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SzPts val="2800"/>
              <a:buChar char="•"/>
              <a:defRPr sz="2800"/>
            </a:lvl1pPr>
            <a:lvl2pPr indent="-381000" lvl="1" marL="914400" algn="l">
              <a:spcBef>
                <a:spcPts val="48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25"/>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5"/>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25"/>
          <p:cNvSpPr txBox="1"/>
          <p:nvPr>
            <p:ph idx="3" type="body"/>
          </p:nvPr>
        </p:nvSpPr>
        <p:spPr>
          <a:xfrm>
            <a:off x="152400" y="6400800"/>
            <a:ext cx="1676400" cy="3048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6" name="Shape 46"/>
        <p:cNvGrpSpPr/>
        <p:nvPr/>
      </p:nvGrpSpPr>
      <p:grpSpPr>
        <a:xfrm>
          <a:off x="0" y="0"/>
          <a:ext cx="0" cy="0"/>
          <a:chOff x="0" y="0"/>
          <a:chExt cx="0" cy="0"/>
        </a:xfrm>
      </p:grpSpPr>
      <p:sp>
        <p:nvSpPr>
          <p:cNvPr id="47" name="Google Shape;47;p26"/>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4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SzPts val="2400"/>
              <a:buNone/>
              <a:defRPr b="1" sz="2400"/>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2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SzPts val="2400"/>
              <a:buChar char="•"/>
              <a:defRPr sz="2400"/>
            </a:lvl1pPr>
            <a:lvl2pPr indent="-355600" lvl="1" marL="914400" algn="l">
              <a:spcBef>
                <a:spcPts val="400"/>
              </a:spcBef>
              <a:spcAft>
                <a:spcPts val="0"/>
              </a:spcAft>
              <a:buSzPts val="20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26"/>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54" name="Google Shape;54;p26"/>
          <p:cNvSpPr txBox="1"/>
          <p:nvPr>
            <p:ph idx="5" type="body"/>
          </p:nvPr>
        </p:nvSpPr>
        <p:spPr>
          <a:xfrm>
            <a:off x="152400" y="6400800"/>
            <a:ext cx="1676400" cy="304800"/>
          </a:xfrm>
          <a:prstGeom prst="rect">
            <a:avLst/>
          </a:prstGeom>
          <a:noFill/>
          <a:ln>
            <a:noFill/>
          </a:ln>
        </p:spPr>
        <p:txBody>
          <a:bodyPr anchorCtr="0" anchor="t" bIns="45700" lIns="91425" spcFirstLastPara="1" rIns="91425" wrap="square" tIns="45700">
            <a:normAutofit/>
          </a:bodyPr>
          <a:lstStyle>
            <a:lvl1pPr indent="-228600" lvl="0" marL="457200" algn="l">
              <a:spcBef>
                <a:spcPts val="240"/>
              </a:spcBef>
              <a:spcAft>
                <a:spcPts val="0"/>
              </a:spcAft>
              <a:buSzPts val="1200"/>
              <a:buNone/>
              <a:defRPr sz="1200"/>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7"/>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27"/>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2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28"/>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2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F497A"/>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SzPts val="3200"/>
              <a:buChar char="•"/>
              <a:defRPr sz="3200"/>
            </a:lvl1pPr>
            <a:lvl2pPr indent="-406400" lvl="1" marL="914400" algn="l">
              <a:spcBef>
                <a:spcPts val="560"/>
              </a:spcBef>
              <a:spcAft>
                <a:spcPts val="0"/>
              </a:spcAft>
              <a:buSzPts val="2800"/>
              <a:buChar char="–"/>
              <a:defRPr sz="2800"/>
            </a:lvl2pPr>
            <a:lvl3pPr indent="-381000" lvl="2" marL="1371600" algn="l">
              <a:spcBef>
                <a:spcPts val="480"/>
              </a:spcBef>
              <a:spcAft>
                <a:spcPts val="0"/>
              </a:spcAft>
              <a:buSzPts val="240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7" name="Google Shape;67;p2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8" name="Google Shape;68;p2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29"/>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3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5F497A"/>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30"/>
          <p:cNvSpPr/>
          <p:nvPr>
            <p:ph idx="2" type="pic"/>
          </p:nvPr>
        </p:nvSpPr>
        <p:spPr>
          <a:xfrm>
            <a:off x="1792288" y="612775"/>
            <a:ext cx="5486400" cy="4114800"/>
          </a:xfrm>
          <a:prstGeom prst="rect">
            <a:avLst/>
          </a:prstGeom>
          <a:noFill/>
          <a:ln>
            <a:noFill/>
          </a:ln>
        </p:spPr>
      </p:sp>
      <p:sp>
        <p:nvSpPr>
          <p:cNvPr id="74" name="Google Shape;74;p3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400"/>
              <a:buNone/>
              <a:defRPr sz="1400"/>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3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30"/>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31"/>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1"/>
          <p:cNvSpPr txBox="1"/>
          <p:nvPr>
            <p:ph idx="1" type="body"/>
          </p:nvPr>
        </p:nvSpPr>
        <p:spPr>
          <a:xfrm rot="5400000">
            <a:off x="2247900" y="-495300"/>
            <a:ext cx="4648200" cy="8839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31"/>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3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5F497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3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32"/>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2"/>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5DFEC"/>
            </a:gs>
            <a:gs pos="64999">
              <a:srgbClr val="F0EBD5"/>
            </a:gs>
            <a:gs pos="100000">
              <a:srgbClr val="D1C39F"/>
            </a:gs>
          </a:gsLst>
          <a:path path="circle">
            <a:fillToRect b="0%" l="100%" r="0%" t="100%"/>
          </a:path>
          <a:tileRect b="-100%" l="0%" r="-100%" t="0%"/>
        </a:gra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5F497A"/>
              </a:buClr>
              <a:buSzPts val="4000"/>
              <a:buFont typeface="Calibri"/>
              <a:buNone/>
              <a:defRPr b="1" i="0" sz="4000" u="none" cap="none" strike="noStrike">
                <a:solidFill>
                  <a:srgbClr val="5F497A"/>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152400" y="1600200"/>
            <a:ext cx="8839200" cy="4648200"/>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rgbClr val="5F497A"/>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rgbClr val="5F497A"/>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5F497A"/>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5F497A"/>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5F497A"/>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0"/>
          <p:cNvSpPr txBox="1"/>
          <p:nvPr>
            <p:ph idx="11" type="ftr"/>
          </p:nvPr>
        </p:nvSpPr>
        <p:spPr>
          <a:xfrm>
            <a:off x="1981200" y="6370637"/>
            <a:ext cx="47244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p:nvPr/>
        </p:nvSpPr>
        <p:spPr>
          <a:xfrm>
            <a:off x="0" y="1219200"/>
            <a:ext cx="9144000" cy="457200"/>
          </a:xfrm>
          <a:prstGeom prst="rect">
            <a:avLst/>
          </a:prstGeom>
          <a:gradFill>
            <a:gsLst>
              <a:gs pos="0">
                <a:srgbClr val="DB7531"/>
              </a:gs>
              <a:gs pos="64999">
                <a:srgbClr val="F0EBD5"/>
              </a:gs>
              <a:gs pos="100000">
                <a:srgbClr val="D1C39F"/>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 name="Google Shape;14;p20"/>
          <p:cNvSpPr/>
          <p:nvPr/>
        </p:nvSpPr>
        <p:spPr>
          <a:xfrm>
            <a:off x="8534400" y="6248400"/>
            <a:ext cx="609600" cy="609600"/>
          </a:xfrm>
          <a:prstGeom prst="rect">
            <a:avLst/>
          </a:prstGeom>
          <a:solidFill>
            <a:srgbClr val="DB7531"/>
          </a:solidFill>
          <a:ln>
            <a:noFill/>
          </a:ln>
          <a:effectLst>
            <a:outerShdw blurRad="76200" kx="1200000" rotWithShape="0" algn="br" sy="230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 name="Google Shape;15;p20"/>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200" u="none" cap="none" strike="noStrike">
                <a:solidFill>
                  <a:srgbClr val="EEEBCA"/>
                </a:solidFill>
                <a:latin typeface="Calibri"/>
                <a:ea typeface="Calibri"/>
                <a:cs typeface="Calibri"/>
                <a:sym typeface="Calibri"/>
              </a:defRPr>
            </a:lvl1pPr>
            <a:lvl2pPr indent="0" lvl="1" marL="0" marR="0" rtl="0" algn="ctr">
              <a:spcBef>
                <a:spcPts val="0"/>
              </a:spcBef>
              <a:buNone/>
              <a:defRPr b="1" i="0" sz="1200" u="none" cap="none" strike="noStrike">
                <a:solidFill>
                  <a:srgbClr val="EEEBCA"/>
                </a:solidFill>
                <a:latin typeface="Calibri"/>
                <a:ea typeface="Calibri"/>
                <a:cs typeface="Calibri"/>
                <a:sym typeface="Calibri"/>
              </a:defRPr>
            </a:lvl2pPr>
            <a:lvl3pPr indent="0" lvl="2" marL="0" marR="0" rtl="0" algn="ctr">
              <a:spcBef>
                <a:spcPts val="0"/>
              </a:spcBef>
              <a:buNone/>
              <a:defRPr b="1" i="0" sz="1200" u="none" cap="none" strike="noStrike">
                <a:solidFill>
                  <a:srgbClr val="EEEBCA"/>
                </a:solidFill>
                <a:latin typeface="Calibri"/>
                <a:ea typeface="Calibri"/>
                <a:cs typeface="Calibri"/>
                <a:sym typeface="Calibri"/>
              </a:defRPr>
            </a:lvl3pPr>
            <a:lvl4pPr indent="0" lvl="3" marL="0" marR="0" rtl="0" algn="ctr">
              <a:spcBef>
                <a:spcPts val="0"/>
              </a:spcBef>
              <a:buNone/>
              <a:defRPr b="1" i="0" sz="1200" u="none" cap="none" strike="noStrike">
                <a:solidFill>
                  <a:srgbClr val="EEEBCA"/>
                </a:solidFill>
                <a:latin typeface="Calibri"/>
                <a:ea typeface="Calibri"/>
                <a:cs typeface="Calibri"/>
                <a:sym typeface="Calibri"/>
              </a:defRPr>
            </a:lvl4pPr>
            <a:lvl5pPr indent="0" lvl="4" marL="0" marR="0" rtl="0" algn="ctr">
              <a:spcBef>
                <a:spcPts val="0"/>
              </a:spcBef>
              <a:buNone/>
              <a:defRPr b="1" i="0" sz="1200" u="none" cap="none" strike="noStrike">
                <a:solidFill>
                  <a:srgbClr val="EEEBCA"/>
                </a:solidFill>
                <a:latin typeface="Calibri"/>
                <a:ea typeface="Calibri"/>
                <a:cs typeface="Calibri"/>
                <a:sym typeface="Calibri"/>
              </a:defRPr>
            </a:lvl5pPr>
            <a:lvl6pPr indent="0" lvl="5" marL="0" marR="0" rtl="0" algn="ctr">
              <a:spcBef>
                <a:spcPts val="0"/>
              </a:spcBef>
              <a:buNone/>
              <a:defRPr b="1" i="0" sz="1200" u="none" cap="none" strike="noStrike">
                <a:solidFill>
                  <a:srgbClr val="EEEBCA"/>
                </a:solidFill>
                <a:latin typeface="Calibri"/>
                <a:ea typeface="Calibri"/>
                <a:cs typeface="Calibri"/>
                <a:sym typeface="Calibri"/>
              </a:defRPr>
            </a:lvl6pPr>
            <a:lvl7pPr indent="0" lvl="6" marL="0" marR="0" rtl="0" algn="ctr">
              <a:spcBef>
                <a:spcPts val="0"/>
              </a:spcBef>
              <a:buNone/>
              <a:defRPr b="1" i="0" sz="1200" u="none" cap="none" strike="noStrike">
                <a:solidFill>
                  <a:srgbClr val="EEEBCA"/>
                </a:solidFill>
                <a:latin typeface="Calibri"/>
                <a:ea typeface="Calibri"/>
                <a:cs typeface="Calibri"/>
                <a:sym typeface="Calibri"/>
              </a:defRPr>
            </a:lvl7pPr>
            <a:lvl8pPr indent="0" lvl="7" marL="0" marR="0" rtl="0" algn="ctr">
              <a:spcBef>
                <a:spcPts val="0"/>
              </a:spcBef>
              <a:buNone/>
              <a:defRPr b="1" i="0" sz="1200" u="none" cap="none" strike="noStrike">
                <a:solidFill>
                  <a:srgbClr val="EEEBCA"/>
                </a:solidFill>
                <a:latin typeface="Calibri"/>
                <a:ea typeface="Calibri"/>
                <a:cs typeface="Calibri"/>
                <a:sym typeface="Calibri"/>
              </a:defRPr>
            </a:lvl8pPr>
            <a:lvl9pPr indent="0" lvl="8" marL="0" marR="0" rtl="0" algn="ctr">
              <a:spcBef>
                <a:spcPts val="0"/>
              </a:spcBef>
              <a:buNone/>
              <a:defRPr b="1" i="0" sz="1200" u="none" cap="none" strike="noStrike">
                <a:solidFill>
                  <a:srgbClr val="EEEBCA"/>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xolnwvlarge.mp4"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
          <p:cNvSpPr txBox="1"/>
          <p:nvPr>
            <p:ph type="title"/>
          </p:nvPr>
        </p:nvSpPr>
        <p:spPr>
          <a:xfrm>
            <a:off x="152400" y="152400"/>
            <a:ext cx="88392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F497A"/>
              </a:buClr>
              <a:buSzPts val="2400"/>
              <a:buFont typeface="Calibri"/>
              <a:buNone/>
            </a:pPr>
            <a:r>
              <a:rPr lang="en-US" sz="2400"/>
              <a:t>Authentication and Access Control</a:t>
            </a:r>
            <a:endParaRPr/>
          </a:p>
        </p:txBody>
      </p:sp>
      <p:sp>
        <p:nvSpPr>
          <p:cNvPr id="95" name="Google Shape;95;p1"/>
          <p:cNvSpPr txBox="1"/>
          <p:nvPr>
            <p:ph idx="1" type="body"/>
          </p:nvPr>
        </p:nvSpPr>
        <p:spPr>
          <a:xfrm>
            <a:off x="152400" y="1524000"/>
            <a:ext cx="8839200" cy="37338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3200"/>
              <a:buNone/>
            </a:pPr>
            <a:r>
              <a:t/>
            </a:r>
            <a:endParaRPr/>
          </a:p>
          <a:p>
            <a:pPr indent="0" lvl="0" marL="0" rtl="0" algn="ctr">
              <a:spcBef>
                <a:spcPts val="800"/>
              </a:spcBef>
              <a:spcAft>
                <a:spcPts val="0"/>
              </a:spcAft>
              <a:buSzPts val="4000"/>
              <a:buNone/>
            </a:pPr>
            <a:r>
              <a:t/>
            </a:r>
            <a:endParaRPr b="1" sz="4000">
              <a:solidFill>
                <a:srgbClr val="5F497A"/>
              </a:solidFill>
              <a:latin typeface="Calibri"/>
              <a:ea typeface="Calibri"/>
              <a:cs typeface="Calibri"/>
              <a:sym typeface="Calibri"/>
            </a:endParaRPr>
          </a:p>
          <a:p>
            <a:pPr indent="0" lvl="0" marL="0" rtl="0" algn="ctr">
              <a:spcBef>
                <a:spcPts val="880"/>
              </a:spcBef>
              <a:spcAft>
                <a:spcPts val="0"/>
              </a:spcAft>
              <a:buSzPts val="4400"/>
              <a:buNone/>
            </a:pPr>
            <a:r>
              <a:rPr b="1" lang="en-US" sz="4400">
                <a:solidFill>
                  <a:srgbClr val="5F497A"/>
                </a:solidFill>
                <a:latin typeface="Calibri"/>
                <a:ea typeface="Calibri"/>
                <a:cs typeface="Calibri"/>
                <a:sym typeface="Calibri"/>
              </a:rPr>
              <a:t>Information Security</a:t>
            </a:r>
            <a:endParaRPr b="1" sz="2000">
              <a:solidFill>
                <a:srgbClr val="5F497A"/>
              </a:solidFill>
              <a:latin typeface="Calibri"/>
              <a:ea typeface="Calibri"/>
              <a:cs typeface="Calibri"/>
              <a:sym typeface="Calibri"/>
            </a:endParaRPr>
          </a:p>
        </p:txBody>
      </p:sp>
      <p:sp>
        <p:nvSpPr>
          <p:cNvPr id="96" name="Google Shape;96;p1"/>
          <p:cNvSpPr txBox="1"/>
          <p:nvPr>
            <p:ph idx="12" type="sldNum"/>
          </p:nvPr>
        </p:nvSpPr>
        <p:spPr>
          <a:xfrm>
            <a:off x="8534400" y="6248400"/>
            <a:ext cx="609600" cy="609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03" name="Google Shape;103;p2"/>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Multi Factor Authentication </a:t>
            </a:r>
            <a:endParaRPr/>
          </a:p>
          <a:p>
            <a:pPr indent="-342900" lvl="0" marL="342900" rtl="0" algn="l">
              <a:lnSpc>
                <a:spcPct val="90000"/>
              </a:lnSpc>
              <a:spcBef>
                <a:spcPts val="480"/>
              </a:spcBef>
              <a:spcAft>
                <a:spcPts val="0"/>
              </a:spcAft>
              <a:buSzPts val="2400"/>
              <a:buChar char="•"/>
            </a:pPr>
            <a:r>
              <a:rPr lang="en-US" sz="2400"/>
              <a:t>What </a:t>
            </a:r>
            <a:r>
              <a:rPr lang="en-US" sz="2400" u="sng"/>
              <a:t>information</a:t>
            </a:r>
            <a:r>
              <a:rPr lang="en-US" sz="2400"/>
              <a:t> might we use to </a:t>
            </a:r>
            <a:r>
              <a:rPr lang="en-US" sz="2400" u="sng"/>
              <a:t>enable</a:t>
            </a:r>
            <a:r>
              <a:rPr lang="en-US" sz="2400"/>
              <a:t> an individual to confirm the </a:t>
            </a:r>
            <a:r>
              <a:rPr lang="en-US" sz="2400" u="sng"/>
              <a:t>identity</a:t>
            </a:r>
            <a:r>
              <a:rPr lang="en-US" sz="2400"/>
              <a:t>?</a:t>
            </a:r>
            <a:endParaRPr/>
          </a:p>
          <a:p>
            <a:pPr indent="-285750" lvl="1" marL="742950" rtl="0" algn="l">
              <a:lnSpc>
                <a:spcPct val="90000"/>
              </a:lnSpc>
              <a:spcBef>
                <a:spcPts val="400"/>
              </a:spcBef>
              <a:spcAft>
                <a:spcPts val="0"/>
              </a:spcAft>
              <a:buSzPts val="2000"/>
              <a:buChar char="–"/>
            </a:pPr>
            <a:r>
              <a:rPr lang="en-US" sz="2000"/>
              <a:t>What the person knows - e.g. Password, PIN</a:t>
            </a:r>
            <a:endParaRPr/>
          </a:p>
          <a:p>
            <a:pPr indent="-285750" lvl="1" marL="742950" rtl="0" algn="l">
              <a:lnSpc>
                <a:spcPct val="90000"/>
              </a:lnSpc>
              <a:spcBef>
                <a:spcPts val="400"/>
              </a:spcBef>
              <a:spcAft>
                <a:spcPts val="0"/>
              </a:spcAft>
              <a:buSzPts val="2000"/>
              <a:buChar char="–"/>
            </a:pPr>
            <a:r>
              <a:rPr lang="en-US" sz="2000"/>
              <a:t>What the person has - e.g. Smart Card, ID Number </a:t>
            </a:r>
            <a:endParaRPr/>
          </a:p>
          <a:p>
            <a:pPr indent="-285750" lvl="1" marL="742950" rtl="0" algn="l">
              <a:lnSpc>
                <a:spcPct val="90000"/>
              </a:lnSpc>
              <a:spcBef>
                <a:spcPts val="400"/>
              </a:spcBef>
              <a:spcAft>
                <a:spcPts val="0"/>
              </a:spcAft>
              <a:buSzPts val="2000"/>
              <a:buChar char="–"/>
            </a:pPr>
            <a:r>
              <a:rPr lang="en-US" sz="2000"/>
              <a:t>What the person is – e.g. Biometrics (Fingerprints, Retina)</a:t>
            </a:r>
            <a:endParaRPr/>
          </a:p>
          <a:p>
            <a:pPr indent="-285750" lvl="1" marL="742950" rtl="0" algn="l">
              <a:lnSpc>
                <a:spcPct val="90000"/>
              </a:lnSpc>
              <a:spcBef>
                <a:spcPts val="400"/>
              </a:spcBef>
              <a:spcAft>
                <a:spcPts val="0"/>
              </a:spcAft>
              <a:buSzPts val="2000"/>
              <a:buChar char="–"/>
            </a:pPr>
            <a:r>
              <a:rPr lang="en-US" sz="2000"/>
              <a:t>Where the person is – Location</a:t>
            </a:r>
            <a:endParaRPr/>
          </a:p>
          <a:p>
            <a:pPr indent="-285750" lvl="1" marL="742950" rtl="0" algn="l">
              <a:lnSpc>
                <a:spcPct val="90000"/>
              </a:lnSpc>
              <a:spcBef>
                <a:spcPts val="400"/>
              </a:spcBef>
              <a:spcAft>
                <a:spcPts val="0"/>
              </a:spcAft>
              <a:buSzPts val="2000"/>
              <a:buChar char="–"/>
            </a:pPr>
            <a:r>
              <a:rPr lang="en-US" sz="2000"/>
              <a:t>What the person do - Gestures</a:t>
            </a:r>
            <a:endParaRPr/>
          </a:p>
          <a:p>
            <a:pPr indent="-342900" lvl="0" marL="342900" rtl="0" algn="l">
              <a:lnSpc>
                <a:spcPct val="90000"/>
              </a:lnSpc>
              <a:spcBef>
                <a:spcPts val="480"/>
              </a:spcBef>
              <a:spcAft>
                <a:spcPts val="0"/>
              </a:spcAft>
              <a:buSzPts val="2400"/>
              <a:buChar char="•"/>
            </a:pPr>
            <a:r>
              <a:rPr lang="en-US" sz="2400"/>
              <a:t>Can use </a:t>
            </a:r>
            <a:r>
              <a:rPr lang="en-US" sz="2400" u="sng"/>
              <a:t>alone</a:t>
            </a:r>
            <a:r>
              <a:rPr lang="en-US" sz="2400"/>
              <a:t> or </a:t>
            </a:r>
            <a:r>
              <a:rPr lang="en-US" sz="2400" u="sng"/>
              <a:t>combined</a:t>
            </a:r>
            <a:endParaRPr u="sng"/>
          </a:p>
          <a:p>
            <a:pPr indent="-342900" lvl="0" marL="342900" rtl="0" algn="l">
              <a:lnSpc>
                <a:spcPct val="90000"/>
              </a:lnSpc>
              <a:spcBef>
                <a:spcPts val="480"/>
              </a:spcBef>
              <a:spcAft>
                <a:spcPts val="0"/>
              </a:spcAft>
              <a:buSzPts val="2400"/>
              <a:buChar char="•"/>
            </a:pPr>
            <a:r>
              <a:rPr lang="en-US" sz="2400"/>
              <a:t>All can provide user </a:t>
            </a:r>
            <a:r>
              <a:rPr lang="en-US" sz="2400" u="sng"/>
              <a:t>authentication</a:t>
            </a:r>
            <a:endParaRPr u="sng"/>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3"/>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10" name="Google Shape;110;p3"/>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Multi Factor Authentication </a:t>
            </a:r>
            <a:endParaRPr/>
          </a:p>
          <a:p>
            <a:pPr indent="0" lvl="0" marL="0" rtl="0" algn="l">
              <a:spcBef>
                <a:spcPts val="560"/>
              </a:spcBef>
              <a:spcAft>
                <a:spcPts val="0"/>
              </a:spcAft>
              <a:buSzPts val="2800"/>
              <a:buNone/>
            </a:pPr>
            <a:r>
              <a:rPr lang="en-US" sz="2800"/>
              <a:t>What you know</a:t>
            </a:r>
            <a:endParaRPr/>
          </a:p>
          <a:p>
            <a:pPr indent="-342900" lvl="1" marL="342900" rtl="0" algn="l">
              <a:spcBef>
                <a:spcPts val="480"/>
              </a:spcBef>
              <a:spcAft>
                <a:spcPts val="0"/>
              </a:spcAft>
              <a:buSzPts val="2400"/>
              <a:buFont typeface="Arial"/>
              <a:buChar char="•"/>
            </a:pPr>
            <a:r>
              <a:rPr lang="en-US" sz="2400"/>
              <a:t>An example of this type of Authentication is a "Password". </a:t>
            </a:r>
            <a:endParaRPr/>
          </a:p>
          <a:p>
            <a:pPr indent="-342900" lvl="1" marL="342900" rtl="0" algn="l">
              <a:spcBef>
                <a:spcPts val="480"/>
              </a:spcBef>
              <a:spcAft>
                <a:spcPts val="0"/>
              </a:spcAft>
              <a:buSzPts val="2400"/>
              <a:buFont typeface="Arial"/>
              <a:buChar char="•"/>
            </a:pPr>
            <a:r>
              <a:rPr lang="en-US" sz="2400"/>
              <a:t>The simple logic here is that if you know the secret password for an account, then you must be the owner of that account. </a:t>
            </a:r>
            <a:endParaRPr/>
          </a:p>
          <a:p>
            <a:pPr indent="-342900" lvl="1" marL="342900" rtl="0" algn="l">
              <a:spcBef>
                <a:spcPts val="480"/>
              </a:spcBef>
              <a:spcAft>
                <a:spcPts val="0"/>
              </a:spcAft>
              <a:buSzPts val="2400"/>
              <a:buFont typeface="Arial"/>
              <a:buChar char="•"/>
            </a:pPr>
            <a:r>
              <a:rPr lang="en-US" sz="2400"/>
              <a:t>The </a:t>
            </a:r>
            <a:r>
              <a:rPr b="1" lang="en-US" sz="2400" u="sng"/>
              <a:t>problems</a:t>
            </a:r>
            <a:r>
              <a:rPr lang="en-US" sz="2400"/>
              <a:t> associated with this type of Authentication is that the </a:t>
            </a:r>
            <a:r>
              <a:rPr b="1" lang="en-US" sz="2400" u="sng"/>
              <a:t>password can be stolen</a:t>
            </a:r>
            <a:r>
              <a:rPr lang="en-US" sz="2400"/>
              <a:t>, someone might read it if you wrote it somewhere. </a:t>
            </a:r>
            <a:endParaRPr/>
          </a:p>
          <a:p>
            <a:pPr indent="-342900" lvl="1" marL="342900" rtl="0" algn="l">
              <a:spcBef>
                <a:spcPts val="480"/>
              </a:spcBef>
              <a:spcAft>
                <a:spcPts val="0"/>
              </a:spcAft>
              <a:buSzPts val="2400"/>
              <a:buFont typeface="Arial"/>
              <a:buChar char="•"/>
            </a:pPr>
            <a:r>
              <a:rPr lang="en-US" sz="2400"/>
              <a:t>If anyone came to know your password, he might tell someone else. If you have a simple </a:t>
            </a:r>
            <a:r>
              <a:rPr b="1" lang="en-US" sz="2400" u="sng"/>
              <a:t>dictionary password</a:t>
            </a:r>
            <a:r>
              <a:rPr lang="en-US" sz="2400"/>
              <a:t>, it is easy to crack it by using password </a:t>
            </a:r>
            <a:r>
              <a:rPr b="1" lang="en-US" sz="2400" u="sng"/>
              <a:t>cracking software</a:t>
            </a:r>
            <a:r>
              <a:rPr lang="en-US" sz="2400" u="sng"/>
              <a:t>.</a:t>
            </a:r>
            <a:r>
              <a:rPr lang="en-US" sz="2400"/>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17" name="Google Shape;117;p4"/>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Multi Factor Authentication </a:t>
            </a:r>
            <a:endParaRPr/>
          </a:p>
          <a:p>
            <a:pPr indent="0" lvl="1" marL="0" rtl="0" algn="l">
              <a:spcBef>
                <a:spcPts val="560"/>
              </a:spcBef>
              <a:spcAft>
                <a:spcPts val="0"/>
              </a:spcAft>
              <a:buSzPts val="2800"/>
              <a:buNone/>
            </a:pPr>
            <a:r>
              <a:rPr lang="en-US"/>
              <a:t>What you have</a:t>
            </a:r>
            <a:endParaRPr/>
          </a:p>
          <a:p>
            <a:pPr indent="-342900" lvl="1" marL="342900" rtl="0" algn="l">
              <a:spcBef>
                <a:spcPts val="480"/>
              </a:spcBef>
              <a:spcAft>
                <a:spcPts val="0"/>
              </a:spcAft>
              <a:buSzPts val="2400"/>
              <a:buFont typeface="Arial"/>
              <a:buChar char="•"/>
            </a:pPr>
            <a:r>
              <a:rPr lang="en-US" sz="2400"/>
              <a:t>Examples of this type of authentication are </a:t>
            </a:r>
            <a:r>
              <a:rPr lang="en-US" sz="2400" u="sng"/>
              <a:t>smart cards</a:t>
            </a:r>
            <a:r>
              <a:rPr lang="en-US" sz="2400"/>
              <a:t>, </a:t>
            </a:r>
            <a:r>
              <a:rPr lang="en-US" sz="2400" u="sng"/>
              <a:t>tokens</a:t>
            </a:r>
            <a:r>
              <a:rPr lang="en-US" sz="2400"/>
              <a:t> etc.  </a:t>
            </a:r>
            <a:endParaRPr/>
          </a:p>
          <a:p>
            <a:pPr indent="-342900" lvl="1" marL="342900" rtl="0" algn="l">
              <a:spcBef>
                <a:spcPts val="480"/>
              </a:spcBef>
              <a:spcAft>
                <a:spcPts val="0"/>
              </a:spcAft>
              <a:buSzPts val="2400"/>
              <a:buFont typeface="Arial"/>
              <a:buChar char="•"/>
            </a:pPr>
            <a:r>
              <a:rPr lang="en-US" sz="2400"/>
              <a:t>The logic here is if you have the smart card with you, you must be the owner of the account. </a:t>
            </a:r>
            <a:endParaRPr/>
          </a:p>
          <a:p>
            <a:pPr indent="-342900" lvl="1" marL="342900" rtl="0" algn="l">
              <a:spcBef>
                <a:spcPts val="480"/>
              </a:spcBef>
              <a:spcAft>
                <a:spcPts val="0"/>
              </a:spcAft>
              <a:buSzPts val="2400"/>
              <a:buFont typeface="Arial"/>
              <a:buChar char="•"/>
            </a:pPr>
            <a:r>
              <a:rPr lang="en-US" sz="2400"/>
              <a:t>The </a:t>
            </a:r>
            <a:r>
              <a:rPr b="1" lang="en-US" sz="2400" u="sng"/>
              <a:t>problems</a:t>
            </a:r>
            <a:r>
              <a:rPr lang="en-US" sz="2400"/>
              <a:t> associated with this type of authentication are you might</a:t>
            </a:r>
            <a:r>
              <a:rPr b="1" lang="en-US" sz="2400"/>
              <a:t> </a:t>
            </a:r>
            <a:r>
              <a:rPr b="1" lang="en-US" sz="2400" u="sng"/>
              <a:t>lose the smart card</a:t>
            </a:r>
            <a:r>
              <a:rPr lang="en-US" sz="2400"/>
              <a:t>, it can be stolen, or someone can duplicate the smart card etc.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24" name="Google Shape;124;p5"/>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Multi Factor Authentication </a:t>
            </a:r>
            <a:endParaRPr/>
          </a:p>
          <a:p>
            <a:pPr indent="0" lvl="1" marL="0" rtl="0" algn="l">
              <a:spcBef>
                <a:spcPts val="560"/>
              </a:spcBef>
              <a:spcAft>
                <a:spcPts val="0"/>
              </a:spcAft>
              <a:buSzPts val="2800"/>
              <a:buNone/>
            </a:pPr>
            <a:r>
              <a:rPr lang="en-US"/>
              <a:t>What you are</a:t>
            </a:r>
            <a:endParaRPr/>
          </a:p>
          <a:p>
            <a:pPr indent="-342900" lvl="1" marL="342900" rtl="0" algn="l">
              <a:spcBef>
                <a:spcPts val="480"/>
              </a:spcBef>
              <a:spcAft>
                <a:spcPts val="0"/>
              </a:spcAft>
              <a:buSzPts val="2400"/>
              <a:buFont typeface="Arial"/>
              <a:buChar char="•"/>
            </a:pPr>
            <a:r>
              <a:rPr lang="en-US" sz="2400"/>
              <a:t>Examples of this type of authentication are your </a:t>
            </a:r>
            <a:r>
              <a:rPr lang="en-US" sz="2400" u="sng"/>
              <a:t>fingerprint</a:t>
            </a:r>
            <a:r>
              <a:rPr lang="en-US" sz="2400"/>
              <a:t>, </a:t>
            </a:r>
            <a:r>
              <a:rPr lang="en-US" sz="2400" u="sng"/>
              <a:t>handprint</a:t>
            </a:r>
            <a:r>
              <a:rPr lang="en-US" sz="2400"/>
              <a:t>, </a:t>
            </a:r>
            <a:r>
              <a:rPr lang="en-US" sz="2400" u="sng"/>
              <a:t>retina pattern</a:t>
            </a:r>
            <a:r>
              <a:rPr lang="en-US" sz="2400"/>
              <a:t>, </a:t>
            </a:r>
            <a:r>
              <a:rPr lang="en-US" sz="2400" u="sng"/>
              <a:t>voice</a:t>
            </a:r>
            <a:r>
              <a:rPr lang="en-US" sz="2400"/>
              <a:t> etc. </a:t>
            </a:r>
            <a:endParaRPr/>
          </a:p>
          <a:p>
            <a:pPr indent="-342900" lvl="1" marL="342900" rtl="0" algn="l">
              <a:spcBef>
                <a:spcPts val="480"/>
              </a:spcBef>
              <a:spcAft>
                <a:spcPts val="0"/>
              </a:spcAft>
              <a:buSzPts val="2400"/>
              <a:buFont typeface="Arial"/>
              <a:buChar char="•"/>
            </a:pPr>
            <a:r>
              <a:rPr b="1" lang="en-US" sz="2400" u="sng"/>
              <a:t>Problems associated</a:t>
            </a:r>
            <a:r>
              <a:rPr lang="en-US" sz="2400"/>
              <a:t> with this type of authentication are that there is a chance of </a:t>
            </a:r>
            <a:r>
              <a:rPr b="1" lang="en-US" sz="2400" u="sng"/>
              <a:t>false positives</a:t>
            </a:r>
            <a:r>
              <a:rPr lang="en-US" sz="2400"/>
              <a:t> and </a:t>
            </a:r>
            <a:r>
              <a:rPr lang="en-US" sz="2400" u="sng"/>
              <a:t>false negatives</a:t>
            </a:r>
            <a:r>
              <a:rPr lang="en-US" sz="2400"/>
              <a:t>. </a:t>
            </a:r>
            <a:endParaRPr/>
          </a:p>
          <a:p>
            <a:pPr indent="-342900" lvl="1" marL="342900" rtl="0" algn="l">
              <a:spcBef>
                <a:spcPts val="480"/>
              </a:spcBef>
              <a:spcAft>
                <a:spcPts val="0"/>
              </a:spcAft>
              <a:buSzPts val="2400"/>
              <a:buFont typeface="Arial"/>
              <a:buChar char="•"/>
            </a:pPr>
            <a:r>
              <a:rPr lang="en-US" sz="2400"/>
              <a:t>Chances are there that an invalid user is accepted and a valid user is rejected. Often people are not comfortable with this type of authentication.</a:t>
            </a:r>
            <a:endParaRPr/>
          </a:p>
          <a:p>
            <a:pPr indent="-342900" lvl="1" marL="342900" rtl="0" algn="l">
              <a:spcBef>
                <a:spcPts val="480"/>
              </a:spcBef>
              <a:spcAft>
                <a:spcPts val="0"/>
              </a:spcAft>
              <a:buSzPts val="2400"/>
              <a:buFont typeface="Arial"/>
              <a:buChar char="•"/>
            </a:pPr>
            <a:r>
              <a:rPr b="1" lang="en-US" sz="2400"/>
              <a:t>False Positive</a:t>
            </a:r>
            <a:r>
              <a:rPr lang="en-US" sz="2400"/>
              <a:t> (also called </a:t>
            </a:r>
            <a:r>
              <a:rPr lang="en-US" sz="2400" u="sng"/>
              <a:t>False Acceptance</a:t>
            </a:r>
            <a:r>
              <a:rPr lang="en-US" sz="2400"/>
              <a:t>)</a:t>
            </a:r>
            <a:endParaRPr/>
          </a:p>
          <a:p>
            <a:pPr indent="-342900" lvl="1" marL="342900" rtl="0" algn="l">
              <a:spcBef>
                <a:spcPts val="480"/>
              </a:spcBef>
              <a:spcAft>
                <a:spcPts val="0"/>
              </a:spcAft>
              <a:buSzPts val="2400"/>
              <a:buFont typeface="Arial"/>
              <a:buChar char="•"/>
            </a:pPr>
            <a:r>
              <a:rPr b="1" lang="en-US" sz="2400"/>
              <a:t>False Negative</a:t>
            </a:r>
            <a:r>
              <a:rPr lang="en-US" sz="2400"/>
              <a:t> (also called </a:t>
            </a:r>
            <a:r>
              <a:rPr lang="en-US" sz="2400" u="sng"/>
              <a:t>False Rejection</a:t>
            </a:r>
            <a:r>
              <a:rPr lang="en-US" sz="2400"/>
              <a:t>)</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31" name="Google Shape;131;p6"/>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Multi Factor Authentication </a:t>
            </a:r>
            <a:endParaRPr/>
          </a:p>
          <a:p>
            <a:pPr indent="0" lvl="1" marL="0" rtl="0" algn="l">
              <a:spcBef>
                <a:spcPts val="560"/>
              </a:spcBef>
              <a:spcAft>
                <a:spcPts val="0"/>
              </a:spcAft>
              <a:buSzPts val="2800"/>
              <a:buNone/>
            </a:pPr>
            <a:r>
              <a:rPr lang="en-US"/>
              <a:t>Where you are</a:t>
            </a:r>
            <a:endParaRPr/>
          </a:p>
          <a:p>
            <a:pPr indent="-342900" lvl="1" marL="342900" rtl="0" algn="l">
              <a:spcBef>
                <a:spcPts val="480"/>
              </a:spcBef>
              <a:spcAft>
                <a:spcPts val="0"/>
              </a:spcAft>
              <a:buSzPts val="2400"/>
              <a:buFont typeface="Arial"/>
              <a:buChar char="•"/>
            </a:pPr>
            <a:r>
              <a:rPr lang="en-US" sz="2400"/>
              <a:t>Network administrators can implement services that use </a:t>
            </a:r>
            <a:r>
              <a:rPr lang="en-US" sz="2400"/>
              <a:t>geolocation</a:t>
            </a:r>
            <a:r>
              <a:rPr lang="en-US" sz="2400"/>
              <a:t> security checks to verify the location of a user before </a:t>
            </a:r>
            <a:r>
              <a:rPr lang="en-US" sz="2400" u="sng"/>
              <a:t>granting access</a:t>
            </a:r>
            <a:r>
              <a:rPr lang="en-US" sz="2400"/>
              <a:t> to an </a:t>
            </a:r>
            <a:r>
              <a:rPr lang="en-US" sz="2400" u="sng"/>
              <a:t>application</a:t>
            </a:r>
            <a:r>
              <a:rPr lang="en-US" sz="2400"/>
              <a:t>, </a:t>
            </a:r>
            <a:r>
              <a:rPr lang="en-US" sz="2400" u="sng"/>
              <a:t>network</a:t>
            </a:r>
            <a:r>
              <a:rPr lang="en-US" sz="2400"/>
              <a:t>,</a:t>
            </a:r>
            <a:r>
              <a:rPr lang="en-US" sz="2400"/>
              <a:t> or </a:t>
            </a:r>
            <a:r>
              <a:rPr lang="en-US" sz="2400" u="sng"/>
              <a:t>system</a:t>
            </a:r>
            <a:r>
              <a:rPr lang="en-US" sz="2400"/>
              <a:t>.</a:t>
            </a:r>
            <a:endParaRPr/>
          </a:p>
          <a:p>
            <a:pPr indent="-342900" lvl="1" marL="342900" rtl="0" algn="l">
              <a:spcBef>
                <a:spcPts val="480"/>
              </a:spcBef>
              <a:spcAft>
                <a:spcPts val="0"/>
              </a:spcAft>
              <a:buSzPts val="2400"/>
              <a:buFont typeface="Arial"/>
              <a:buChar char="•"/>
            </a:pPr>
            <a:r>
              <a:rPr lang="en-US" sz="2400" u="sng"/>
              <a:t>IP addresses</a:t>
            </a:r>
            <a:r>
              <a:rPr lang="en-US" sz="2400"/>
              <a:t> are a useful factor for assessing the origin of network traffic, but hackers can use </a:t>
            </a:r>
            <a:r>
              <a:rPr lang="en-US" sz="2400" u="sng"/>
              <a:t>VPNs</a:t>
            </a:r>
            <a:r>
              <a:rPr lang="en-US" sz="2400"/>
              <a:t> to hide their location.</a:t>
            </a:r>
            <a:endParaRPr/>
          </a:p>
          <a:p>
            <a:pPr indent="-342900" lvl="1" marL="342900" rtl="0" algn="l">
              <a:spcBef>
                <a:spcPts val="480"/>
              </a:spcBef>
              <a:spcAft>
                <a:spcPts val="0"/>
              </a:spcAft>
              <a:buSzPts val="2400"/>
              <a:buFont typeface="Arial"/>
              <a:buChar char="•"/>
            </a:pPr>
            <a:r>
              <a:rPr lang="en-US" sz="2400" u="sng"/>
              <a:t>MAC addresses</a:t>
            </a:r>
            <a:r>
              <a:rPr lang="en-US" sz="2400"/>
              <a:t>, which are unique to individual computing devices, can be implemented as a </a:t>
            </a:r>
            <a:r>
              <a:rPr lang="en-US" sz="2400" u="sng"/>
              <a:t>location-based authentication factor</a:t>
            </a:r>
            <a:r>
              <a:rPr lang="en-US" sz="2400"/>
              <a:t> to ensure that a system is only accessed from a limited number of authorized devices.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38" name="Google Shape;138;p7"/>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Multi Factor Authentication </a:t>
            </a:r>
            <a:endParaRPr/>
          </a:p>
          <a:p>
            <a:pPr indent="0" lvl="1" marL="0" rtl="0" algn="l">
              <a:spcBef>
                <a:spcPts val="560"/>
              </a:spcBef>
              <a:spcAft>
                <a:spcPts val="0"/>
              </a:spcAft>
              <a:buSzPts val="2800"/>
              <a:buNone/>
            </a:pPr>
            <a:r>
              <a:rPr lang="en-US"/>
              <a:t>What you do</a:t>
            </a:r>
            <a:endParaRPr/>
          </a:p>
          <a:p>
            <a:pPr indent="-342900" lvl="1" marL="342900" rtl="0" algn="l">
              <a:spcBef>
                <a:spcPts val="480"/>
              </a:spcBef>
              <a:spcAft>
                <a:spcPts val="0"/>
              </a:spcAft>
              <a:buSzPts val="2400"/>
              <a:buFont typeface="Arial"/>
              <a:buChar char="•"/>
            </a:pPr>
            <a:r>
              <a:rPr lang="en-US" sz="2400"/>
              <a:t>Something you do is a type of </a:t>
            </a:r>
            <a:r>
              <a:rPr lang="en-US" sz="2400" u="sng"/>
              <a:t>authentication</a:t>
            </a:r>
            <a:r>
              <a:rPr lang="en-US" sz="2400"/>
              <a:t> which proves identities by </a:t>
            </a:r>
            <a:r>
              <a:rPr lang="en-US" sz="2400" u="sng"/>
              <a:t>observing actions</a:t>
            </a:r>
            <a:r>
              <a:rPr lang="en-US" sz="2400"/>
              <a:t>. These actions could be things like gestures or touches. </a:t>
            </a:r>
            <a:endParaRPr/>
          </a:p>
          <a:p>
            <a:pPr indent="-342900" lvl="1" marL="342900" rtl="0" algn="l">
              <a:spcBef>
                <a:spcPts val="480"/>
              </a:spcBef>
              <a:spcAft>
                <a:spcPts val="0"/>
              </a:spcAft>
              <a:buSzPts val="2400"/>
              <a:buFont typeface="Arial"/>
              <a:buChar char="•"/>
            </a:pPr>
            <a:r>
              <a:rPr lang="en-US" sz="2400"/>
              <a:t>Windows 8 has a feature called Picture Password. This feature allows the user to set up </a:t>
            </a:r>
            <a:r>
              <a:rPr lang="en-US" sz="2400" u="sng"/>
              <a:t>gestures</a:t>
            </a:r>
            <a:r>
              <a:rPr lang="en-US" sz="2400"/>
              <a:t> and </a:t>
            </a:r>
            <a:r>
              <a:rPr lang="en-US" sz="2400" u="sng"/>
              <a:t>touches</a:t>
            </a:r>
            <a:r>
              <a:rPr lang="en-US" sz="2400"/>
              <a:t> on a picture as a way to authenticate themselves.</a:t>
            </a:r>
            <a:endParaRPr/>
          </a:p>
          <a:p>
            <a:pPr indent="-342900" lvl="1" marL="342900" rtl="0" algn="l">
              <a:spcBef>
                <a:spcPts val="480"/>
              </a:spcBef>
              <a:spcAft>
                <a:spcPts val="0"/>
              </a:spcAft>
              <a:buSzPts val="2400"/>
              <a:buFont typeface="Arial"/>
              <a:buChar char="•"/>
            </a:pPr>
            <a:r>
              <a:rPr lang="en-US" sz="2400"/>
              <a:t>To set up a Picture Password, you need to first choose a picture, then mark it with actions (drawing a circle or a line or just clicking on a specific spot).</a:t>
            </a:r>
            <a:endParaRPr/>
          </a:p>
          <a:p>
            <a:pPr indent="-342900" lvl="1" marL="342900" rtl="0" algn="l">
              <a:spcBef>
                <a:spcPts val="480"/>
              </a:spcBef>
              <a:spcAft>
                <a:spcPts val="0"/>
              </a:spcAft>
              <a:buSzPts val="2400"/>
              <a:buFont typeface="Arial"/>
              <a:buChar char="•"/>
            </a:pPr>
            <a:r>
              <a:rPr lang="en-US" sz="2400" u="sng">
                <a:solidFill>
                  <a:schemeClr val="hlink"/>
                </a:solidFill>
                <a:hlinkClick r:id="rId3"/>
              </a:rPr>
              <a:t>What you do - Windows authentication</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8"/>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45" name="Google Shape;145;p8"/>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Multi Factor Authentication </a:t>
            </a:r>
            <a:endParaRPr/>
          </a:p>
          <a:p>
            <a:pPr indent="0" lvl="1" marL="0" rtl="0" algn="l">
              <a:spcBef>
                <a:spcPts val="560"/>
              </a:spcBef>
              <a:spcAft>
                <a:spcPts val="0"/>
              </a:spcAft>
              <a:buSzPts val="2800"/>
              <a:buNone/>
            </a:pPr>
            <a:r>
              <a:rPr lang="en-US"/>
              <a:t>Out-of-Band Authentication</a:t>
            </a:r>
            <a:endParaRPr/>
          </a:p>
          <a:p>
            <a:pPr indent="-342900" lvl="1" marL="342900" rtl="0" algn="l">
              <a:spcBef>
                <a:spcPts val="480"/>
              </a:spcBef>
              <a:spcAft>
                <a:spcPts val="0"/>
              </a:spcAft>
              <a:buSzPts val="2400"/>
              <a:buFont typeface="Arial"/>
              <a:buChar char="•"/>
            </a:pPr>
            <a:r>
              <a:rPr lang="en-US" sz="2400"/>
              <a:t>Out-of-Band (OOB) means that authentication factors are transmitted via </a:t>
            </a:r>
            <a:r>
              <a:rPr lang="en-US" sz="2400" u="sng"/>
              <a:t>different channels</a:t>
            </a:r>
            <a:r>
              <a:rPr lang="en-US" sz="2400"/>
              <a:t> or networks. </a:t>
            </a:r>
            <a:endParaRPr/>
          </a:p>
          <a:p>
            <a:pPr indent="-342900" lvl="1" marL="342900" rtl="0" algn="l">
              <a:spcBef>
                <a:spcPts val="480"/>
              </a:spcBef>
              <a:spcAft>
                <a:spcPts val="0"/>
              </a:spcAft>
              <a:buSzPts val="2400"/>
              <a:buFont typeface="Arial"/>
              <a:buChar char="•"/>
            </a:pPr>
            <a:r>
              <a:rPr lang="en-US" sz="2400"/>
              <a:t>This means that the device you use to enter a factor (e.g. something you know), is different than the device you use to receive or generate another factor (e.g. something you have). </a:t>
            </a:r>
            <a:endParaRPr/>
          </a:p>
          <a:p>
            <a:pPr indent="-342900" lvl="1" marL="342900" rtl="0" algn="l">
              <a:spcBef>
                <a:spcPts val="480"/>
              </a:spcBef>
              <a:spcAft>
                <a:spcPts val="0"/>
              </a:spcAft>
              <a:buSzPts val="2400"/>
              <a:buFont typeface="Arial"/>
              <a:buChar char="•"/>
            </a:pPr>
            <a:r>
              <a:rPr lang="en-US" sz="2400"/>
              <a:t>For instance, if you are on a website in your computer and you enter your username and password and a token is required next, the token needs to be generated by a different channel — an application on a cell phone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9"/>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52" name="Google Shape;152;p9"/>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2800"/>
              <a:buNone/>
            </a:pPr>
            <a:r>
              <a:rPr b="1" lang="en-US" sz="2800"/>
              <a:t>Authentication Protocols: Kerberos</a:t>
            </a:r>
            <a:endParaRPr/>
          </a:p>
          <a:p>
            <a:pPr indent="-342900" lvl="0" marL="342900" rtl="0" algn="l">
              <a:spcBef>
                <a:spcPts val="480"/>
              </a:spcBef>
              <a:spcAft>
                <a:spcPts val="0"/>
              </a:spcAft>
              <a:buSzPts val="2400"/>
              <a:buChar char="•"/>
            </a:pPr>
            <a:r>
              <a:rPr lang="en-US" sz="2400"/>
              <a:t>It was developed at </a:t>
            </a:r>
            <a:r>
              <a:rPr lang="en-US" sz="2400" u="sng"/>
              <a:t>MIT</a:t>
            </a:r>
            <a:r>
              <a:rPr lang="en-US" sz="2400"/>
              <a:t> to provide </a:t>
            </a:r>
            <a:r>
              <a:rPr lang="en-US" sz="2400" u="sng"/>
              <a:t>authentication</a:t>
            </a:r>
            <a:r>
              <a:rPr lang="en-US" sz="2400"/>
              <a:t> for </a:t>
            </a:r>
            <a:r>
              <a:rPr lang="en-US" sz="2400" u="sng"/>
              <a:t>UNIX</a:t>
            </a:r>
            <a:r>
              <a:rPr lang="en-US" sz="2400"/>
              <a:t> networks. Today, Kerberos is the default Windows authentication method, and it is also used in </a:t>
            </a:r>
            <a:r>
              <a:rPr lang="en-US" sz="2400" u="sng"/>
              <a:t>Mac</a:t>
            </a:r>
            <a:r>
              <a:rPr lang="en-US" sz="2400"/>
              <a:t> </a:t>
            </a:r>
            <a:r>
              <a:rPr lang="en-US" sz="2400" u="sng"/>
              <a:t>OS X</a:t>
            </a:r>
            <a:r>
              <a:rPr lang="en-US" sz="2400"/>
              <a:t> and </a:t>
            </a:r>
            <a:r>
              <a:rPr lang="en-US" sz="2400" u="sng"/>
              <a:t>Linux</a:t>
            </a:r>
            <a:r>
              <a:rPr lang="en-US" sz="2400"/>
              <a:t>. </a:t>
            </a:r>
            <a:endParaRPr/>
          </a:p>
          <a:p>
            <a:pPr indent="-342900" lvl="0" marL="342900" rtl="0" algn="l">
              <a:spcBef>
                <a:spcPts val="480"/>
              </a:spcBef>
              <a:spcAft>
                <a:spcPts val="0"/>
              </a:spcAft>
              <a:buSzPts val="2400"/>
              <a:buChar char="•"/>
            </a:pPr>
            <a:r>
              <a:rPr lang="en-US" sz="2400"/>
              <a:t>The Kerberos protocol is a </a:t>
            </a:r>
            <a:r>
              <a:rPr lang="en-US" sz="2400" u="sng"/>
              <a:t>secure protocol</a:t>
            </a:r>
            <a:r>
              <a:rPr lang="en-US" sz="2400"/>
              <a:t>, and it provides mutual authentication between a </a:t>
            </a:r>
            <a:r>
              <a:rPr lang="en-US" sz="2400" u="sng"/>
              <a:t>client and a server</a:t>
            </a:r>
            <a:r>
              <a:rPr lang="en-US" sz="2400"/>
              <a:t>. </a:t>
            </a:r>
            <a:endParaRPr/>
          </a:p>
          <a:p>
            <a:pPr indent="-342900" lvl="0" marL="342900" rtl="0" algn="l">
              <a:spcBef>
                <a:spcPts val="480"/>
              </a:spcBef>
              <a:spcAft>
                <a:spcPts val="0"/>
              </a:spcAft>
              <a:buSzPts val="2400"/>
              <a:buChar char="•"/>
            </a:pPr>
            <a:r>
              <a:rPr lang="en-US" sz="2400"/>
              <a:t>In </a:t>
            </a:r>
            <a:r>
              <a:rPr lang="en-US" sz="2400" u="sng"/>
              <a:t>Kerberos protocol</a:t>
            </a:r>
            <a:r>
              <a:rPr lang="en-US" sz="2400"/>
              <a:t>, the client authenticates against the server and also the server authenticates itself against the client. </a:t>
            </a:r>
            <a:endParaRPr/>
          </a:p>
          <a:p>
            <a:pPr indent="-342900" lvl="0" marL="342900" rtl="0" algn="l">
              <a:spcBef>
                <a:spcPts val="480"/>
              </a:spcBef>
              <a:spcAft>
                <a:spcPts val="0"/>
              </a:spcAft>
              <a:buSzPts val="2400"/>
              <a:buChar char="•"/>
            </a:pPr>
            <a:r>
              <a:rPr lang="en-US" sz="2400"/>
              <a:t>With mutual authentication, each computer or user can verify the </a:t>
            </a:r>
            <a:r>
              <a:rPr lang="en-US" sz="2400" u="sng"/>
              <a:t>identity of each other</a:t>
            </a:r>
            <a:r>
              <a:rPr lang="en-US" sz="2400"/>
              <a:t>.</a:t>
            </a:r>
            <a:endParaRPr/>
          </a:p>
          <a:p>
            <a:pPr indent="-114300" lvl="0" marL="342900" rtl="0" algn="l">
              <a:spcBef>
                <a:spcPts val="720"/>
              </a:spcBef>
              <a:spcAft>
                <a:spcPts val="0"/>
              </a:spcAft>
              <a:buSzPts val="3600"/>
              <a:buNone/>
            </a:pPr>
            <a:r>
              <a:t/>
            </a:r>
            <a:endParaRPr sz="3600"/>
          </a:p>
          <a:p>
            <a:pPr indent="-114300" lvl="0" marL="342900" rtl="0" algn="l">
              <a:lnSpc>
                <a:spcPct val="90000"/>
              </a:lnSpc>
              <a:spcBef>
                <a:spcPts val="720"/>
              </a:spcBef>
              <a:spcAft>
                <a:spcPts val="0"/>
              </a:spcAft>
              <a:buSzPts val="3600"/>
              <a:buNone/>
            </a:pPr>
            <a:r>
              <a:t/>
            </a:r>
            <a:endParaRPr sz="3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0"/>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59" name="Google Shape;159;p10"/>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Authentication Protocols: Kerberos</a:t>
            </a:r>
            <a:endParaRPr/>
          </a:p>
          <a:p>
            <a:pPr indent="-342900" lvl="0" marL="342900" rtl="0" algn="l">
              <a:spcBef>
                <a:spcPts val="480"/>
              </a:spcBef>
              <a:spcAft>
                <a:spcPts val="0"/>
              </a:spcAft>
              <a:buSzPts val="2400"/>
              <a:buChar char="•"/>
            </a:pPr>
            <a:r>
              <a:rPr lang="en-US" sz="2400"/>
              <a:t>After a client and server has used Kerberos to </a:t>
            </a:r>
            <a:r>
              <a:rPr lang="en-US" sz="2400" u="sng"/>
              <a:t>prove their identity</a:t>
            </a:r>
            <a:r>
              <a:rPr lang="en-US" sz="2400"/>
              <a:t>, they can also </a:t>
            </a:r>
            <a:r>
              <a:rPr lang="en-US" sz="2400" u="sng"/>
              <a:t>encrypt</a:t>
            </a:r>
            <a:r>
              <a:rPr lang="en-US" sz="2400"/>
              <a:t> all of their communications to assure privacy and data integrity </a:t>
            </a:r>
            <a:endParaRPr/>
          </a:p>
          <a:p>
            <a:pPr indent="-342900" lvl="0" marL="342900" rtl="0" algn="l">
              <a:spcBef>
                <a:spcPts val="480"/>
              </a:spcBef>
              <a:spcAft>
                <a:spcPts val="0"/>
              </a:spcAft>
              <a:buSzPts val="2400"/>
              <a:buChar char="•"/>
            </a:pPr>
            <a:r>
              <a:rPr lang="en-US" sz="2400"/>
              <a:t>Kerberos is </a:t>
            </a:r>
            <a:r>
              <a:rPr lang="en-US" sz="2400" u="sng"/>
              <a:t>extremely efficient</a:t>
            </a:r>
            <a:r>
              <a:rPr lang="en-US" sz="2400"/>
              <a:t> for authenticating clients in </a:t>
            </a:r>
            <a:r>
              <a:rPr lang="en-US" sz="2400" u="sng"/>
              <a:t>large enterprise</a:t>
            </a:r>
            <a:r>
              <a:rPr lang="en-US" sz="2400"/>
              <a:t> network environments. </a:t>
            </a:r>
            <a:endParaRPr/>
          </a:p>
          <a:p>
            <a:pPr indent="-342900" lvl="0" marL="342900" rtl="0" algn="l">
              <a:spcBef>
                <a:spcPts val="480"/>
              </a:spcBef>
              <a:spcAft>
                <a:spcPts val="0"/>
              </a:spcAft>
              <a:buSzPts val="2400"/>
              <a:buChar char="•"/>
            </a:pPr>
            <a:r>
              <a:rPr lang="en-US" sz="2400"/>
              <a:t>Kerberos requires the authentication server to be </a:t>
            </a:r>
            <a:r>
              <a:rPr lang="en-US" sz="2400" u="sng"/>
              <a:t>continuously available</a:t>
            </a:r>
            <a:r>
              <a:rPr lang="en-US" sz="2400"/>
              <a:t>, and it requires </a:t>
            </a:r>
            <a:r>
              <a:rPr lang="en-US" sz="2400" u="sng"/>
              <a:t>clocks</a:t>
            </a:r>
            <a:r>
              <a:rPr lang="en-US" sz="2400"/>
              <a:t> on different parts of the network to always be </a:t>
            </a:r>
            <a:r>
              <a:rPr lang="en-US" sz="2400" u="sng"/>
              <a:t>synchronized</a:t>
            </a:r>
            <a:r>
              <a:rPr lang="en-US" sz="2400"/>
              <a:t>. </a:t>
            </a:r>
            <a:endParaRPr/>
          </a:p>
          <a:p>
            <a:pPr indent="-190500" lvl="0" marL="342900" rtl="0" algn="l">
              <a:spcBef>
                <a:spcPts val="480"/>
              </a:spcBef>
              <a:spcAft>
                <a:spcPts val="0"/>
              </a:spcAft>
              <a:buSzPts val="2400"/>
              <a:buNone/>
            </a:pPr>
            <a:r>
              <a:t/>
            </a:r>
            <a:endParaRPr sz="2400"/>
          </a:p>
          <a:p>
            <a:pPr indent="-107950" lvl="1" marL="742950" rtl="0" algn="l">
              <a:lnSpc>
                <a:spcPct val="90000"/>
              </a:lnSpc>
              <a:spcBef>
                <a:spcPts val="560"/>
              </a:spcBef>
              <a:spcAft>
                <a:spcPts val="0"/>
              </a:spcAft>
              <a:buSzPts val="2800"/>
              <a:buNone/>
            </a:pPr>
            <a:r>
              <a:t/>
            </a:r>
            <a:endParaRPr/>
          </a:p>
          <a:p>
            <a:pPr indent="-114300" lvl="0" marL="342900" rtl="0" algn="l">
              <a:lnSpc>
                <a:spcPct val="90000"/>
              </a:lnSpc>
              <a:spcBef>
                <a:spcPts val="720"/>
              </a:spcBef>
              <a:spcAft>
                <a:spcPts val="0"/>
              </a:spcAft>
              <a:buSzPts val="3600"/>
              <a:buNone/>
            </a:pPr>
            <a:r>
              <a:t/>
            </a:r>
            <a:endParaRPr sz="3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1"/>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66" name="Google Shape;166;p11"/>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Authentication Protocols: Kerberos Working</a:t>
            </a:r>
            <a:endParaRPr/>
          </a:p>
          <a:p>
            <a:pPr indent="-342900" lvl="0" marL="342900" rtl="0" algn="l">
              <a:spcBef>
                <a:spcPts val="480"/>
              </a:spcBef>
              <a:spcAft>
                <a:spcPts val="0"/>
              </a:spcAft>
              <a:buSzPts val="2400"/>
              <a:buChar char="•"/>
            </a:pPr>
            <a:r>
              <a:rPr lang="en-US" sz="2400"/>
              <a:t>Kerberos protocol is built on top of a trusted third party, called as Key Distribution Center (KDC). </a:t>
            </a:r>
            <a:endParaRPr/>
          </a:p>
          <a:p>
            <a:pPr indent="-342900" lvl="0" marL="342900" rtl="0" algn="l">
              <a:spcBef>
                <a:spcPts val="480"/>
              </a:spcBef>
              <a:spcAft>
                <a:spcPts val="0"/>
              </a:spcAft>
              <a:buSzPts val="2400"/>
              <a:buChar char="•"/>
            </a:pPr>
            <a:r>
              <a:rPr lang="en-US" sz="2400"/>
              <a:t>Key Distribution Center (KDC) acts as both an Authentication Server and as a Ticket Granting Server. </a:t>
            </a:r>
            <a:endParaRPr/>
          </a:p>
          <a:p>
            <a:pPr indent="-342900" lvl="0" marL="342900" rtl="0" algn="l">
              <a:spcBef>
                <a:spcPts val="480"/>
              </a:spcBef>
              <a:spcAft>
                <a:spcPts val="0"/>
              </a:spcAft>
              <a:buSzPts val="2400"/>
              <a:buChar char="•"/>
            </a:pPr>
            <a:r>
              <a:rPr lang="en-US" sz="2400"/>
              <a:t>When a client needs to access a resource on the server, the user credentials (password, Smart Card, biometrics) are presented to the Key Distribution Center (KDC) for authentication.</a:t>
            </a:r>
            <a:endParaRPr/>
          </a:p>
          <a:p>
            <a:pPr indent="-114300" lvl="0" marL="342900" rtl="0" algn="l">
              <a:lnSpc>
                <a:spcPct val="90000"/>
              </a:lnSpc>
              <a:spcBef>
                <a:spcPts val="720"/>
              </a:spcBef>
              <a:spcAft>
                <a:spcPts val="0"/>
              </a:spcAft>
              <a:buSzPts val="3600"/>
              <a:buNone/>
            </a:pPr>
            <a:r>
              <a:t/>
            </a:r>
            <a:endParaRPr sz="3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2"/>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73" name="Google Shape;173;p12"/>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Authentication Protocols: Kerberos Working</a:t>
            </a:r>
            <a:endParaRPr/>
          </a:p>
          <a:p>
            <a:pPr indent="-342900" lvl="0" marL="342900" rtl="0" algn="l">
              <a:spcBef>
                <a:spcPts val="480"/>
              </a:spcBef>
              <a:spcAft>
                <a:spcPts val="0"/>
              </a:spcAft>
              <a:buSzPts val="2400"/>
              <a:buChar char="•"/>
            </a:pPr>
            <a:r>
              <a:rPr lang="en-US" sz="2400"/>
              <a:t>If the user credentials are successfully verified in the Key Distribution Center (KDC), Key Distribution Center (KDC) issues a Ticket Granting Ticket (TGT) to the client. </a:t>
            </a:r>
            <a:endParaRPr sz="2400"/>
          </a:p>
          <a:p>
            <a:pPr indent="-342900" lvl="0" marL="342900" rtl="0" algn="l">
              <a:spcBef>
                <a:spcPts val="480"/>
              </a:spcBef>
              <a:spcAft>
                <a:spcPts val="0"/>
              </a:spcAft>
              <a:buSzPts val="2400"/>
              <a:buChar char="•"/>
            </a:pPr>
            <a:r>
              <a:rPr lang="en-US" sz="2400"/>
              <a:t>The Ticket Granting Ticket (TGT) is cached in the local machine for future use. </a:t>
            </a:r>
            <a:endParaRPr/>
          </a:p>
          <a:p>
            <a:pPr indent="-342900" lvl="0" marL="342900" rtl="0" algn="l">
              <a:spcBef>
                <a:spcPts val="480"/>
              </a:spcBef>
              <a:spcAft>
                <a:spcPts val="0"/>
              </a:spcAft>
              <a:buSzPts val="2400"/>
              <a:buChar char="•"/>
            </a:pPr>
            <a:r>
              <a:rPr lang="en-US" sz="2400"/>
              <a:t>The Ticket Granting Ticket (TGT) expires when the user disconnects or log off the network, or after it expires. The default expiry time is one day (86400 seconds).</a:t>
            </a:r>
            <a:endParaRPr/>
          </a:p>
          <a:p>
            <a:pPr indent="-107950" lvl="1" marL="742950" rtl="0" algn="l">
              <a:lnSpc>
                <a:spcPct val="90000"/>
              </a:lnSpc>
              <a:spcBef>
                <a:spcPts val="560"/>
              </a:spcBef>
              <a:spcAft>
                <a:spcPts val="0"/>
              </a:spcAft>
              <a:buSzPts val="2800"/>
              <a:buNone/>
            </a:pPr>
            <a:r>
              <a:t/>
            </a:r>
            <a:endParaRPr/>
          </a:p>
          <a:p>
            <a:pPr indent="-114300" lvl="0" marL="342900" rtl="0" algn="l">
              <a:lnSpc>
                <a:spcPct val="90000"/>
              </a:lnSpc>
              <a:spcBef>
                <a:spcPts val="720"/>
              </a:spcBef>
              <a:spcAft>
                <a:spcPts val="0"/>
              </a:spcAft>
              <a:buSzPts val="3600"/>
              <a:buNone/>
            </a:pPr>
            <a:r>
              <a:t/>
            </a:r>
            <a:endParaRPr sz="3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3"/>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80" name="Google Shape;180;p13"/>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Authentication Protocols: Kerberos Working</a:t>
            </a:r>
            <a:endParaRPr/>
          </a:p>
          <a:p>
            <a:pPr indent="-342900" lvl="0" marL="342900" rtl="0" algn="l">
              <a:spcBef>
                <a:spcPts val="480"/>
              </a:spcBef>
              <a:spcAft>
                <a:spcPts val="0"/>
              </a:spcAft>
              <a:buSzPts val="2400"/>
              <a:buChar char="•"/>
            </a:pPr>
            <a:r>
              <a:rPr lang="en-US" sz="2400"/>
              <a:t>When the client wants to access a resource on a remote server, the client presents the previously granted and cached Ticket Granting Ticket (TGT) to the authenticating KDC. </a:t>
            </a:r>
            <a:endParaRPr/>
          </a:p>
          <a:p>
            <a:pPr indent="-342900" lvl="0" marL="342900" rtl="0" algn="l">
              <a:spcBef>
                <a:spcPts val="480"/>
              </a:spcBef>
              <a:spcAft>
                <a:spcPts val="0"/>
              </a:spcAft>
              <a:buSzPts val="2400"/>
              <a:buChar char="•"/>
            </a:pPr>
            <a:r>
              <a:rPr lang="en-US" sz="2400"/>
              <a:t>The authenticating Key Distribution Center (KDC) returns a session ticket to the client to access to the resource. </a:t>
            </a:r>
            <a:endParaRPr/>
          </a:p>
          <a:p>
            <a:pPr indent="-342900" lvl="0" marL="342900" rtl="0" algn="l">
              <a:spcBef>
                <a:spcPts val="480"/>
              </a:spcBef>
              <a:spcAft>
                <a:spcPts val="0"/>
              </a:spcAft>
              <a:buSzPts val="2400"/>
              <a:buChar char="•"/>
            </a:pPr>
            <a:r>
              <a:rPr lang="en-US" sz="2400"/>
              <a:t>The client presents the session ticket to the remote resource server. The remote server allows the session to be established to the resource after accepting the session ticket.</a:t>
            </a:r>
            <a:endParaRPr/>
          </a:p>
          <a:p>
            <a:pPr indent="-107950" lvl="1" marL="742950" rtl="0" algn="l">
              <a:lnSpc>
                <a:spcPct val="90000"/>
              </a:lnSpc>
              <a:spcBef>
                <a:spcPts val="560"/>
              </a:spcBef>
              <a:spcAft>
                <a:spcPts val="0"/>
              </a:spcAft>
              <a:buSzPts val="2800"/>
              <a:buNone/>
            </a:pPr>
            <a:r>
              <a:t/>
            </a:r>
            <a:endParaRPr/>
          </a:p>
          <a:p>
            <a:pPr indent="-114300" lvl="0" marL="342900" rtl="0" algn="l">
              <a:lnSpc>
                <a:spcPct val="90000"/>
              </a:lnSpc>
              <a:spcBef>
                <a:spcPts val="720"/>
              </a:spcBef>
              <a:spcAft>
                <a:spcPts val="0"/>
              </a:spcAft>
              <a:buSzPts val="3600"/>
              <a:buNone/>
            </a:pPr>
            <a:r>
              <a:t/>
            </a:r>
            <a:endParaRPr sz="3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4"/>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87" name="Google Shape;187;p14"/>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Authentication Protocols: Kerberos Working</a:t>
            </a:r>
            <a:endParaRPr/>
          </a:p>
          <a:p>
            <a:pPr indent="0" lvl="1" marL="457200" rtl="0" algn="l">
              <a:lnSpc>
                <a:spcPct val="90000"/>
              </a:lnSpc>
              <a:spcBef>
                <a:spcPts val="560"/>
              </a:spcBef>
              <a:spcAft>
                <a:spcPts val="0"/>
              </a:spcAft>
              <a:buSzPts val="2800"/>
              <a:buNone/>
            </a:pPr>
            <a:r>
              <a:t/>
            </a:r>
            <a:endParaRPr/>
          </a:p>
          <a:p>
            <a:pPr indent="-114300" lvl="0" marL="342900" rtl="0" algn="l">
              <a:lnSpc>
                <a:spcPct val="90000"/>
              </a:lnSpc>
              <a:spcBef>
                <a:spcPts val="720"/>
              </a:spcBef>
              <a:spcAft>
                <a:spcPts val="0"/>
              </a:spcAft>
              <a:buSzPts val="3600"/>
              <a:buNone/>
            </a:pPr>
            <a:r>
              <a:t/>
            </a:r>
            <a:endParaRPr sz="3600"/>
          </a:p>
        </p:txBody>
      </p:sp>
      <p:pic>
        <p:nvPicPr>
          <p:cNvPr id="188" name="Google Shape;188;p14"/>
          <p:cNvPicPr preferRelativeResize="0"/>
          <p:nvPr/>
        </p:nvPicPr>
        <p:blipFill rotWithShape="1">
          <a:blip r:embed="rId3">
            <a:alphaModFix/>
          </a:blip>
          <a:srcRect b="0" l="0" r="0" t="0"/>
          <a:stretch/>
        </p:blipFill>
        <p:spPr>
          <a:xfrm>
            <a:off x="228600" y="2133600"/>
            <a:ext cx="7890798" cy="4495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5"/>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195" name="Google Shape;195;p15"/>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Authentication Protocols: CHAP</a:t>
            </a:r>
            <a:endParaRPr/>
          </a:p>
          <a:p>
            <a:pPr indent="0" lvl="0" marL="0" rtl="0" algn="l">
              <a:spcBef>
                <a:spcPts val="560"/>
              </a:spcBef>
              <a:spcAft>
                <a:spcPts val="0"/>
              </a:spcAft>
              <a:buSzPts val="2800"/>
              <a:buNone/>
            </a:pPr>
            <a:r>
              <a:rPr lang="en-US" sz="2800"/>
              <a:t>Challenge Handshake Authentication Protocol (CHAP) </a:t>
            </a:r>
            <a:endParaRPr b="1" sz="2800"/>
          </a:p>
          <a:p>
            <a:pPr indent="-342900" lvl="0" marL="342900" rtl="0" algn="l">
              <a:spcBef>
                <a:spcPts val="480"/>
              </a:spcBef>
              <a:spcAft>
                <a:spcPts val="0"/>
              </a:spcAft>
              <a:buSzPts val="2400"/>
              <a:buChar char="•"/>
            </a:pPr>
            <a:r>
              <a:rPr lang="en-US" sz="2400" u="sng"/>
              <a:t>Challenge Handshake Authentication Protocol (CHAP) periodically verify the identity of the peer using a three-way handshake. </a:t>
            </a:r>
            <a:endParaRPr u="sng"/>
          </a:p>
          <a:p>
            <a:pPr indent="-342900" lvl="0" marL="342900" rtl="0" algn="l">
              <a:spcBef>
                <a:spcPts val="480"/>
              </a:spcBef>
              <a:spcAft>
                <a:spcPts val="0"/>
              </a:spcAft>
              <a:buSzPts val="2400"/>
              <a:buChar char="•"/>
            </a:pPr>
            <a:r>
              <a:rPr lang="en-US" sz="2400"/>
              <a:t>The Challenge Response Authentication Protocol, is basically, one entity sends a challenge to another entity and a second entity must respond with an appropriate answer in order to be authenticated. </a:t>
            </a:r>
            <a:endParaRPr/>
          </a:p>
          <a:p>
            <a:pPr indent="-114300" lvl="0" marL="342900" rtl="0" algn="l">
              <a:lnSpc>
                <a:spcPct val="90000"/>
              </a:lnSpc>
              <a:spcBef>
                <a:spcPts val="720"/>
              </a:spcBef>
              <a:spcAft>
                <a:spcPts val="0"/>
              </a:spcAft>
              <a:buSzPts val="3600"/>
              <a:buNone/>
            </a:pPr>
            <a:r>
              <a:t/>
            </a:r>
            <a:endParaRPr sz="3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6"/>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202" name="Google Shape;202;p16"/>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Authentication Protocols: CHAP</a:t>
            </a:r>
            <a:endParaRPr/>
          </a:p>
          <a:p>
            <a:pPr indent="0" lvl="0" marL="0" rtl="0" algn="l">
              <a:spcBef>
                <a:spcPts val="560"/>
              </a:spcBef>
              <a:spcAft>
                <a:spcPts val="0"/>
              </a:spcAft>
              <a:buSzPts val="2800"/>
              <a:buNone/>
            </a:pPr>
            <a:r>
              <a:rPr lang="en-US" sz="2800"/>
              <a:t>Challenge Handshake Authentication Protocol (CHAP) </a:t>
            </a:r>
            <a:endParaRPr b="1" sz="2800"/>
          </a:p>
          <a:p>
            <a:pPr indent="-342900" lvl="0" marL="342900" rtl="0" algn="l">
              <a:spcBef>
                <a:spcPts val="480"/>
              </a:spcBef>
              <a:spcAft>
                <a:spcPts val="0"/>
              </a:spcAft>
              <a:buSzPts val="2400"/>
              <a:buChar char="•"/>
            </a:pPr>
            <a:r>
              <a:rPr lang="en-US" sz="2400"/>
              <a:t>The verification the identity of the peer is done initially, and may be repeated anytime after the link has been established. </a:t>
            </a:r>
            <a:endParaRPr/>
          </a:p>
          <a:p>
            <a:pPr indent="-342900" lvl="0" marL="342900" rtl="0" algn="l">
              <a:spcBef>
                <a:spcPts val="480"/>
              </a:spcBef>
              <a:spcAft>
                <a:spcPts val="0"/>
              </a:spcAft>
              <a:buSzPts val="2400"/>
              <a:buChar char="•"/>
            </a:pPr>
            <a:r>
              <a:rPr lang="en-US" sz="2400"/>
              <a:t>Microsoft Challenge-Handshake Authentication Protocol (MS-CHAP) is the </a:t>
            </a:r>
            <a:r>
              <a:rPr lang="en-US" sz="2400" u="sng"/>
              <a:t>Microsoft implementation</a:t>
            </a:r>
            <a:r>
              <a:rPr lang="en-US" sz="2400"/>
              <a:t> of Challenge Handshake Authentication Protocol (CHAP). </a:t>
            </a:r>
            <a:endParaRPr/>
          </a:p>
          <a:p>
            <a:pPr indent="-107950" lvl="1" marL="742950" rtl="0" algn="l">
              <a:lnSpc>
                <a:spcPct val="90000"/>
              </a:lnSpc>
              <a:spcBef>
                <a:spcPts val="560"/>
              </a:spcBef>
              <a:spcAft>
                <a:spcPts val="0"/>
              </a:spcAft>
              <a:buSzPts val="2800"/>
              <a:buNone/>
            </a:pPr>
            <a:r>
              <a:t/>
            </a:r>
            <a:endParaRPr/>
          </a:p>
          <a:p>
            <a:pPr indent="-114300" lvl="0" marL="342900" rtl="0" algn="l">
              <a:lnSpc>
                <a:spcPct val="90000"/>
              </a:lnSpc>
              <a:spcBef>
                <a:spcPts val="720"/>
              </a:spcBef>
              <a:spcAft>
                <a:spcPts val="0"/>
              </a:spcAft>
              <a:buSzPts val="3600"/>
              <a:buNone/>
            </a:pPr>
            <a:r>
              <a:t/>
            </a:r>
            <a:endParaRPr sz="3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7"/>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209" name="Google Shape;209;p17"/>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Authentication Protocols: CHAP Working</a:t>
            </a:r>
            <a:endParaRPr/>
          </a:p>
          <a:p>
            <a:pPr indent="0" lvl="0" marL="0" rtl="0" algn="l">
              <a:spcBef>
                <a:spcPts val="560"/>
              </a:spcBef>
              <a:spcAft>
                <a:spcPts val="0"/>
              </a:spcAft>
              <a:buSzPts val="2800"/>
              <a:buNone/>
            </a:pPr>
            <a:r>
              <a:rPr lang="en-US" sz="2800"/>
              <a:t>Challenge Handshake Authentication Protocol (CHAP) </a:t>
            </a:r>
            <a:endParaRPr b="1" sz="2800"/>
          </a:p>
          <a:p>
            <a:pPr indent="-342900" lvl="0" marL="342900" rtl="0" algn="l">
              <a:spcBef>
                <a:spcPts val="480"/>
              </a:spcBef>
              <a:spcAft>
                <a:spcPts val="0"/>
              </a:spcAft>
              <a:buSzPts val="2400"/>
              <a:buChar char="•"/>
            </a:pPr>
            <a:r>
              <a:rPr lang="en-US" sz="2400"/>
              <a:t>The user opens an Application that needs to be logged in and provide Username and Password.</a:t>
            </a:r>
            <a:endParaRPr/>
          </a:p>
          <a:p>
            <a:pPr indent="-342900" lvl="0" marL="342900" rtl="0" algn="l">
              <a:spcBef>
                <a:spcPts val="480"/>
              </a:spcBef>
              <a:spcAft>
                <a:spcPts val="0"/>
              </a:spcAft>
              <a:buSzPts val="2400"/>
              <a:buChar char="•"/>
            </a:pPr>
            <a:r>
              <a:rPr lang="en-US" sz="2400"/>
              <a:t>The client application computes a cryptographic hash of the password.</a:t>
            </a:r>
            <a:endParaRPr/>
          </a:p>
          <a:p>
            <a:pPr indent="-342900" lvl="0" marL="342900" rtl="0" algn="l">
              <a:spcBef>
                <a:spcPts val="480"/>
              </a:spcBef>
              <a:spcAft>
                <a:spcPts val="0"/>
              </a:spcAft>
              <a:buSzPts val="2400"/>
              <a:buChar char="•"/>
            </a:pPr>
            <a:r>
              <a:rPr lang="en-US" sz="2400"/>
              <a:t>Discards the actual password.</a:t>
            </a:r>
            <a:endParaRPr/>
          </a:p>
          <a:p>
            <a:pPr indent="-342900" lvl="0" marL="342900" rtl="0" algn="l">
              <a:spcBef>
                <a:spcPts val="480"/>
              </a:spcBef>
              <a:spcAft>
                <a:spcPts val="0"/>
              </a:spcAft>
              <a:buSzPts val="2400"/>
              <a:buChar char="•"/>
            </a:pPr>
            <a:r>
              <a:rPr lang="en-US" sz="2400"/>
              <a:t>The application sends the Username to the server in plaintext.</a:t>
            </a:r>
            <a:endParaRPr/>
          </a:p>
          <a:p>
            <a:pPr indent="-342900" lvl="0" marL="342900" rtl="0" algn="l">
              <a:spcBef>
                <a:spcPts val="480"/>
              </a:spcBef>
              <a:spcAft>
                <a:spcPts val="0"/>
              </a:spcAft>
              <a:buSzPts val="2400"/>
              <a:buChar char="•"/>
            </a:pPr>
            <a:r>
              <a:rPr lang="en-US" sz="2400"/>
              <a:t>The server generates a 16-byte random number called a challenge.</a:t>
            </a:r>
            <a:endParaRPr/>
          </a:p>
          <a:p>
            <a:pPr indent="-342900" lvl="0" marL="342900" rtl="0" algn="l">
              <a:spcBef>
                <a:spcPts val="480"/>
              </a:spcBef>
              <a:spcAft>
                <a:spcPts val="0"/>
              </a:spcAft>
              <a:buSzPts val="2400"/>
              <a:buChar char="•"/>
            </a:pPr>
            <a:r>
              <a:rPr lang="en-US" sz="2400"/>
              <a:t>Sends the challenge to the client application.</a:t>
            </a:r>
            <a:endParaRPr/>
          </a:p>
          <a:p>
            <a:pPr indent="-107950" lvl="1" marL="742950" rtl="0" algn="l">
              <a:lnSpc>
                <a:spcPct val="90000"/>
              </a:lnSpc>
              <a:spcBef>
                <a:spcPts val="560"/>
              </a:spcBef>
              <a:spcAft>
                <a:spcPts val="0"/>
              </a:spcAft>
              <a:buSzPts val="2800"/>
              <a:buNone/>
            </a:pPr>
            <a:r>
              <a:t/>
            </a:r>
            <a:endParaRPr/>
          </a:p>
          <a:p>
            <a:pPr indent="-114300" lvl="0" marL="342900" rtl="0" algn="l">
              <a:lnSpc>
                <a:spcPct val="90000"/>
              </a:lnSpc>
              <a:spcBef>
                <a:spcPts val="720"/>
              </a:spcBef>
              <a:spcAft>
                <a:spcPts val="0"/>
              </a:spcAft>
              <a:buSzPts val="3600"/>
              <a:buNone/>
            </a:pPr>
            <a:r>
              <a:t/>
            </a:r>
            <a:endParaRPr sz="3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8"/>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216" name="Google Shape;216;p18"/>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2800"/>
              <a:buNone/>
            </a:pPr>
            <a:r>
              <a:rPr b="1" lang="en-US" sz="2800"/>
              <a:t>Authentication Protocols: CHAP Working</a:t>
            </a:r>
            <a:endParaRPr/>
          </a:p>
          <a:p>
            <a:pPr indent="0" lvl="0" marL="0" rtl="0" algn="l">
              <a:spcBef>
                <a:spcPts val="560"/>
              </a:spcBef>
              <a:spcAft>
                <a:spcPts val="0"/>
              </a:spcAft>
              <a:buSzPts val="2800"/>
              <a:buNone/>
            </a:pPr>
            <a:r>
              <a:rPr lang="en-US" sz="2800"/>
              <a:t>Challenge Handshake Authentication Protocol (CHAP) </a:t>
            </a:r>
            <a:endParaRPr b="1" sz="2800"/>
          </a:p>
          <a:p>
            <a:pPr indent="-342900" lvl="0" marL="342900" rtl="0" algn="l">
              <a:spcBef>
                <a:spcPts val="480"/>
              </a:spcBef>
              <a:spcAft>
                <a:spcPts val="0"/>
              </a:spcAft>
              <a:buSzPts val="2400"/>
              <a:buChar char="•"/>
            </a:pPr>
            <a:r>
              <a:rPr lang="en-US" sz="2400"/>
              <a:t>The application receives the challenge and encrypts it using the hash of the password.</a:t>
            </a:r>
            <a:endParaRPr/>
          </a:p>
          <a:p>
            <a:pPr indent="-342900" lvl="0" marL="342900" rtl="0" algn="l">
              <a:spcBef>
                <a:spcPts val="480"/>
              </a:spcBef>
              <a:spcAft>
                <a:spcPts val="0"/>
              </a:spcAft>
              <a:buSzPts val="2400"/>
              <a:buChar char="•"/>
            </a:pPr>
            <a:r>
              <a:rPr lang="en-US" sz="2400"/>
              <a:t>The application sends the resulting encrypted challenge to the server.</a:t>
            </a:r>
            <a:endParaRPr/>
          </a:p>
          <a:p>
            <a:pPr indent="-342900" lvl="0" marL="342900" rtl="0" algn="l">
              <a:spcBef>
                <a:spcPts val="480"/>
              </a:spcBef>
              <a:spcAft>
                <a:spcPts val="0"/>
              </a:spcAft>
              <a:buSzPts val="2400"/>
              <a:buChar char="•"/>
            </a:pPr>
            <a:r>
              <a:rPr lang="en-US" sz="2400"/>
              <a:t>The server uses the previously received username to retrieve the hash of the user’s password from the database.</a:t>
            </a:r>
            <a:endParaRPr/>
          </a:p>
          <a:p>
            <a:pPr indent="-342900" lvl="0" marL="342900" rtl="0" algn="l">
              <a:spcBef>
                <a:spcPts val="480"/>
              </a:spcBef>
              <a:spcAft>
                <a:spcPts val="0"/>
              </a:spcAft>
              <a:buSzPts val="2400"/>
              <a:buChar char="•"/>
            </a:pPr>
            <a:r>
              <a:rPr lang="en-US" sz="2400"/>
              <a:t>The server encrypts the original challenge using the password hash.</a:t>
            </a:r>
            <a:endParaRPr/>
          </a:p>
          <a:p>
            <a:pPr indent="-342900" lvl="0" marL="342900" rtl="0" algn="l">
              <a:spcBef>
                <a:spcPts val="480"/>
              </a:spcBef>
              <a:spcAft>
                <a:spcPts val="0"/>
              </a:spcAft>
              <a:buSzPts val="2400"/>
              <a:buChar char="•"/>
            </a:pPr>
            <a:r>
              <a:rPr lang="en-US" sz="2400"/>
              <a:t>The server compares the encrypted challenge against the response computed from the application for the challenge.</a:t>
            </a:r>
            <a:endParaRPr/>
          </a:p>
          <a:p>
            <a:pPr indent="-342900" lvl="0" marL="342900" rtl="0" algn="l">
              <a:spcBef>
                <a:spcPts val="480"/>
              </a:spcBef>
              <a:spcAft>
                <a:spcPts val="0"/>
              </a:spcAft>
              <a:buSzPts val="2400"/>
              <a:buChar char="•"/>
            </a:pPr>
            <a:r>
              <a:rPr lang="en-US" sz="2400"/>
              <a:t>If they are similar, then the authentication is granted.</a:t>
            </a:r>
            <a:endParaRPr/>
          </a:p>
          <a:p>
            <a:pPr indent="-107950" lvl="1" marL="742950" rtl="0" algn="l">
              <a:lnSpc>
                <a:spcPct val="90000"/>
              </a:lnSpc>
              <a:spcBef>
                <a:spcPts val="560"/>
              </a:spcBef>
              <a:spcAft>
                <a:spcPts val="0"/>
              </a:spcAft>
              <a:buSzPts val="2800"/>
              <a:buNone/>
            </a:pPr>
            <a:r>
              <a:t/>
            </a:r>
            <a:endParaRPr/>
          </a:p>
          <a:p>
            <a:pPr indent="-114300" lvl="0" marL="342900" rtl="0" algn="l">
              <a:lnSpc>
                <a:spcPct val="90000"/>
              </a:lnSpc>
              <a:spcBef>
                <a:spcPts val="720"/>
              </a:spcBef>
              <a:spcAft>
                <a:spcPts val="0"/>
              </a:spcAft>
              <a:buSzPts val="3600"/>
              <a:buNone/>
            </a:pPr>
            <a:r>
              <a:t/>
            </a:r>
            <a:endParaRPr sz="3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9"/>
          <p:cNvSpPr txBox="1"/>
          <p:nvPr>
            <p:ph type="title"/>
          </p:nvPr>
        </p:nvSpPr>
        <p:spPr>
          <a:xfrm>
            <a:off x="134155" y="381000"/>
            <a:ext cx="8145462"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5F497A"/>
              </a:buClr>
              <a:buSzPts val="3600"/>
              <a:buFont typeface="Calibri"/>
              <a:buNone/>
            </a:pPr>
            <a:r>
              <a:rPr lang="en-US" sz="3600"/>
              <a:t>Identification and Authentication</a:t>
            </a:r>
            <a:endParaRPr sz="3600"/>
          </a:p>
        </p:txBody>
      </p:sp>
      <p:sp>
        <p:nvSpPr>
          <p:cNvPr id="223" name="Google Shape;223;p19"/>
          <p:cNvSpPr txBox="1"/>
          <p:nvPr>
            <p:ph idx="1" type="body"/>
          </p:nvPr>
        </p:nvSpPr>
        <p:spPr>
          <a:xfrm>
            <a:off x="152400" y="1600200"/>
            <a:ext cx="8839200" cy="5257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800"/>
              <a:buNone/>
            </a:pPr>
            <a:r>
              <a:rPr b="1" lang="en-US" sz="2800"/>
              <a:t>Authentication Protocols: CHAP Working</a:t>
            </a:r>
            <a:endParaRPr/>
          </a:p>
          <a:p>
            <a:pPr indent="-107950" lvl="1" marL="742950" rtl="0" algn="l">
              <a:lnSpc>
                <a:spcPct val="90000"/>
              </a:lnSpc>
              <a:spcBef>
                <a:spcPts val="560"/>
              </a:spcBef>
              <a:spcAft>
                <a:spcPts val="0"/>
              </a:spcAft>
              <a:buSzPts val="2800"/>
              <a:buNone/>
            </a:pPr>
            <a:r>
              <a:t/>
            </a:r>
            <a:endParaRPr/>
          </a:p>
          <a:p>
            <a:pPr indent="-114300" lvl="0" marL="342900" rtl="0" algn="l">
              <a:lnSpc>
                <a:spcPct val="90000"/>
              </a:lnSpc>
              <a:spcBef>
                <a:spcPts val="720"/>
              </a:spcBef>
              <a:spcAft>
                <a:spcPts val="0"/>
              </a:spcAft>
              <a:buSzPts val="3600"/>
              <a:buNone/>
            </a:pPr>
            <a:r>
              <a:t/>
            </a:r>
            <a:endParaRPr sz="3600"/>
          </a:p>
        </p:txBody>
      </p:sp>
      <p:pic>
        <p:nvPicPr>
          <p:cNvPr descr="Image for post" id="224" name="Google Shape;224;p19"/>
          <p:cNvPicPr preferRelativeResize="0"/>
          <p:nvPr/>
        </p:nvPicPr>
        <p:blipFill rotWithShape="1">
          <a:blip r:embed="rId3">
            <a:alphaModFix/>
          </a:blip>
          <a:srcRect b="0" l="0" r="0" t="0"/>
          <a:stretch/>
        </p:blipFill>
        <p:spPr>
          <a:xfrm>
            <a:off x="304800" y="2133601"/>
            <a:ext cx="6629400" cy="4572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2017-01-30T04:28:05Z</dcterms:created>
</cp:coreProperties>
</file>