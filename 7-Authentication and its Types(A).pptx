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3o//eUHQzIcDCon7XaBL4qAeX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/>
              <a:t>For example, at the airport, you are going through a process of identification with your passport being used as a piece of identification, to prove who you are. </a:t>
            </a:r>
            <a:endParaRPr/>
          </a:p>
          <a:p>
            <a:pPr indent="-34290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/>
              <a:t>Another example of identification, which you enter at campus, is showing your student card at the entrance or before an exam.</a:t>
            </a:r>
            <a:endParaRPr/>
          </a:p>
          <a:p>
            <a:pPr indent="-34290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/>
              <a:t>For example, after you have provided airport security with your passport, it will be scanned to ensure that it is genuine and valid. </a:t>
            </a:r>
            <a:endParaRPr/>
          </a:p>
          <a:p>
            <a:pPr indent="-34290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/>
              <a:t>Additionally, the word "authentication" is also used in terms of precious stones and antiques. </a:t>
            </a:r>
            <a:endParaRPr/>
          </a:p>
          <a:p>
            <a:pPr indent="-34290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/>
              <a:t>For example, you can bring a diamond to a jeweler to get it tested for authenticity to determine if it is real.</a:t>
            </a:r>
            <a:endParaRPr sz="1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4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CAPTCHA</a:t>
            </a:r>
            <a:r>
              <a:rPr lang="en-US"/>
              <a:t> stands for Completely Automated Public Turing test to tell Computers and Humans Apart.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b="1" lang="en-US"/>
              <a:t>test</a:t>
            </a:r>
            <a:r>
              <a:rPr lang="en-US"/>
              <a:t> is named after Alan </a:t>
            </a:r>
            <a:r>
              <a:rPr b="1" lang="en-US"/>
              <a:t>Turing</a:t>
            </a:r>
            <a:r>
              <a:rPr lang="en-US"/>
              <a:t>, the founder of the </a:t>
            </a:r>
            <a:r>
              <a:rPr b="1" lang="en-US"/>
              <a:t>Turing Test</a:t>
            </a:r>
            <a:r>
              <a:rPr lang="en-US"/>
              <a:t> and an English computer scientist, cryptanalyst, mathematician and theoretical biologist.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Vulnerable: At risk, Exposed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Exploiting: </a:t>
            </a:r>
            <a:r>
              <a:rPr lang="en-US"/>
              <a:t>To use someone or something unfairly for your own advantage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types of dictionary attacks, online and offline.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online attack, a hacker uses the same interface as a regular user to try to gain access to accounts. All the attacker needs is a curated list of likely passwords.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perform an offline dictionary attack, hackers steal the password storage file from the target system. This is typically the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Account Manager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(SAM) file on Windows and the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 shadow file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Linux.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Exploiting: </a:t>
            </a:r>
            <a:r>
              <a:rPr lang="en-US"/>
              <a:t>To use someone or something unfairly for your own advantage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Breed: </a:t>
            </a:r>
            <a:r>
              <a:rPr lang="en-US"/>
              <a:t>Reproduced, propagate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Eavesdropping: Spy, Monitor</a:t>
            </a:r>
            <a:endParaRPr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8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1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5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Authentication and Access Control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Identification and Authentication</a:t>
            </a:r>
            <a:endParaRPr sz="24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Authentication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Multi Factor Authentication</a:t>
            </a:r>
            <a:endParaRPr/>
          </a:p>
          <a:p>
            <a:pPr indent="-342900" lvl="1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Authentication Protocols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Access Control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and Function of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Physical Security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Logical Security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Access Control Models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1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Identification and Authentication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Identification is used to prove a person's identity. "</a:t>
            </a:r>
            <a:r>
              <a:rPr b="1" lang="en-US" sz="2400" u="sng"/>
              <a:t>Identity</a:t>
            </a:r>
            <a:r>
              <a:rPr lang="en-US" sz="2400"/>
              <a:t>" refers to who someone is.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"Identification" can either refer to the process of proving identity, such as a </a:t>
            </a:r>
            <a:r>
              <a:rPr lang="en-US" sz="2400" u="sng"/>
              <a:t>passport</a:t>
            </a:r>
            <a:r>
              <a:rPr lang="en-US" sz="2400"/>
              <a:t>, </a:t>
            </a:r>
            <a:r>
              <a:rPr lang="en-US" sz="2400" u="sng"/>
              <a:t>student card</a:t>
            </a:r>
            <a:r>
              <a:rPr lang="en-US" sz="2400"/>
              <a:t> or </a:t>
            </a:r>
            <a:r>
              <a:rPr lang="en-US" sz="2400" u="sng"/>
              <a:t>driver's license</a:t>
            </a:r>
            <a:r>
              <a:rPr lang="en-US" sz="2400"/>
              <a:t>, that is used as proof.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Authentication is the second step when it comes to </a:t>
            </a:r>
            <a:r>
              <a:rPr b="1" lang="en-US" sz="2400" u="sng"/>
              <a:t>prov</a:t>
            </a:r>
            <a:r>
              <a:rPr lang="en-US" sz="2400"/>
              <a:t>ing who someone is. This term refers to the process of ensuring that the identification you have provided is authentic.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What is Authentication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When a user attempts to login to a network, they indicate their identity with a username.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system then </a:t>
            </a:r>
            <a:r>
              <a:rPr b="1" lang="en-US" sz="2400" u="sng"/>
              <a:t>cross-checks</a:t>
            </a:r>
            <a:r>
              <a:rPr lang="en-US" sz="2400"/>
              <a:t> the username with a </a:t>
            </a:r>
            <a:r>
              <a:rPr b="1" lang="en-US" sz="2400" u="sng"/>
              <a:t>list</a:t>
            </a:r>
            <a:r>
              <a:rPr lang="en-US" sz="2400"/>
              <a:t> of authorized users to ensure they are cleared to </a:t>
            </a:r>
            <a:r>
              <a:rPr b="1" lang="en-US" sz="2400" u="sng"/>
              <a:t>access</a:t>
            </a:r>
            <a:r>
              <a:rPr lang="en-US" sz="2400"/>
              <a:t> the network.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This process is not sufficient to create a secure system. </a:t>
            </a:r>
            <a:endParaRPr/>
          </a:p>
          <a:p>
            <a:pPr indent="-342900" lvl="1" marL="342900" rtl="0" algn="l">
              <a:spcBef>
                <a:spcPts val="5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Authentication is an additional step that verifies the person entering a username is in fact the owner of that username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Authentication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As internet technology has evolved, a diverse set of network authentication methods have been developed.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Password-Based Authentication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Remote User Authentication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Token-Based Authentication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Biometric Authentication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Single Sign-On (SSO)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CAPTCHAs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Password-Based Authentication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Widely used user authentication method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User provides </a:t>
            </a:r>
            <a:r>
              <a:rPr lang="en-US" sz="2000" u="sng"/>
              <a:t>name</a:t>
            </a:r>
            <a:r>
              <a:rPr lang="en-US" sz="2000"/>
              <a:t>/login and </a:t>
            </a:r>
            <a:r>
              <a:rPr lang="en-US" sz="2000" u="sng"/>
              <a:t>password</a:t>
            </a:r>
            <a:endParaRPr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System </a:t>
            </a:r>
            <a:r>
              <a:rPr lang="en-US" sz="2000" u="sng"/>
              <a:t>compares password</a:t>
            </a:r>
            <a:r>
              <a:rPr lang="en-US" sz="2000"/>
              <a:t> with that saved passwords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Only authorized user are allowed to access the system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System determines the user’s </a:t>
            </a:r>
            <a:r>
              <a:rPr lang="en-US" sz="2000" u="sng"/>
              <a:t>privileges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However, experience has shown that even secret passwords are vulnerable to hacking. 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Password Choices/Concerns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Users may pick short passwords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e.g. 3 chars or less, easily guessed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Users may pick guessable passwords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So crackers use lists of likely passwords</a:t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Password Vulnerabilities and Countermeasures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Offline dictionary attack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Popular password attack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Workstation hijacking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Exploiting user mistakes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Electronic monitoring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Password Vulnerabilities and Countermeasures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Stop unauthorized access to password file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Intrusion detection measures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Policies against using simple passwords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Training &amp; enforcement of policies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Automatic workstation logout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Encrypted network links</a:t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Creating a Strong Password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using passwords, it’s important to use strong passwords.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strong password has a mixture of </a:t>
            </a:r>
            <a:r>
              <a:rPr lang="en-US" sz="2400" u="sng"/>
              <a:t>upper case</a:t>
            </a:r>
            <a:r>
              <a:rPr lang="en-US" sz="2400"/>
              <a:t>, </a:t>
            </a:r>
            <a:r>
              <a:rPr lang="en-US" sz="2400" u="sng"/>
              <a:t>lower case</a:t>
            </a:r>
            <a:r>
              <a:rPr lang="en-US" sz="2400"/>
              <a:t>, </a:t>
            </a:r>
            <a:r>
              <a:rPr lang="en-US" sz="2400" u="sng"/>
              <a:t>numbers</a:t>
            </a:r>
            <a:r>
              <a:rPr lang="en-US" sz="2400"/>
              <a:t>, and </a:t>
            </a:r>
            <a:r>
              <a:rPr lang="en-US" sz="2400" u="sng"/>
              <a:t>special characters</a:t>
            </a:r>
            <a:r>
              <a:rPr lang="en-US" sz="2400"/>
              <a:t>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Security professionals recommended that passwords should be at least </a:t>
            </a:r>
            <a:r>
              <a:rPr lang="en-US" sz="2400" u="sng"/>
              <a:t>eight characters</a:t>
            </a:r>
            <a:r>
              <a:rPr lang="en-US" sz="2400"/>
              <a:t>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However, with the increasing strength of password crackers,  more than eight characters password is recommended.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example, many organizations require that administrator passwords be at least 15 characters.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Creating a Strong Password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Longer passwords are </a:t>
            </a:r>
            <a:r>
              <a:rPr lang="en-US" sz="2400" u="sng"/>
              <a:t>harder to remember</a:t>
            </a:r>
            <a:r>
              <a:rPr lang="en-US" sz="2400"/>
              <a:t> unless they’re put into some type of meaningful order.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example, a phrase like “Security breeds success” can become a password of “</a:t>
            </a:r>
            <a:r>
              <a:rPr lang="en-US" sz="2400" u="sng"/>
              <a:t>$3curityBr33d$$ucc3$$</a:t>
            </a:r>
            <a:r>
              <a:rPr lang="en-US" sz="2400"/>
              <a:t>”.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Notice that each word starts with a capital letter, each lower case “s” is changed to a $, each lower case “e” is changed to a 3, and the spaces are removed.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password is easier to remember, yet is very complex.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Authentication and Access Control</a:t>
            </a:r>
            <a:endParaRPr sz="3600"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Creating a Strong Password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However, if a user is required to remember a long password without any meaning, such as “1kqd9% lu@7cpw#”, they are much more likely to </a:t>
            </a:r>
            <a:r>
              <a:rPr lang="en-US" sz="2400" u="sng"/>
              <a:t>write the password down</a:t>
            </a:r>
            <a:r>
              <a:rPr lang="en-US" sz="2400"/>
              <a:t>, weakening the security.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Passwords should not include </a:t>
            </a:r>
            <a:r>
              <a:rPr lang="en-US" sz="2400" u="sng"/>
              <a:t>personal data</a:t>
            </a:r>
            <a:r>
              <a:rPr lang="en-US" sz="2400"/>
              <a:t> like a user’s name or ID number.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Additionally a password should not be a word that can be found in a </a:t>
            </a:r>
            <a:r>
              <a:rPr lang="en-US" sz="2400" u="sng"/>
              <a:t>dictionary</a:t>
            </a:r>
            <a:r>
              <a:rPr lang="en-US" sz="2400"/>
              <a:t>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</a:t>
            </a:r>
            <a:r>
              <a:rPr b="1" lang="en-US" sz="2400"/>
              <a:t>dictionary attack </a:t>
            </a:r>
            <a:r>
              <a:rPr lang="en-US" sz="2400"/>
              <a:t>uses a database of words similar to a dictionary, trying all the words in the database for a match.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Authentication and Access Control</a:t>
            </a:r>
            <a:endParaRPr sz="3600"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Remote User Authentication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Authentication over network more complex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Problems of eavesdropping, replay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Client attacks</a:t>
            </a:r>
            <a:r>
              <a:rPr lang="en-US" sz="2400"/>
              <a:t>: attacker attempts to achieve user authentication without access to the remote host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Masquerade as a authorized user (e.g., guess the password or try all passwords)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Countermeasure: strong passwords; limit number of attempts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Authentication and Access Control</a:t>
            </a:r>
            <a:endParaRPr sz="3600"/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Remote User Authentication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Eavesdropping</a:t>
            </a:r>
            <a:r>
              <a:rPr lang="en-US" sz="2800"/>
              <a:t>: attacker attempts to learn passwords by observing the user, finding written passwords, keylogging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Countermeasures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Dedication to keep passwords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Multifactor authentication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Avoid from compromised passwords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Replay</a:t>
            </a:r>
            <a:r>
              <a:rPr lang="en-US" sz="2800"/>
              <a:t>: attacker repeats a previously captured user response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Countermeasure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1-Time Passcodes (OTP)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