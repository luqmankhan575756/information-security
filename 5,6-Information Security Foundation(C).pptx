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9144000"/>
  <p:notesSz cx="6858000" cy="9144000"/>
  <p:embeddedFontLst>
    <p:embeddedFont>
      <p:font typeface="Arial Black"/>
      <p:regular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7" roundtripDataSignature="AMtx7mghzZEZlct5feSPiDHhjoHitbs9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font" Target="fonts/ArialBlack-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9" name="Google Shape;9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6" name="Google Shape;10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3" name="Google Shape;11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0" name="Google Shape;12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7" name="Google Shape;12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4" name="Google Shape;13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Scrambles : Mix-up, Confuse, disorder, disarrange</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Encryption is a useful security feature for providing data confidentiality. It can also be used to identify the sender of data. Although authentication and authorization should also protect the confidentiality of data and identify senders</a:t>
            </a:r>
            <a:r>
              <a:rPr b="1" lang="en-US" sz="1200">
                <a:solidFill>
                  <a:schemeClr val="dk1"/>
                </a:solidFill>
                <a:latin typeface="Calibri"/>
                <a:ea typeface="Calibri"/>
                <a:cs typeface="Calibri"/>
                <a:sym typeface="Calibri"/>
              </a:rPr>
              <a:t>, encryption is a good security feature to implement in case the other types of security fail.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1" name="Google Shape;14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A security policy should state whether packet filters implement one or the other of the following policies: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Deny specific types of packets and accept all else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Accept specific types of packets and deny all else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Cisco implements the second policy in its packet filters, which Cisco calls access control lists (ACL).</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8" name="Google Shape;14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Router(config)# access-list 10 permit 192.168.1.0 0.0.0.255</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5" name="Google Shape;15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Malicious: </a:t>
            </a:r>
            <a:r>
              <a:rPr lang="en-US"/>
              <a:t>harmful, hurtful, destructive,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 name="Shape 16"/>
        <p:cNvGrpSpPr/>
        <p:nvPr/>
      </p:nvGrpSpPr>
      <p:grpSpPr>
        <a:xfrm>
          <a:off x="0" y="0"/>
          <a:ext cx="0" cy="0"/>
          <a:chOff x="0" y="0"/>
          <a:chExt cx="0" cy="0"/>
        </a:xfrm>
      </p:grpSpPr>
      <p:sp>
        <p:nvSpPr>
          <p:cNvPr id="17" name="Google Shape;17;p12"/>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2"/>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12"/>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0" name="Google Shape;20;p12"/>
          <p:cNvSpPr txBox="1"/>
          <p:nvPr>
            <p:ph idx="2" type="body"/>
          </p:nvPr>
        </p:nvSpPr>
        <p:spPr>
          <a:xfrm>
            <a:off x="152400" y="6400800"/>
            <a:ext cx="1676400" cy="457200"/>
          </a:xfrm>
          <a:prstGeom prst="rect">
            <a:avLst/>
          </a:prstGeom>
          <a:noFill/>
          <a:ln>
            <a:noFill/>
          </a:ln>
        </p:spPr>
        <p:txBody>
          <a:bodyPr anchorCtr="0" anchor="t" bIns="45700" lIns="91425" spcFirstLastPara="1" rIns="91425" wrap="square" tIns="45700">
            <a:normAutofit/>
          </a:bodyPr>
          <a:lstStyle>
            <a:lvl1pPr indent="-228600" lvl="0" marL="457200" algn="l">
              <a:spcBef>
                <a:spcPts val="240"/>
              </a:spcBef>
              <a:spcAft>
                <a:spcPts val="0"/>
              </a:spcAft>
              <a:buSzPts val="1200"/>
              <a:buNone/>
              <a:defRPr sz="1200"/>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 name="Google Shape;21;p12"/>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22" name="Shape 22"/>
        <p:cNvGrpSpPr/>
        <p:nvPr/>
      </p:nvGrpSpPr>
      <p:grpSpPr>
        <a:xfrm>
          <a:off x="0" y="0"/>
          <a:ext cx="0" cy="0"/>
          <a:chOff x="0" y="0"/>
          <a:chExt cx="0" cy="0"/>
        </a:xfrm>
      </p:grpSpPr>
      <p:sp>
        <p:nvSpPr>
          <p:cNvPr id="23" name="Google Shape;23;p13"/>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3"/>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1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13"/>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3"/>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i="0" sz="1200" u="none" cap="none" strike="noStrike">
                <a:solidFill>
                  <a:srgbClr val="EEEBCA"/>
                </a:solidFill>
                <a:latin typeface="Calibri"/>
                <a:ea typeface="Calibri"/>
                <a:cs typeface="Calibri"/>
                <a:sym typeface="Calibri"/>
              </a:defRPr>
            </a:lvl1pPr>
            <a:lvl2pPr indent="0" lvl="1" marL="0" algn="ctr">
              <a:spcBef>
                <a:spcPts val="0"/>
              </a:spcBef>
              <a:buNone/>
              <a:defRPr b="1" i="0" sz="1200" u="none" cap="none" strike="noStrike">
                <a:solidFill>
                  <a:srgbClr val="EEEBCA"/>
                </a:solidFill>
                <a:latin typeface="Calibri"/>
                <a:ea typeface="Calibri"/>
                <a:cs typeface="Calibri"/>
                <a:sym typeface="Calibri"/>
              </a:defRPr>
            </a:lvl2pPr>
            <a:lvl3pPr indent="0" lvl="2" marL="0" algn="ctr">
              <a:spcBef>
                <a:spcPts val="0"/>
              </a:spcBef>
              <a:buNone/>
              <a:defRPr b="1" i="0" sz="1200" u="none" cap="none" strike="noStrike">
                <a:solidFill>
                  <a:srgbClr val="EEEBCA"/>
                </a:solidFill>
                <a:latin typeface="Calibri"/>
                <a:ea typeface="Calibri"/>
                <a:cs typeface="Calibri"/>
                <a:sym typeface="Calibri"/>
              </a:defRPr>
            </a:lvl3pPr>
            <a:lvl4pPr indent="0" lvl="3" marL="0" algn="ctr">
              <a:spcBef>
                <a:spcPts val="0"/>
              </a:spcBef>
              <a:buNone/>
              <a:defRPr b="1" i="0" sz="1200" u="none" cap="none" strike="noStrike">
                <a:solidFill>
                  <a:srgbClr val="EEEBCA"/>
                </a:solidFill>
                <a:latin typeface="Calibri"/>
                <a:ea typeface="Calibri"/>
                <a:cs typeface="Calibri"/>
                <a:sym typeface="Calibri"/>
              </a:defRPr>
            </a:lvl4pPr>
            <a:lvl5pPr indent="0" lvl="4" marL="0" algn="ctr">
              <a:spcBef>
                <a:spcPts val="0"/>
              </a:spcBef>
              <a:buNone/>
              <a:defRPr b="1" i="0" sz="1200" u="none" cap="none" strike="noStrike">
                <a:solidFill>
                  <a:srgbClr val="EEEBCA"/>
                </a:solidFill>
                <a:latin typeface="Calibri"/>
                <a:ea typeface="Calibri"/>
                <a:cs typeface="Calibri"/>
                <a:sym typeface="Calibri"/>
              </a:defRPr>
            </a:lvl5pPr>
            <a:lvl6pPr indent="0" lvl="5" marL="0" algn="ctr">
              <a:spcBef>
                <a:spcPts val="0"/>
              </a:spcBef>
              <a:buNone/>
              <a:defRPr b="1" i="0" sz="1200" u="none" cap="none" strike="noStrike">
                <a:solidFill>
                  <a:srgbClr val="EEEBCA"/>
                </a:solidFill>
                <a:latin typeface="Calibri"/>
                <a:ea typeface="Calibri"/>
                <a:cs typeface="Calibri"/>
                <a:sym typeface="Calibri"/>
              </a:defRPr>
            </a:lvl6pPr>
            <a:lvl7pPr indent="0" lvl="6" marL="0" algn="ctr">
              <a:spcBef>
                <a:spcPts val="0"/>
              </a:spcBef>
              <a:buNone/>
              <a:defRPr b="1" i="0" sz="1200" u="none" cap="none" strike="noStrike">
                <a:solidFill>
                  <a:srgbClr val="EEEBCA"/>
                </a:solidFill>
                <a:latin typeface="Calibri"/>
                <a:ea typeface="Calibri"/>
                <a:cs typeface="Calibri"/>
                <a:sym typeface="Calibri"/>
              </a:defRPr>
            </a:lvl7pPr>
            <a:lvl8pPr indent="0" lvl="7" marL="0" algn="ctr">
              <a:spcBef>
                <a:spcPts val="0"/>
              </a:spcBef>
              <a:buNone/>
              <a:defRPr b="1" i="0" sz="1200" u="none" cap="none" strike="noStrike">
                <a:solidFill>
                  <a:srgbClr val="EEEBCA"/>
                </a:solidFill>
                <a:latin typeface="Calibri"/>
                <a:ea typeface="Calibri"/>
                <a:cs typeface="Calibri"/>
                <a:sym typeface="Calibri"/>
              </a:defRPr>
            </a:lvl8pPr>
            <a:lvl9pPr indent="0" lvl="8" marL="0" algn="ctr">
              <a:spcBef>
                <a:spcPts val="0"/>
              </a:spcBef>
              <a:buNone/>
              <a:defRPr b="1" i="0" sz="1200" u="none" cap="none" strike="noStrike">
                <a:solidFill>
                  <a:srgbClr val="EEEBCA"/>
                </a:solidFill>
                <a:latin typeface="Calibri"/>
                <a:ea typeface="Calibri"/>
                <a:cs typeface="Calibri"/>
                <a:sym typeface="Calibri"/>
              </a:defRPr>
            </a:lvl9pPr>
          </a:lstStyle>
          <a:p>
            <a:pPr indent="0" lvl="0" marL="0" rtl="0" algn="ct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 name="Shape 28"/>
        <p:cNvGrpSpPr/>
        <p:nvPr/>
      </p:nvGrpSpPr>
      <p:grpSpPr>
        <a:xfrm>
          <a:off x="0" y="0"/>
          <a:ext cx="0" cy="0"/>
          <a:chOff x="0" y="0"/>
          <a:chExt cx="0" cy="0"/>
        </a:xfrm>
      </p:grpSpPr>
      <p:sp>
        <p:nvSpPr>
          <p:cNvPr id="29" name="Google Shape;29;p14"/>
          <p:cNvSpPr txBox="1"/>
          <p:nvPr/>
        </p:nvSpPr>
        <p:spPr>
          <a:xfrm>
            <a:off x="1219200" y="5486400"/>
            <a:ext cx="3581400" cy="685800"/>
          </a:xfrm>
          <a:prstGeom prst="rect">
            <a:avLst/>
          </a:prstGeom>
          <a:noFill/>
          <a:ln>
            <a:noFill/>
          </a:ln>
        </p:spPr>
        <p:txBody>
          <a:bodyPr anchorCtr="0" anchor="ctr" bIns="45700" lIns="91425" spcFirstLastPara="1" rIns="91425" wrap="square" tIns="45700">
            <a:normAutofit lnSpcReduction="10000"/>
          </a:bodyPr>
          <a:lstStyle/>
          <a:p>
            <a:pPr indent="0" lvl="0" marL="0" marR="0" rtl="0" algn="ctr">
              <a:lnSpc>
                <a:spcPct val="100000"/>
              </a:lnSpc>
              <a:spcBef>
                <a:spcPts val="0"/>
              </a:spcBef>
              <a:spcAft>
                <a:spcPts val="0"/>
              </a:spcAft>
              <a:buClr>
                <a:schemeClr val="dk1"/>
              </a:buClr>
              <a:buSzPts val="2000"/>
              <a:buFont typeface="Arial Black"/>
              <a:buNone/>
            </a:pPr>
            <a:r>
              <a:rPr b="0" i="0" lang="en-US" sz="2000" u="none" cap="none" strike="noStrike">
                <a:solidFill>
                  <a:schemeClr val="dk1"/>
                </a:solidFill>
                <a:latin typeface="Arial Black"/>
                <a:ea typeface="Arial Black"/>
                <a:cs typeface="Arial Black"/>
                <a:sym typeface="Arial Black"/>
              </a:rPr>
              <a:t>Your Interactive Guide to the Digital World</a:t>
            </a:r>
            <a:endParaRPr/>
          </a:p>
        </p:txBody>
      </p:sp>
      <p:sp>
        <p:nvSpPr>
          <p:cNvPr id="30" name="Google Shape;30;p14"/>
          <p:cNvSpPr/>
          <p:nvPr/>
        </p:nvSpPr>
        <p:spPr>
          <a:xfrm>
            <a:off x="0" y="4267200"/>
            <a:ext cx="4876800"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Arial Black"/>
                <a:ea typeface="Arial Black"/>
                <a:cs typeface="Arial Black"/>
                <a:sym typeface="Arial Black"/>
              </a:rPr>
              <a:t>Discovering </a:t>
            </a:r>
            <a:br>
              <a:rPr b="0" i="0" lang="en-US" sz="3200" u="none" cap="none" strike="noStrike">
                <a:solidFill>
                  <a:schemeClr val="dk1"/>
                </a:solidFill>
                <a:latin typeface="Arial Black"/>
                <a:ea typeface="Arial Black"/>
                <a:cs typeface="Arial Black"/>
                <a:sym typeface="Arial Black"/>
              </a:rPr>
            </a:br>
            <a:r>
              <a:rPr b="0" i="0" lang="en-US" sz="3200" u="none" cap="none" strike="noStrike">
                <a:solidFill>
                  <a:schemeClr val="dk1"/>
                </a:solidFill>
                <a:latin typeface="Arial Black"/>
                <a:ea typeface="Arial Black"/>
                <a:cs typeface="Arial Black"/>
                <a:sym typeface="Arial Black"/>
              </a:rPr>
              <a:t>	Computers 2012</a:t>
            </a:r>
            <a:endParaRPr/>
          </a:p>
        </p:txBody>
      </p:sp>
      <p:pic>
        <p:nvPicPr>
          <p:cNvPr id="31" name="Google Shape;31;p14"/>
          <p:cNvPicPr preferRelativeResize="0"/>
          <p:nvPr/>
        </p:nvPicPr>
        <p:blipFill rotWithShape="1">
          <a:blip r:embed="rId2">
            <a:alphaModFix/>
          </a:blip>
          <a:srcRect b="0" l="0" r="0" t="0"/>
          <a:stretch/>
        </p:blipFill>
        <p:spPr>
          <a:xfrm>
            <a:off x="5186606" y="3276600"/>
            <a:ext cx="3957394" cy="3581400"/>
          </a:xfrm>
          <a:prstGeom prst="rect">
            <a:avLst/>
          </a:prstGeom>
          <a:noFill/>
          <a:ln>
            <a:noFill/>
          </a:ln>
        </p:spPr>
      </p:pic>
      <p:pic>
        <p:nvPicPr>
          <p:cNvPr id="32" name="Google Shape;32;p14"/>
          <p:cNvPicPr preferRelativeResize="0"/>
          <p:nvPr/>
        </p:nvPicPr>
        <p:blipFill rotWithShape="1">
          <a:blip r:embed="rId3">
            <a:alphaModFix/>
          </a:blip>
          <a:srcRect b="0" l="0" r="0" t="0"/>
          <a:stretch/>
        </p:blipFill>
        <p:spPr>
          <a:xfrm>
            <a:off x="0" y="0"/>
            <a:ext cx="9144000" cy="3235890"/>
          </a:xfrm>
          <a:prstGeom prst="rect">
            <a:avLst/>
          </a:prstGeom>
          <a:noFill/>
          <a:ln>
            <a:noFill/>
          </a:ln>
          <a:effectLst>
            <a:outerShdw blurRad="292100" rotWithShape="0" algn="tl" dir="2700000" dist="139700">
              <a:srgbClr val="333333">
                <a:alpha val="64705"/>
              </a:srgbClr>
            </a:outerShdw>
          </a:effectLst>
        </p:spPr>
      </p:pic>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5F497A"/>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sz="2000">
                <a:solidFill>
                  <a:srgbClr val="888888"/>
                </a:solidFill>
              </a:defRPr>
            </a:lvl1pPr>
            <a:lvl2pPr indent="-228600" lvl="1" marL="914400" algn="l">
              <a:spcBef>
                <a:spcPts val="360"/>
              </a:spcBef>
              <a:spcAft>
                <a:spcPts val="0"/>
              </a:spcAft>
              <a:buSzPts val="1800"/>
              <a:buNone/>
              <a:defRPr sz="1800">
                <a:solidFill>
                  <a:srgbClr val="888888"/>
                </a:solidFill>
              </a:defRPr>
            </a:lvl2pPr>
            <a:lvl3pPr indent="-228600" lvl="2" marL="1371600" algn="l">
              <a:spcBef>
                <a:spcPts val="320"/>
              </a:spcBef>
              <a:spcAft>
                <a:spcPts val="0"/>
              </a:spcAft>
              <a:buSzPts val="1600"/>
              <a:buNone/>
              <a:defRPr sz="1600">
                <a:solidFill>
                  <a:srgbClr val="888888"/>
                </a:solidFill>
              </a:defRPr>
            </a:lvl3pPr>
            <a:lvl4pPr indent="-228600" lvl="3" marL="1828800" algn="l">
              <a:spcBef>
                <a:spcPts val="280"/>
              </a:spcBef>
              <a:spcAft>
                <a:spcPts val="0"/>
              </a:spcAft>
              <a:buSzPts val="1400"/>
              <a:buNone/>
              <a:defRPr sz="1400">
                <a:solidFill>
                  <a:srgbClr val="888888"/>
                </a:solidFill>
              </a:defRPr>
            </a:lvl4pPr>
            <a:lvl5pPr indent="-228600" lvl="4" marL="2286000" algn="l">
              <a:spcBef>
                <a:spcPts val="280"/>
              </a:spcBef>
              <a:spcAft>
                <a:spcPts val="0"/>
              </a:spcAft>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6" name="Google Shape;36;p1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15"/>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9" name="Shape 39"/>
        <p:cNvGrpSpPr/>
        <p:nvPr/>
      </p:nvGrpSpPr>
      <p:grpSpPr>
        <a:xfrm>
          <a:off x="0" y="0"/>
          <a:ext cx="0" cy="0"/>
          <a:chOff x="0" y="0"/>
          <a:chExt cx="0" cy="0"/>
        </a:xfrm>
      </p:grpSpPr>
      <p:sp>
        <p:nvSpPr>
          <p:cNvPr id="40" name="Google Shape;40;p16"/>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2" name="Google Shape;42;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16"/>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6"/>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6"/>
          <p:cNvSpPr txBox="1"/>
          <p:nvPr>
            <p:ph idx="3" type="body"/>
          </p:nvPr>
        </p:nvSpPr>
        <p:spPr>
          <a:xfrm>
            <a:off x="152400" y="6400800"/>
            <a:ext cx="1676400" cy="304800"/>
          </a:xfrm>
          <a:prstGeom prst="rect">
            <a:avLst/>
          </a:prstGeom>
          <a:noFill/>
          <a:ln>
            <a:noFill/>
          </a:ln>
        </p:spPr>
        <p:txBody>
          <a:bodyPr anchorCtr="0" anchor="t" bIns="45700" lIns="91425" spcFirstLastPara="1" rIns="91425" wrap="square" tIns="45700">
            <a:normAutofit/>
          </a:bodyPr>
          <a:lstStyle>
            <a:lvl1pPr indent="-228600" lvl="0" marL="457200" algn="l">
              <a:spcBef>
                <a:spcPts val="240"/>
              </a:spcBef>
              <a:spcAft>
                <a:spcPts val="0"/>
              </a:spcAft>
              <a:buSzPts val="1200"/>
              <a:buNone/>
              <a:defRPr sz="1200"/>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6" name="Shape 46"/>
        <p:cNvGrpSpPr/>
        <p:nvPr/>
      </p:nvGrpSpPr>
      <p:grpSpPr>
        <a:xfrm>
          <a:off x="0" y="0"/>
          <a:ext cx="0" cy="0"/>
          <a:chOff x="0" y="0"/>
          <a:chExt cx="0" cy="0"/>
        </a:xfrm>
      </p:grpSpPr>
      <p:sp>
        <p:nvSpPr>
          <p:cNvPr id="47" name="Google Shape;47;p17"/>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4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 name="Google Shape;51;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2" name="Google Shape;52;p17"/>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4" name="Google Shape;54;p17"/>
          <p:cNvSpPr txBox="1"/>
          <p:nvPr>
            <p:ph idx="5" type="body"/>
          </p:nvPr>
        </p:nvSpPr>
        <p:spPr>
          <a:xfrm>
            <a:off x="152400" y="6400800"/>
            <a:ext cx="1676400" cy="304800"/>
          </a:xfrm>
          <a:prstGeom prst="rect">
            <a:avLst/>
          </a:prstGeom>
          <a:noFill/>
          <a:ln>
            <a:noFill/>
          </a:ln>
        </p:spPr>
        <p:txBody>
          <a:bodyPr anchorCtr="0" anchor="t" bIns="45700" lIns="91425" spcFirstLastPara="1" rIns="91425" wrap="square" tIns="45700">
            <a:normAutofit/>
          </a:bodyPr>
          <a:lstStyle>
            <a:lvl1pPr indent="-228600" lvl="0" marL="457200" algn="l">
              <a:spcBef>
                <a:spcPts val="240"/>
              </a:spcBef>
              <a:spcAft>
                <a:spcPts val="0"/>
              </a:spcAft>
              <a:buSzPts val="1200"/>
              <a:buNone/>
              <a:defRPr sz="1200"/>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8"/>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18"/>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9"/>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9"/>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F497A"/>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SzPts val="3200"/>
              <a:buChar char="•"/>
              <a:defRPr sz="3200"/>
            </a:lvl1pPr>
            <a:lvl2pPr indent="-406400" lvl="1" marL="914400" algn="l">
              <a:spcBef>
                <a:spcPts val="560"/>
              </a:spcBef>
              <a:spcAft>
                <a:spcPts val="0"/>
              </a:spcAft>
              <a:buSzPts val="2800"/>
              <a:buChar char="–"/>
              <a:defRPr sz="2800"/>
            </a:lvl2pPr>
            <a:lvl3pPr indent="-381000" lvl="2" marL="1371600" algn="l">
              <a:spcBef>
                <a:spcPts val="480"/>
              </a:spcBef>
              <a:spcAft>
                <a:spcPts val="0"/>
              </a:spcAft>
              <a:buSzPts val="240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7" name="Google Shape;67;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8" name="Google Shape;68;p2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20"/>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0"/>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F497A"/>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1"/>
          <p:cNvSpPr/>
          <p:nvPr>
            <p:ph idx="2" type="pic"/>
          </p:nvPr>
        </p:nvSpPr>
        <p:spPr>
          <a:xfrm>
            <a:off x="1792288" y="612775"/>
            <a:ext cx="5486400" cy="4114800"/>
          </a:xfrm>
          <a:prstGeom prst="rect">
            <a:avLst/>
          </a:prstGeom>
          <a:noFill/>
          <a:ln>
            <a:noFill/>
          </a:ln>
        </p:spPr>
      </p:sp>
      <p:sp>
        <p:nvSpPr>
          <p:cNvPr id="74" name="Google Shape;74;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5" name="Google Shape;75;p2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p21"/>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1"/>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22"/>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2"/>
          <p:cNvSpPr txBox="1"/>
          <p:nvPr>
            <p:ph idx="1" type="body"/>
          </p:nvPr>
        </p:nvSpPr>
        <p:spPr>
          <a:xfrm rot="5400000">
            <a:off x="2247900" y="-495300"/>
            <a:ext cx="4648200" cy="8839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22"/>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2"/>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7" name="Google Shape;87;p2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23"/>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3"/>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5DFEC"/>
            </a:gs>
            <a:gs pos="64999">
              <a:srgbClr val="F0EBD5"/>
            </a:gs>
            <a:gs pos="100000">
              <a:srgbClr val="D1C39F"/>
            </a:gs>
          </a:gsLst>
          <a:path path="circle">
            <a:fillToRect b="0%" l="100%" r="0%" t="100%"/>
          </a:path>
          <a:tileRect b="-100%" l="0%" r="-100%" t="0%"/>
        </a:gra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F497A"/>
              </a:buClr>
              <a:buSzPts val="4000"/>
              <a:buFont typeface="Calibri"/>
              <a:buNone/>
              <a:defRPr b="1" i="0" sz="4000" u="none" cap="none" strike="noStrike">
                <a:solidFill>
                  <a:srgbClr val="5F497A"/>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rgbClr val="5F497A"/>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rgbClr val="5F497A"/>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5F497A"/>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5F497A"/>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5F497A"/>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1"/>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p:nvPr/>
        </p:nvSpPr>
        <p:spPr>
          <a:xfrm>
            <a:off x="0" y="1219200"/>
            <a:ext cx="9144000" cy="457200"/>
          </a:xfrm>
          <a:prstGeom prst="rect">
            <a:avLst/>
          </a:prstGeom>
          <a:gradFill>
            <a:gsLst>
              <a:gs pos="0">
                <a:srgbClr val="DB7531"/>
              </a:gs>
              <a:gs pos="64999">
                <a:srgbClr val="F0EBD5"/>
              </a:gs>
              <a:gs pos="100000">
                <a:srgbClr val="D1C39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 name="Google Shape;14;p11"/>
          <p:cNvSpPr/>
          <p:nvPr/>
        </p:nvSpPr>
        <p:spPr>
          <a:xfrm>
            <a:off x="8534400" y="6248400"/>
            <a:ext cx="609600" cy="609600"/>
          </a:xfrm>
          <a:prstGeom prst="rect">
            <a:avLst/>
          </a:prstGeom>
          <a:solidFill>
            <a:srgbClr val="DB7531"/>
          </a:solidFill>
          <a:ln>
            <a:noFill/>
          </a:ln>
          <a:effectLst>
            <a:outerShdw blurRad="76200" kx="1200000" rotWithShape="0" algn="br" sy="23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 name="Google Shape;15;p11"/>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200" u="none" cap="none" strike="noStrike">
                <a:solidFill>
                  <a:srgbClr val="EEEBCA"/>
                </a:solidFill>
                <a:latin typeface="Calibri"/>
                <a:ea typeface="Calibri"/>
                <a:cs typeface="Calibri"/>
                <a:sym typeface="Calibri"/>
              </a:defRPr>
            </a:lvl1pPr>
            <a:lvl2pPr indent="0" lvl="1" marL="0" marR="0" rtl="0" algn="ctr">
              <a:spcBef>
                <a:spcPts val="0"/>
              </a:spcBef>
              <a:buNone/>
              <a:defRPr b="1" i="0" sz="1200" u="none" cap="none" strike="noStrike">
                <a:solidFill>
                  <a:srgbClr val="EEEBCA"/>
                </a:solidFill>
                <a:latin typeface="Calibri"/>
                <a:ea typeface="Calibri"/>
                <a:cs typeface="Calibri"/>
                <a:sym typeface="Calibri"/>
              </a:defRPr>
            </a:lvl2pPr>
            <a:lvl3pPr indent="0" lvl="2" marL="0" marR="0" rtl="0" algn="ctr">
              <a:spcBef>
                <a:spcPts val="0"/>
              </a:spcBef>
              <a:buNone/>
              <a:defRPr b="1" i="0" sz="1200" u="none" cap="none" strike="noStrike">
                <a:solidFill>
                  <a:srgbClr val="EEEBCA"/>
                </a:solidFill>
                <a:latin typeface="Calibri"/>
                <a:ea typeface="Calibri"/>
                <a:cs typeface="Calibri"/>
                <a:sym typeface="Calibri"/>
              </a:defRPr>
            </a:lvl3pPr>
            <a:lvl4pPr indent="0" lvl="3" marL="0" marR="0" rtl="0" algn="ctr">
              <a:spcBef>
                <a:spcPts val="0"/>
              </a:spcBef>
              <a:buNone/>
              <a:defRPr b="1" i="0" sz="1200" u="none" cap="none" strike="noStrike">
                <a:solidFill>
                  <a:srgbClr val="EEEBCA"/>
                </a:solidFill>
                <a:latin typeface="Calibri"/>
                <a:ea typeface="Calibri"/>
                <a:cs typeface="Calibri"/>
                <a:sym typeface="Calibri"/>
              </a:defRPr>
            </a:lvl4pPr>
            <a:lvl5pPr indent="0" lvl="4" marL="0" marR="0" rtl="0" algn="ctr">
              <a:spcBef>
                <a:spcPts val="0"/>
              </a:spcBef>
              <a:buNone/>
              <a:defRPr b="1" i="0" sz="1200" u="none" cap="none" strike="noStrike">
                <a:solidFill>
                  <a:srgbClr val="EEEBCA"/>
                </a:solidFill>
                <a:latin typeface="Calibri"/>
                <a:ea typeface="Calibri"/>
                <a:cs typeface="Calibri"/>
                <a:sym typeface="Calibri"/>
              </a:defRPr>
            </a:lvl5pPr>
            <a:lvl6pPr indent="0" lvl="5" marL="0" marR="0" rtl="0" algn="ctr">
              <a:spcBef>
                <a:spcPts val="0"/>
              </a:spcBef>
              <a:buNone/>
              <a:defRPr b="1" i="0" sz="1200" u="none" cap="none" strike="noStrike">
                <a:solidFill>
                  <a:srgbClr val="EEEBCA"/>
                </a:solidFill>
                <a:latin typeface="Calibri"/>
                <a:ea typeface="Calibri"/>
                <a:cs typeface="Calibri"/>
                <a:sym typeface="Calibri"/>
              </a:defRPr>
            </a:lvl6pPr>
            <a:lvl7pPr indent="0" lvl="6" marL="0" marR="0" rtl="0" algn="ctr">
              <a:spcBef>
                <a:spcPts val="0"/>
              </a:spcBef>
              <a:buNone/>
              <a:defRPr b="1" i="0" sz="1200" u="none" cap="none" strike="noStrike">
                <a:solidFill>
                  <a:srgbClr val="EEEBCA"/>
                </a:solidFill>
                <a:latin typeface="Calibri"/>
                <a:ea typeface="Calibri"/>
                <a:cs typeface="Calibri"/>
                <a:sym typeface="Calibri"/>
              </a:defRPr>
            </a:lvl7pPr>
            <a:lvl8pPr indent="0" lvl="7" marL="0" marR="0" rtl="0" algn="ctr">
              <a:spcBef>
                <a:spcPts val="0"/>
              </a:spcBef>
              <a:buNone/>
              <a:defRPr b="1" i="0" sz="1200" u="none" cap="none" strike="noStrike">
                <a:solidFill>
                  <a:srgbClr val="EEEBCA"/>
                </a:solidFill>
                <a:latin typeface="Calibri"/>
                <a:ea typeface="Calibri"/>
                <a:cs typeface="Calibri"/>
                <a:sym typeface="Calibri"/>
              </a:defRPr>
            </a:lvl8pPr>
            <a:lvl9pPr indent="0" lvl="8" marL="0" marR="0" rtl="0" algn="ctr">
              <a:spcBef>
                <a:spcPts val="0"/>
              </a:spcBef>
              <a:buNone/>
              <a:defRPr b="1" i="0" sz="1200" u="none" cap="none" strike="noStrike">
                <a:solidFill>
                  <a:srgbClr val="EEEBCA"/>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F497A"/>
              </a:buClr>
              <a:buSzPts val="2400"/>
              <a:buFont typeface="Calibri"/>
              <a:buNone/>
            </a:pPr>
            <a:r>
              <a:rPr lang="en-US" sz="2400"/>
              <a:t>Information Security Foundation</a:t>
            </a:r>
            <a:endParaRPr/>
          </a:p>
        </p:txBody>
      </p:sp>
      <p:sp>
        <p:nvSpPr>
          <p:cNvPr id="95" name="Google Shape;95;p1"/>
          <p:cNvSpPr txBox="1"/>
          <p:nvPr>
            <p:ph idx="1" type="body"/>
          </p:nvPr>
        </p:nvSpPr>
        <p:spPr>
          <a:xfrm>
            <a:off x="152400" y="1524000"/>
            <a:ext cx="8839200" cy="3733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3200"/>
              <a:buNone/>
            </a:pPr>
            <a:r>
              <a:t/>
            </a:r>
            <a:endParaRPr/>
          </a:p>
          <a:p>
            <a:pPr indent="0" lvl="0" marL="0" rtl="0" algn="ctr">
              <a:spcBef>
                <a:spcPts val="800"/>
              </a:spcBef>
              <a:spcAft>
                <a:spcPts val="0"/>
              </a:spcAft>
              <a:buSzPts val="4000"/>
              <a:buNone/>
            </a:pPr>
            <a:r>
              <a:t/>
            </a:r>
            <a:endParaRPr b="1" sz="4000">
              <a:solidFill>
                <a:srgbClr val="5F497A"/>
              </a:solidFill>
              <a:latin typeface="Calibri"/>
              <a:ea typeface="Calibri"/>
              <a:cs typeface="Calibri"/>
              <a:sym typeface="Calibri"/>
            </a:endParaRPr>
          </a:p>
          <a:p>
            <a:pPr indent="0" lvl="0" marL="0" rtl="0" algn="ctr">
              <a:spcBef>
                <a:spcPts val="880"/>
              </a:spcBef>
              <a:spcAft>
                <a:spcPts val="0"/>
              </a:spcAft>
              <a:buSzPts val="4400"/>
              <a:buNone/>
            </a:pPr>
            <a:r>
              <a:rPr b="1" lang="en-US" sz="4400">
                <a:solidFill>
                  <a:srgbClr val="5F497A"/>
                </a:solidFill>
                <a:latin typeface="Calibri"/>
                <a:ea typeface="Calibri"/>
                <a:cs typeface="Calibri"/>
                <a:sym typeface="Calibri"/>
              </a:rPr>
              <a:t>Information Security</a:t>
            </a:r>
            <a:endParaRPr b="1" sz="2000">
              <a:solidFill>
                <a:srgbClr val="5F497A"/>
              </a:solidFill>
              <a:latin typeface="Calibri"/>
              <a:ea typeface="Calibri"/>
              <a:cs typeface="Calibri"/>
              <a:sym typeface="Calibri"/>
            </a:endParaRPr>
          </a:p>
        </p:txBody>
      </p:sp>
      <p:sp>
        <p:nvSpPr>
          <p:cNvPr id="96" name="Google Shape;96;p1"/>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Information Security Foundation </a:t>
            </a:r>
            <a:endParaRPr sz="3600"/>
          </a:p>
        </p:txBody>
      </p:sp>
      <p:sp>
        <p:nvSpPr>
          <p:cNvPr id="103" name="Google Shape;103;p2"/>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US" sz="2800"/>
              <a:t>What is Information Security?</a:t>
            </a:r>
            <a:endParaRPr/>
          </a:p>
          <a:p>
            <a:pPr indent="-342900" lvl="0" marL="342900" rtl="0" algn="l">
              <a:spcBef>
                <a:spcPts val="560"/>
              </a:spcBef>
              <a:spcAft>
                <a:spcPts val="0"/>
              </a:spcAft>
              <a:buSzPts val="2800"/>
              <a:buChar char="•"/>
            </a:pPr>
            <a:r>
              <a:rPr lang="en-US" sz="2800"/>
              <a:t>Information Security Services</a:t>
            </a:r>
            <a:endParaRPr/>
          </a:p>
          <a:p>
            <a:pPr indent="-342900" lvl="0" marL="342900" rtl="0" algn="l">
              <a:spcBef>
                <a:spcPts val="560"/>
              </a:spcBef>
              <a:spcAft>
                <a:spcPts val="0"/>
              </a:spcAft>
              <a:buSzPts val="2800"/>
              <a:buChar char="•"/>
            </a:pPr>
            <a:r>
              <a:rPr lang="en-US" sz="2800"/>
              <a:t>Information Security Terminology</a:t>
            </a:r>
            <a:endParaRPr/>
          </a:p>
          <a:p>
            <a:pPr indent="-342900" lvl="0" marL="342900" rtl="0" algn="l">
              <a:spcBef>
                <a:spcPts val="560"/>
              </a:spcBef>
              <a:spcAft>
                <a:spcPts val="0"/>
              </a:spcAft>
              <a:buSzPts val="2800"/>
              <a:buChar char="•"/>
            </a:pPr>
            <a:r>
              <a:rPr lang="en-US" sz="2800"/>
              <a:t>Information Security Challenges</a:t>
            </a:r>
            <a:endParaRPr/>
          </a:p>
          <a:p>
            <a:pPr indent="-342900" lvl="0" marL="342900" rtl="0" algn="l">
              <a:spcBef>
                <a:spcPts val="560"/>
              </a:spcBef>
              <a:spcAft>
                <a:spcPts val="0"/>
              </a:spcAft>
              <a:buSzPts val="2800"/>
              <a:buChar char="•"/>
            </a:pPr>
            <a:r>
              <a:rPr lang="en-US" sz="2800"/>
              <a:t>Security Functional Requirements </a:t>
            </a:r>
            <a:endParaRPr/>
          </a:p>
          <a:p>
            <a:pPr indent="-342900" lvl="0" marL="342900" rtl="0" algn="l">
              <a:spcBef>
                <a:spcPts val="560"/>
              </a:spcBef>
              <a:spcAft>
                <a:spcPts val="0"/>
              </a:spcAft>
              <a:buSzPts val="2800"/>
              <a:buChar char="•"/>
            </a:pPr>
            <a:r>
              <a:rPr lang="en-US" sz="2800"/>
              <a:t>Layers in a Defense-in-Depth Strategy</a:t>
            </a:r>
            <a:endParaRPr/>
          </a:p>
          <a:p>
            <a:pPr indent="-342900" lvl="0" marL="342900" rtl="0" algn="l">
              <a:spcBef>
                <a:spcPts val="560"/>
              </a:spcBef>
              <a:spcAft>
                <a:spcPts val="0"/>
              </a:spcAft>
              <a:buSzPts val="2800"/>
              <a:buChar char="•"/>
            </a:pPr>
            <a:r>
              <a:rPr lang="en-US" sz="2800"/>
              <a:t>Fundamental Security Design Principles</a:t>
            </a:r>
            <a:endParaRPr/>
          </a:p>
          <a:p>
            <a:pPr indent="-342900" lvl="0" marL="342900" rtl="0" algn="l">
              <a:spcBef>
                <a:spcPts val="560"/>
              </a:spcBef>
              <a:spcAft>
                <a:spcPts val="0"/>
              </a:spcAft>
              <a:buSzPts val="2800"/>
              <a:buChar char="•"/>
            </a:pPr>
            <a:r>
              <a:rPr lang="en-US" sz="2800"/>
              <a:t>Information Security Mechanisms</a:t>
            </a:r>
            <a:endParaRPr sz="2000"/>
          </a:p>
          <a:p>
            <a:pPr indent="0" lvl="1" marL="0" rtl="0" algn="l">
              <a:spcBef>
                <a:spcPts val="480"/>
              </a:spcBef>
              <a:spcAft>
                <a:spcPts val="0"/>
              </a:spcAft>
              <a:buSzPts val="2400"/>
              <a:buFont typeface="Arial"/>
              <a:buNone/>
            </a:pPr>
            <a:r>
              <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ph type="title"/>
          </p:nvPr>
        </p:nvSpPr>
        <p:spPr>
          <a:xfrm>
            <a:off x="134155" y="152400"/>
            <a:ext cx="8145462" cy="1066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Information Security Mechanisms</a:t>
            </a:r>
            <a:endParaRPr sz="3600"/>
          </a:p>
        </p:txBody>
      </p:sp>
      <p:sp>
        <p:nvSpPr>
          <p:cNvPr id="110" name="Google Shape;110;p3"/>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US"/>
              <a:t>Physical Security</a:t>
            </a:r>
            <a:endParaRPr/>
          </a:p>
          <a:p>
            <a:pPr indent="-285750" lvl="1" marL="742950" rtl="0" algn="l">
              <a:spcBef>
                <a:spcPts val="560"/>
              </a:spcBef>
              <a:spcAft>
                <a:spcPts val="0"/>
              </a:spcAft>
              <a:buSzPts val="2800"/>
              <a:buChar char="–"/>
            </a:pPr>
            <a:r>
              <a:rPr lang="en-US"/>
              <a:t>Physical security refers to </a:t>
            </a:r>
            <a:r>
              <a:rPr lang="en-US" u="sng"/>
              <a:t>limiting access</a:t>
            </a:r>
            <a:r>
              <a:rPr lang="en-US"/>
              <a:t> to key network resources by keeping the resources behind a </a:t>
            </a:r>
            <a:r>
              <a:rPr lang="en-US" u="sng"/>
              <a:t>locked door</a:t>
            </a:r>
            <a:r>
              <a:rPr lang="en-US"/>
              <a:t> and protected from natural and human-made </a:t>
            </a:r>
            <a:r>
              <a:rPr lang="en-US" u="sng"/>
              <a:t>disasters</a:t>
            </a:r>
            <a:r>
              <a:rPr lang="en-US"/>
              <a:t>. </a:t>
            </a:r>
            <a:endParaRPr/>
          </a:p>
          <a:p>
            <a:pPr indent="-285750" lvl="1" marL="742950" rtl="0" algn="l">
              <a:spcBef>
                <a:spcPts val="1160"/>
              </a:spcBef>
              <a:spcAft>
                <a:spcPts val="0"/>
              </a:spcAft>
              <a:buSzPts val="2800"/>
              <a:buChar char="–"/>
            </a:pPr>
            <a:r>
              <a:rPr lang="en-US"/>
              <a:t>Physical security will protect core </a:t>
            </a:r>
            <a:r>
              <a:rPr lang="en-US" u="sng"/>
              <a:t>routers</a:t>
            </a:r>
            <a:r>
              <a:rPr lang="en-US"/>
              <a:t>, </a:t>
            </a:r>
            <a:r>
              <a:rPr lang="en-US" u="sng"/>
              <a:t>firewalls</a:t>
            </a:r>
            <a:r>
              <a:rPr lang="en-US"/>
              <a:t>, </a:t>
            </a:r>
            <a:r>
              <a:rPr lang="en-US" u="sng"/>
              <a:t>cabling</a:t>
            </a:r>
            <a:r>
              <a:rPr lang="en-US"/>
              <a:t>, access points, </a:t>
            </a:r>
            <a:r>
              <a:rPr lang="en-US" u="sng"/>
              <a:t>servers</a:t>
            </a:r>
            <a:r>
              <a:rPr lang="en-US"/>
              <a:t>, hosts, backup storage, and so on. </a:t>
            </a:r>
            <a:endParaRPr/>
          </a:p>
          <a:p>
            <a:pPr indent="-139700" lvl="0" marL="342900" rtl="0" algn="l">
              <a:spcBef>
                <a:spcPts val="640"/>
              </a:spcBef>
              <a:spcAft>
                <a:spcPts val="0"/>
              </a:spcAft>
              <a:buSzPts val="3200"/>
              <a:buNone/>
            </a:pPr>
            <a:r>
              <a:t/>
            </a:r>
            <a:endParaRPr/>
          </a:p>
          <a:p>
            <a:pPr indent="-139700" lvl="0" marL="342900" rtl="0" algn="l">
              <a:spcBef>
                <a:spcPts val="640"/>
              </a:spcBef>
              <a:spcAft>
                <a:spcPts val="0"/>
              </a:spcAft>
              <a:buSzPts val="32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134155" y="152400"/>
            <a:ext cx="8145462" cy="1066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Information Security Mechanisms</a:t>
            </a:r>
            <a:endParaRPr sz="3600"/>
          </a:p>
        </p:txBody>
      </p:sp>
      <p:sp>
        <p:nvSpPr>
          <p:cNvPr id="117" name="Google Shape;117;p4"/>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US"/>
              <a:t>Authentication</a:t>
            </a:r>
            <a:endParaRPr/>
          </a:p>
          <a:p>
            <a:pPr indent="-285750" lvl="1" marL="742950" rtl="0" algn="l">
              <a:spcBef>
                <a:spcPts val="560"/>
              </a:spcBef>
              <a:spcAft>
                <a:spcPts val="0"/>
              </a:spcAft>
              <a:buSzPts val="2800"/>
              <a:buChar char="–"/>
            </a:pPr>
            <a:r>
              <a:rPr lang="en-US"/>
              <a:t>Authentication identifies </a:t>
            </a:r>
            <a:r>
              <a:rPr lang="en-US" u="sng"/>
              <a:t>who is requesting</a:t>
            </a:r>
            <a:r>
              <a:rPr lang="en-US"/>
              <a:t> network services. The term authentication usually refers to authenticating </a:t>
            </a:r>
            <a:r>
              <a:rPr lang="en-US" u="sng"/>
              <a:t>users</a:t>
            </a:r>
            <a:r>
              <a:rPr lang="en-US"/>
              <a:t> but can also refer to authenticating </a:t>
            </a:r>
            <a:r>
              <a:rPr lang="en-US" u="sng"/>
              <a:t>devices</a:t>
            </a:r>
            <a:r>
              <a:rPr lang="en-US"/>
              <a:t> or </a:t>
            </a:r>
            <a:r>
              <a:rPr lang="en-US" u="sng"/>
              <a:t>software processes</a:t>
            </a:r>
            <a:r>
              <a:rPr lang="en-US"/>
              <a:t>.</a:t>
            </a:r>
            <a:endParaRPr/>
          </a:p>
          <a:p>
            <a:pPr indent="-285750" lvl="1" marL="742950" rtl="0" algn="l">
              <a:spcBef>
                <a:spcPts val="1160"/>
              </a:spcBef>
              <a:spcAft>
                <a:spcPts val="0"/>
              </a:spcAft>
              <a:buSzPts val="2800"/>
              <a:buChar char="–"/>
            </a:pPr>
            <a:r>
              <a:rPr lang="en-US"/>
              <a:t>Most security policies state that to access a network and its services, a user must enter a </a:t>
            </a:r>
            <a:r>
              <a:rPr lang="en-US" u="sng"/>
              <a:t>login ID</a:t>
            </a:r>
            <a:r>
              <a:rPr lang="en-US"/>
              <a:t> and </a:t>
            </a:r>
            <a:r>
              <a:rPr lang="en-US" u="sng"/>
              <a:t>password</a:t>
            </a:r>
            <a:r>
              <a:rPr lang="en-US"/>
              <a:t> that are authenticated by a security server. </a:t>
            </a:r>
            <a:endParaRPr/>
          </a:p>
          <a:p>
            <a:pPr indent="-139700" lvl="0" marL="342900" rtl="0" algn="l">
              <a:spcBef>
                <a:spcPts val="640"/>
              </a:spcBef>
              <a:spcAft>
                <a:spcPts val="0"/>
              </a:spcAft>
              <a:buSzPts val="32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txBox="1"/>
          <p:nvPr>
            <p:ph type="title"/>
          </p:nvPr>
        </p:nvSpPr>
        <p:spPr>
          <a:xfrm>
            <a:off x="134155" y="152400"/>
            <a:ext cx="8145462" cy="1066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Information Security Mechanisms</a:t>
            </a:r>
            <a:endParaRPr sz="3600"/>
          </a:p>
        </p:txBody>
      </p:sp>
      <p:sp>
        <p:nvSpPr>
          <p:cNvPr id="124" name="Google Shape;124;p5"/>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US"/>
              <a:t>Authorization</a:t>
            </a:r>
            <a:endParaRPr/>
          </a:p>
          <a:p>
            <a:pPr indent="-285750" lvl="1" marL="742950" rtl="0" algn="l">
              <a:spcBef>
                <a:spcPts val="560"/>
              </a:spcBef>
              <a:spcAft>
                <a:spcPts val="0"/>
              </a:spcAft>
              <a:buSzPts val="2800"/>
              <a:buChar char="–"/>
            </a:pPr>
            <a:r>
              <a:rPr lang="en-US"/>
              <a:t>Whereas authentication controls who can access network resources, authorization says </a:t>
            </a:r>
            <a:r>
              <a:rPr lang="en-US" u="sng"/>
              <a:t>what they can do</a:t>
            </a:r>
            <a:r>
              <a:rPr lang="en-US"/>
              <a:t> after they have accessed the resources.</a:t>
            </a:r>
            <a:endParaRPr/>
          </a:p>
          <a:p>
            <a:pPr indent="-285750" lvl="1" marL="742950" rtl="0" algn="l">
              <a:spcBef>
                <a:spcPts val="1160"/>
              </a:spcBef>
              <a:spcAft>
                <a:spcPts val="0"/>
              </a:spcAft>
              <a:buSzPts val="2800"/>
              <a:buChar char="–"/>
            </a:pPr>
            <a:r>
              <a:rPr lang="en-US" u="sng"/>
              <a:t>Authorization grants privileges to processes and users.</a:t>
            </a:r>
            <a:r>
              <a:rPr lang="en-US"/>
              <a:t> Authorization lets a security administrator control parts of a network (for example, directories and files on servers).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title"/>
          </p:nvPr>
        </p:nvSpPr>
        <p:spPr>
          <a:xfrm>
            <a:off x="134155" y="152400"/>
            <a:ext cx="8145462" cy="1066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Information Security Mechanisms</a:t>
            </a:r>
            <a:endParaRPr sz="3600"/>
          </a:p>
        </p:txBody>
      </p:sp>
      <p:sp>
        <p:nvSpPr>
          <p:cNvPr id="131" name="Google Shape;131;p6"/>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US"/>
              <a:t>Accounting (Auditing)</a:t>
            </a:r>
            <a:endParaRPr/>
          </a:p>
          <a:p>
            <a:pPr indent="-285750" lvl="1" marL="742950" rtl="0" algn="l">
              <a:spcBef>
                <a:spcPts val="560"/>
              </a:spcBef>
              <a:spcAft>
                <a:spcPts val="0"/>
              </a:spcAft>
              <a:buSzPts val="2800"/>
              <a:buChar char="–"/>
            </a:pPr>
            <a:r>
              <a:rPr lang="en-US"/>
              <a:t>To effectively </a:t>
            </a:r>
            <a:r>
              <a:rPr lang="en-US" u="sng"/>
              <a:t>analyze</a:t>
            </a:r>
            <a:r>
              <a:rPr lang="en-US"/>
              <a:t> the security of a network and to </a:t>
            </a:r>
            <a:r>
              <a:rPr lang="en-US" u="sng"/>
              <a:t>respond</a:t>
            </a:r>
            <a:r>
              <a:rPr lang="en-US"/>
              <a:t> to security incidents, procedures should be established for collecting network </a:t>
            </a:r>
            <a:r>
              <a:rPr lang="en-US" u="sng"/>
              <a:t>activity data</a:t>
            </a:r>
            <a:r>
              <a:rPr lang="en-US"/>
              <a:t>. Collecting data is called accounting or auditing.</a:t>
            </a:r>
            <a:endParaRPr/>
          </a:p>
          <a:p>
            <a:pPr indent="-285750" lvl="1" marL="742950" rtl="0" algn="l">
              <a:spcBef>
                <a:spcPts val="1160"/>
              </a:spcBef>
              <a:spcAft>
                <a:spcPts val="0"/>
              </a:spcAft>
              <a:buSzPts val="2800"/>
              <a:buChar char="–"/>
            </a:pPr>
            <a:r>
              <a:rPr lang="en-US"/>
              <a:t>The collected data should include user- and hostnames for </a:t>
            </a:r>
            <a:r>
              <a:rPr lang="en-US" u="sng"/>
              <a:t>login</a:t>
            </a:r>
            <a:r>
              <a:rPr lang="en-US"/>
              <a:t> and </a:t>
            </a:r>
            <a:r>
              <a:rPr lang="en-US" u="sng"/>
              <a:t>logout</a:t>
            </a:r>
            <a:r>
              <a:rPr lang="en-US"/>
              <a:t> attempts, and previous and new </a:t>
            </a:r>
            <a:r>
              <a:rPr lang="en-US" u="sng"/>
              <a:t>access rights</a:t>
            </a:r>
            <a:r>
              <a:rPr lang="en-US"/>
              <a:t> for a change of access rights. Each entry in the audit log should be </a:t>
            </a:r>
            <a:r>
              <a:rPr lang="en-US" u="sng"/>
              <a:t>time-stamped</a:t>
            </a:r>
            <a:r>
              <a:rPr lang="en-US"/>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7"/>
          <p:cNvSpPr txBox="1"/>
          <p:nvPr>
            <p:ph type="title"/>
          </p:nvPr>
        </p:nvSpPr>
        <p:spPr>
          <a:xfrm>
            <a:off x="134155" y="152400"/>
            <a:ext cx="8145462" cy="1066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Information Security Mechanisms</a:t>
            </a:r>
            <a:endParaRPr sz="3600"/>
          </a:p>
        </p:txBody>
      </p:sp>
      <p:sp>
        <p:nvSpPr>
          <p:cNvPr id="138" name="Google Shape;138;p7"/>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3200"/>
              <a:buChar char="•"/>
            </a:pPr>
            <a:r>
              <a:rPr lang="en-US"/>
              <a:t>Data Encryption</a:t>
            </a:r>
            <a:endParaRPr/>
          </a:p>
          <a:p>
            <a:pPr indent="-285750" lvl="1" marL="742950" rtl="0" algn="l">
              <a:spcBef>
                <a:spcPts val="560"/>
              </a:spcBef>
              <a:spcAft>
                <a:spcPts val="0"/>
              </a:spcAft>
              <a:buSzPts val="2800"/>
              <a:buChar char="–"/>
            </a:pPr>
            <a:r>
              <a:rPr lang="en-US"/>
              <a:t>Conversion of data from a readable format to encoded format that can only be read after decryption</a:t>
            </a:r>
            <a:endParaRPr/>
          </a:p>
          <a:p>
            <a:pPr indent="-285750" lvl="1" marL="742950" rtl="0" algn="l">
              <a:spcBef>
                <a:spcPts val="1160"/>
              </a:spcBef>
              <a:spcAft>
                <a:spcPts val="0"/>
              </a:spcAft>
              <a:buSzPts val="2800"/>
              <a:buChar char="–"/>
            </a:pPr>
            <a:r>
              <a:rPr lang="en-US"/>
              <a:t>An encryption device encrypts data before placing it on a network. A decryption device decrypts the data before passing it to an application</a:t>
            </a:r>
            <a:endParaRPr/>
          </a:p>
          <a:p>
            <a:pPr indent="-285750" lvl="1" marL="742950" rtl="0" algn="l">
              <a:spcBef>
                <a:spcPts val="1160"/>
              </a:spcBef>
              <a:spcAft>
                <a:spcPts val="0"/>
              </a:spcAft>
              <a:buSzPts val="2800"/>
              <a:buChar char="–"/>
            </a:pPr>
            <a:r>
              <a:rPr lang="en-US"/>
              <a:t>A </a:t>
            </a:r>
            <a:r>
              <a:rPr lang="en-US" u="sng"/>
              <a:t>router</a:t>
            </a:r>
            <a:r>
              <a:rPr lang="en-US"/>
              <a:t>, </a:t>
            </a:r>
            <a:r>
              <a:rPr lang="en-US" u="sng"/>
              <a:t>server</a:t>
            </a:r>
            <a:r>
              <a:rPr lang="en-US"/>
              <a:t>, </a:t>
            </a:r>
            <a:r>
              <a:rPr lang="en-US" u="sng"/>
              <a:t>end system</a:t>
            </a:r>
            <a:r>
              <a:rPr lang="en-US"/>
              <a:t>, or dedicated device can act as an encryption or decryption device</a:t>
            </a:r>
            <a:endParaRPr/>
          </a:p>
          <a:p>
            <a:pPr indent="-285750" lvl="1" marL="742950" rtl="0" algn="l">
              <a:spcBef>
                <a:spcPts val="1160"/>
              </a:spcBef>
              <a:spcAft>
                <a:spcPts val="0"/>
              </a:spcAft>
              <a:buSzPts val="2800"/>
              <a:buChar char="–"/>
            </a:pPr>
            <a:r>
              <a:rPr lang="en-US"/>
              <a:t>Data that is encrypted is called </a:t>
            </a:r>
            <a:r>
              <a:rPr lang="en-US" u="sng"/>
              <a:t>ciphered data</a:t>
            </a:r>
            <a:r>
              <a:rPr lang="en-US"/>
              <a:t> (or simply encrypted data). Data that is not encrypted is called plain text or clear text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8"/>
          <p:cNvSpPr txBox="1"/>
          <p:nvPr>
            <p:ph type="title"/>
          </p:nvPr>
        </p:nvSpPr>
        <p:spPr>
          <a:xfrm>
            <a:off x="134155" y="152400"/>
            <a:ext cx="8145462" cy="1066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Information Security Mechanisms</a:t>
            </a:r>
            <a:endParaRPr sz="3600"/>
          </a:p>
        </p:txBody>
      </p:sp>
      <p:sp>
        <p:nvSpPr>
          <p:cNvPr id="145" name="Google Shape;145;p8"/>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US"/>
              <a:t>Packet Filters</a:t>
            </a:r>
            <a:endParaRPr/>
          </a:p>
          <a:p>
            <a:pPr indent="-285750" lvl="1" marL="742950" rtl="0" algn="l">
              <a:spcBef>
                <a:spcPts val="560"/>
              </a:spcBef>
              <a:spcAft>
                <a:spcPts val="0"/>
              </a:spcAft>
              <a:buSzPts val="2800"/>
              <a:buChar char="–"/>
            </a:pPr>
            <a:r>
              <a:rPr lang="en-US"/>
              <a:t>Packet filters can be set up on </a:t>
            </a:r>
            <a:r>
              <a:rPr lang="en-US" u="sng"/>
              <a:t>routers</a:t>
            </a:r>
            <a:r>
              <a:rPr lang="en-US"/>
              <a:t>, </a:t>
            </a:r>
            <a:r>
              <a:rPr lang="en-US" u="sng"/>
              <a:t>firewalls</a:t>
            </a:r>
            <a:r>
              <a:rPr lang="en-US"/>
              <a:t>, and </a:t>
            </a:r>
            <a:r>
              <a:rPr lang="en-US" u="sng"/>
              <a:t>servers</a:t>
            </a:r>
            <a:r>
              <a:rPr lang="en-US"/>
              <a:t> to </a:t>
            </a:r>
            <a:r>
              <a:rPr lang="en-US" u="sng"/>
              <a:t>accept</a:t>
            </a:r>
            <a:r>
              <a:rPr lang="en-US"/>
              <a:t> or </a:t>
            </a:r>
            <a:r>
              <a:rPr lang="en-US" u="sng"/>
              <a:t>deny</a:t>
            </a:r>
            <a:r>
              <a:rPr lang="en-US"/>
              <a:t> packets from particular </a:t>
            </a:r>
            <a:r>
              <a:rPr lang="en-US" u="sng"/>
              <a:t>addresses</a:t>
            </a:r>
            <a:r>
              <a:rPr lang="en-US"/>
              <a:t> or services</a:t>
            </a:r>
            <a:endParaRPr/>
          </a:p>
          <a:p>
            <a:pPr indent="-285750" lvl="1" marL="742950" rtl="0" algn="l">
              <a:spcBef>
                <a:spcPts val="1160"/>
              </a:spcBef>
              <a:spcAft>
                <a:spcPts val="0"/>
              </a:spcAft>
              <a:buSzPts val="2800"/>
              <a:buChar char="–"/>
            </a:pPr>
            <a:r>
              <a:rPr lang="en-US"/>
              <a:t>Packet filters improve </a:t>
            </a:r>
            <a:r>
              <a:rPr lang="en-US" u="sng"/>
              <a:t>authentication</a:t>
            </a:r>
            <a:r>
              <a:rPr lang="en-US"/>
              <a:t> and </a:t>
            </a:r>
            <a:r>
              <a:rPr lang="en-US" u="sng"/>
              <a:t>authorization</a:t>
            </a:r>
            <a:r>
              <a:rPr lang="en-US"/>
              <a:t> mechanisms. They help protect network resources from unauthorized use, theft and destruction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9"/>
          <p:cNvSpPr txBox="1"/>
          <p:nvPr>
            <p:ph type="title"/>
          </p:nvPr>
        </p:nvSpPr>
        <p:spPr>
          <a:xfrm>
            <a:off x="134155" y="152400"/>
            <a:ext cx="8145462" cy="1066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Information Security Mechanisms</a:t>
            </a:r>
            <a:endParaRPr sz="3600"/>
          </a:p>
        </p:txBody>
      </p:sp>
      <p:sp>
        <p:nvSpPr>
          <p:cNvPr id="152" name="Google Shape;152;p9"/>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US"/>
              <a:t>Firewalls</a:t>
            </a:r>
            <a:endParaRPr/>
          </a:p>
          <a:p>
            <a:pPr indent="-285750" lvl="1" marL="742950" rtl="0" algn="l">
              <a:spcBef>
                <a:spcPts val="560"/>
              </a:spcBef>
              <a:spcAft>
                <a:spcPts val="0"/>
              </a:spcAft>
              <a:buSzPts val="2800"/>
              <a:buChar char="–"/>
            </a:pPr>
            <a:r>
              <a:rPr lang="en-US"/>
              <a:t>A firewall is a device that </a:t>
            </a:r>
            <a:r>
              <a:rPr lang="en-US" u="sng"/>
              <a:t>enforces security policies</a:t>
            </a:r>
            <a:r>
              <a:rPr lang="en-US"/>
              <a:t> at the boundary between two or more networks. </a:t>
            </a:r>
            <a:endParaRPr/>
          </a:p>
          <a:p>
            <a:pPr indent="-285750" lvl="1" marL="742950" rtl="0" algn="l">
              <a:spcBef>
                <a:spcPts val="1160"/>
              </a:spcBef>
              <a:spcAft>
                <a:spcPts val="0"/>
              </a:spcAft>
              <a:buSzPts val="2800"/>
              <a:buChar char="–"/>
            </a:pPr>
            <a:r>
              <a:rPr lang="en-US"/>
              <a:t>A firewall can be a </a:t>
            </a:r>
            <a:r>
              <a:rPr lang="en-US" u="sng"/>
              <a:t>router with ACLs</a:t>
            </a:r>
            <a:r>
              <a:rPr lang="en-US"/>
              <a:t>, a dedicated </a:t>
            </a:r>
            <a:r>
              <a:rPr lang="en-US" u="sng"/>
              <a:t>hardware</a:t>
            </a:r>
            <a:r>
              <a:rPr lang="en-US"/>
              <a:t> appliance, or </a:t>
            </a:r>
            <a:r>
              <a:rPr lang="en-US" u="sng"/>
              <a:t>software</a:t>
            </a:r>
            <a:r>
              <a:rPr lang="en-US"/>
              <a:t> running on a </a:t>
            </a:r>
            <a:r>
              <a:rPr lang="en-US" u="sng"/>
              <a:t>PC</a:t>
            </a:r>
            <a:r>
              <a:rPr lang="en-US"/>
              <a:t> or UNIX system. </a:t>
            </a:r>
            <a:endParaRPr/>
          </a:p>
          <a:p>
            <a:pPr indent="-285750" lvl="1" marL="742950" rtl="0" algn="l">
              <a:spcBef>
                <a:spcPts val="1160"/>
              </a:spcBef>
              <a:spcAft>
                <a:spcPts val="0"/>
              </a:spcAft>
              <a:buSzPts val="2800"/>
              <a:buChar char="–"/>
            </a:pPr>
            <a:r>
              <a:rPr lang="en-US"/>
              <a:t>Firewalls are especially important at the </a:t>
            </a:r>
            <a:r>
              <a:rPr lang="en-US" u="sng"/>
              <a:t>boundary </a:t>
            </a:r>
            <a:r>
              <a:rPr lang="en-US"/>
              <a:t>between the enterprise network and the Internet.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0"/>
          <p:cNvSpPr txBox="1"/>
          <p:nvPr>
            <p:ph type="title"/>
          </p:nvPr>
        </p:nvSpPr>
        <p:spPr>
          <a:xfrm>
            <a:off x="134155" y="152400"/>
            <a:ext cx="8145462" cy="1066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Information Security Mechanisms</a:t>
            </a:r>
            <a:endParaRPr sz="3600"/>
          </a:p>
        </p:txBody>
      </p:sp>
      <p:sp>
        <p:nvSpPr>
          <p:cNvPr id="159" name="Google Shape;159;p10"/>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US"/>
              <a:t>Intrusion Detection and Prevention Systems</a:t>
            </a:r>
            <a:endParaRPr/>
          </a:p>
          <a:p>
            <a:pPr indent="-285750" lvl="1" marL="742950" rtl="0" algn="l">
              <a:spcBef>
                <a:spcPts val="560"/>
              </a:spcBef>
              <a:spcAft>
                <a:spcPts val="0"/>
              </a:spcAft>
              <a:buSzPts val="2800"/>
              <a:buChar char="–"/>
            </a:pPr>
            <a:r>
              <a:rPr lang="en-US"/>
              <a:t>An intrusion detection system (IDS) </a:t>
            </a:r>
            <a:r>
              <a:rPr lang="en-US" u="sng"/>
              <a:t>detects malicious events</a:t>
            </a:r>
            <a:r>
              <a:rPr lang="en-US"/>
              <a:t> and notifies an administrator using email, or logging of the </a:t>
            </a:r>
            <a:r>
              <a:rPr lang="en-US" u="sng"/>
              <a:t>occurrence</a:t>
            </a:r>
            <a:endParaRPr u="sng"/>
          </a:p>
          <a:p>
            <a:pPr indent="-285750" lvl="1" marL="742950" rtl="0" algn="l">
              <a:spcBef>
                <a:spcPts val="560"/>
              </a:spcBef>
              <a:spcAft>
                <a:spcPts val="0"/>
              </a:spcAft>
              <a:buSzPts val="2800"/>
              <a:buChar char="–"/>
            </a:pPr>
            <a:r>
              <a:rPr lang="en-US"/>
              <a:t>A intrusion prevention systems identifies malicious activity, collect information about this activity, report it and attempt to </a:t>
            </a:r>
            <a:r>
              <a:rPr lang="en-US" u="sng"/>
              <a:t>block or stop it</a:t>
            </a:r>
            <a:r>
              <a:rPr lang="en-US"/>
              <a:t> </a:t>
            </a:r>
            <a:endParaRPr/>
          </a:p>
          <a:p>
            <a:pPr indent="-285750" lvl="1" marL="742950" rtl="0" algn="l">
              <a:spcBef>
                <a:spcPts val="560"/>
              </a:spcBef>
              <a:spcAft>
                <a:spcPts val="0"/>
              </a:spcAft>
              <a:buSzPts val="2800"/>
              <a:buChar char="–"/>
            </a:pPr>
            <a:r>
              <a:rPr lang="en-US"/>
              <a:t>An IPS is an IDS that can detect and prevent attacks.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2017-01-30T04:28:05Z</dcterms:created>
</cp:coreProperties>
</file>