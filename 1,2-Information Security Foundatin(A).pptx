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2r/XRNECxdB1Uyw3Z+pFJ5Ntg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Black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pguard.com/blog/cyber-attack" TargetMode="External"/><Relationship Id="rId3" Type="http://schemas.openxmlformats.org/officeDocument/2006/relationships/hyperlink" Target="https://www.upguard.com/blog/sensitive-data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Disclosure:</a:t>
            </a:r>
            <a:r>
              <a:rPr b="0" lang="en-US" sz="1200"/>
              <a:t> Expose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sz="1200"/>
              <a:t>Disruption</a:t>
            </a:r>
            <a:r>
              <a:rPr b="0" lang="en-US" sz="1200"/>
              <a:t>: D</a:t>
            </a:r>
            <a:r>
              <a:rPr lang="en-US"/>
              <a:t>isturbance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Afforded: Provided, Presented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</a:t>
            </a:r>
            <a:r>
              <a:rPr b="1" lang="en-US"/>
              <a:t>adversary</a:t>
            </a:r>
            <a:r>
              <a:rPr lang="en-US"/>
              <a:t> is a subject who tries to gain unauthorized access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Elimination</a:t>
            </a:r>
            <a:r>
              <a:rPr lang="en-US" sz="1200"/>
              <a:t>: Removal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Masquerade attack</a:t>
            </a:r>
            <a:r>
              <a:rPr lang="en-US"/>
              <a:t> to disguise as someone else and gain unauthorized access to victims' systems or organizations' network.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1" lang="en-US"/>
              <a:t>Repudiation: </a:t>
            </a:r>
            <a:r>
              <a:rPr lang="en-US"/>
              <a:t>denial of the truth or validity of something</a:t>
            </a:r>
            <a:endParaRPr i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1" lang="en-US"/>
              <a:t>Non</a:t>
            </a:r>
            <a:r>
              <a:rPr b="1" lang="en-US"/>
              <a:t>-</a:t>
            </a:r>
            <a:r>
              <a:rPr b="1" i="1" lang="en-US"/>
              <a:t>repudiation</a:t>
            </a:r>
            <a:r>
              <a:rPr lang="en-US"/>
              <a:t> is the assurance that someone cannot deny the validity of something. ... In this context, </a:t>
            </a:r>
            <a:r>
              <a:rPr i="1" lang="en-US"/>
              <a:t>non</a:t>
            </a:r>
            <a:r>
              <a:rPr lang="en-US"/>
              <a:t>-</a:t>
            </a:r>
            <a:r>
              <a:rPr i="1" lang="en-US"/>
              <a:t>repudiation</a:t>
            </a:r>
            <a:r>
              <a:rPr lang="en-US"/>
              <a:t> refers to the ability to ensure that a party to a contract or a communication must accept the authenticity of their signature on a document or the sending of a message.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Threat: </a:t>
            </a:r>
            <a:r>
              <a:rPr lang="en-US" sz="1200"/>
              <a:t>Any potential danger to information life cycle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2"/>
                </a:solidFill>
              </a:rPr>
              <a:t>Flaw</a:t>
            </a:r>
            <a:r>
              <a:rPr lang="en-US" sz="1200">
                <a:solidFill>
                  <a:schemeClr val="dk2"/>
                </a:solidFill>
              </a:rPr>
              <a:t> :Bug, defect, fault, breach, hole, gap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Cyber threats </a:t>
            </a:r>
            <a:r>
              <a:rPr lang="en-US"/>
              <a:t>also refer to the possibility of a successful </a:t>
            </a:r>
            <a:r>
              <a:rPr lang="en-US" u="sng">
                <a:solidFill>
                  <a:schemeClr val="hlink"/>
                </a:solidFill>
                <a:hlinkClick r:id="rId2"/>
              </a:rPr>
              <a:t>cyber attack</a:t>
            </a:r>
            <a:r>
              <a:rPr lang="en-US"/>
              <a:t> that aims to gain unauthorized access, damage, disrupt, or steal an information technology asset, computer network, intellectual property or any other form of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sensitive data</a:t>
            </a:r>
            <a:r>
              <a:rPr lang="en-US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2"/>
                </a:solidFill>
              </a:rPr>
              <a:t>Employing: </a:t>
            </a:r>
            <a:r>
              <a:rPr lang="en-US" sz="1200">
                <a:solidFill>
                  <a:schemeClr val="dk2"/>
                </a:solidFill>
              </a:rPr>
              <a:t>Operating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Payoff: </a:t>
            </a:r>
            <a:r>
              <a:rPr lang="en-US"/>
              <a:t>payment given to stop someone causing you trouble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</a:t>
            </a:r>
            <a:r>
              <a:rPr b="1" lang="en-US"/>
              <a:t>auditor</a:t>
            </a:r>
            <a:r>
              <a:rPr lang="en-US"/>
              <a:t> reviewing a company's financial statement is responsible and legally liable for any misstatements or instances of fraud. ... As an example, an accountant is </a:t>
            </a:r>
            <a:r>
              <a:rPr b="1" lang="en-US"/>
              <a:t>accountable</a:t>
            </a:r>
            <a:r>
              <a:rPr lang="en-US"/>
              <a:t> for the integrity and accuracy of the financial statements, even if errors were not made by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FIPS</a:t>
            </a:r>
            <a:r>
              <a:rPr lang="en-US"/>
              <a:t>(Federal Information Processing Standards)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Acquisition: </a:t>
            </a:r>
            <a:r>
              <a:rPr lang="en-US"/>
              <a:t>purchase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Overlapping: </a:t>
            </a:r>
            <a:r>
              <a:rPr lang="en-US"/>
              <a:t>Extend over and cover a part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5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17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0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4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Information Security Foundation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Information Security Foundation 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What is Information Security?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Information Security Services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Information Security Terminology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Information Security Challenges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Security Functional Requirements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Layers in a Defense-in-Depth Strategy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Fundamental Security Design Principles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Information Security Mechanisms</a:t>
            </a:r>
            <a:endParaRPr sz="2000"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What is Information Security?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Information security is concerned with protecting information from unauthorized access.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2785269"/>
            <a:ext cx="4072731" cy="407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What is Information Security?</a:t>
            </a:r>
            <a:endParaRPr sz="3600"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According to National Institute of Standards and Technology (NIST) and the National Information Assurance (NIA) Glossary,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“Information security is the </a:t>
            </a:r>
            <a:r>
              <a:rPr lang="en-US" sz="2800">
                <a:solidFill>
                  <a:schemeClr val="dk2"/>
                </a:solidFill>
              </a:rPr>
              <a:t>protection of information and information system</a:t>
            </a:r>
            <a:r>
              <a:rPr lang="en-US" sz="2800"/>
              <a:t>s from </a:t>
            </a:r>
            <a:r>
              <a:rPr lang="en-US" sz="2800">
                <a:solidFill>
                  <a:schemeClr val="dk2"/>
                </a:solidFill>
              </a:rPr>
              <a:t>unauthorized access</a:t>
            </a:r>
            <a:r>
              <a:rPr lang="en-US" sz="2800"/>
              <a:t>, use, disclosure, disruption, modification, or destruction in order to provide </a:t>
            </a:r>
            <a:r>
              <a:rPr lang="en-US" sz="2800">
                <a:solidFill>
                  <a:srgbClr val="17365D"/>
                </a:solidFill>
              </a:rPr>
              <a:t>confidentiality</a:t>
            </a:r>
            <a:r>
              <a:rPr lang="en-US" sz="2800"/>
              <a:t>, </a:t>
            </a:r>
            <a:r>
              <a:rPr lang="en-US" sz="2800">
                <a:solidFill>
                  <a:srgbClr val="17365D"/>
                </a:solidFill>
              </a:rPr>
              <a:t>integrity</a:t>
            </a:r>
            <a:r>
              <a:rPr lang="en-US" sz="2800"/>
              <a:t>, and </a:t>
            </a:r>
            <a:r>
              <a:rPr lang="en-US" sz="2800">
                <a:solidFill>
                  <a:srgbClr val="17365D"/>
                </a:solidFill>
              </a:rPr>
              <a:t>availability</a:t>
            </a:r>
            <a:r>
              <a:rPr lang="en-US" sz="2800"/>
              <a:t>."</a:t>
            </a:r>
            <a:endParaRPr sz="2800"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What is Information Security?</a:t>
            </a:r>
            <a:endParaRPr sz="3600"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Security = Sustain desirable properties under intelligent </a:t>
            </a:r>
            <a:r>
              <a:rPr lang="en-US" sz="2800">
                <a:solidFill>
                  <a:srgbClr val="17365D"/>
                </a:solidFill>
              </a:rPr>
              <a:t>adversaries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An </a:t>
            </a:r>
            <a:r>
              <a:rPr b="1" lang="en-US" sz="2400"/>
              <a:t>adversary</a:t>
            </a:r>
            <a:r>
              <a:rPr lang="en-US" sz="2400"/>
              <a:t> is a subject who tries to gain unauthorized access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Desirable properties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Understand what properties are needed.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Intelligent adversaries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Needs to understand/model adversaries</a:t>
            </a:r>
            <a:endParaRPr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Information Security Services</a:t>
            </a:r>
            <a:endParaRPr sz="3600"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Confidentiality: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Information </a:t>
            </a:r>
            <a:r>
              <a:rPr lang="en-US" sz="2600">
                <a:solidFill>
                  <a:srgbClr val="17365D"/>
                </a:solidFill>
              </a:rPr>
              <a:t>only accessible to authorized entities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Threat: Non-authorized access to data or traffic analysis</a:t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Integrity: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>
                <a:solidFill>
                  <a:srgbClr val="17365D"/>
                </a:solidFill>
              </a:rPr>
              <a:t>Only authorized entities can modify</a:t>
            </a:r>
            <a:r>
              <a:rPr lang="en-US" sz="2600"/>
              <a:t> the information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Threat: Modification of data or introduction of false data</a:t>
            </a:r>
            <a:endParaRPr sz="2600"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Availability: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Guarantees the availability of the information for </a:t>
            </a:r>
            <a:r>
              <a:rPr lang="en-US" sz="2600">
                <a:solidFill>
                  <a:srgbClr val="17365D"/>
                </a:solidFill>
              </a:rPr>
              <a:t>authorized</a:t>
            </a:r>
            <a:r>
              <a:rPr lang="en-US" sz="2600"/>
              <a:t> </a:t>
            </a:r>
            <a:r>
              <a:rPr lang="en-US" sz="2600">
                <a:solidFill>
                  <a:srgbClr val="17365D"/>
                </a:solidFill>
              </a:rPr>
              <a:t>entities</a:t>
            </a:r>
            <a:r>
              <a:rPr lang="en-US" sz="2600"/>
              <a:t> </a:t>
            </a:r>
            <a:r>
              <a:rPr lang="en-US" sz="2600">
                <a:solidFill>
                  <a:srgbClr val="17365D"/>
                </a:solidFill>
              </a:rPr>
              <a:t>whenever required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Threat: Elimination of data or resources</a:t>
            </a:r>
            <a:endParaRPr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Information Security Services</a:t>
            </a:r>
            <a:endParaRPr sz="3600"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152400" y="15240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Authentication: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Authentication is the process of </a:t>
            </a:r>
            <a:r>
              <a:rPr lang="en-US" sz="2000">
                <a:solidFill>
                  <a:srgbClr val="17365D"/>
                </a:solidFill>
              </a:rPr>
              <a:t>validating the identity of a registered user </a:t>
            </a:r>
            <a:r>
              <a:rPr lang="en-US" sz="2000"/>
              <a:t>before allowing access to the protected resource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Threat: Third-party masquerading as sender / receiver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Non-repudiation: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Guarantees that sender and receiver of a message </a:t>
            </a:r>
            <a:r>
              <a:rPr lang="en-US" sz="2000">
                <a:solidFill>
                  <a:schemeClr val="dk2"/>
                </a:solidFill>
              </a:rPr>
              <a:t>can’t deny its transmission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Threat: Deny having transmitted or received certain data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Access Control: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Guarantees controlled access to information and systems to authorized entities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Threat: Access of confidential data to non authorized entities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Key Security Concepts</a:t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b="21476" l="4633" r="4632" t="10739"/>
          <a:stretch/>
        </p:blipFill>
        <p:spPr>
          <a:xfrm>
            <a:off x="1563698" y="1747837"/>
            <a:ext cx="5286375" cy="511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Information Security Terminology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An </a:t>
            </a:r>
            <a:r>
              <a:rPr b="1" lang="en-US" sz="2800"/>
              <a:t>adversary</a:t>
            </a:r>
            <a:r>
              <a:rPr lang="en-US" sz="2800"/>
              <a:t> is a subject who tries to gain </a:t>
            </a:r>
            <a:r>
              <a:rPr lang="en-US" sz="2800">
                <a:solidFill>
                  <a:schemeClr val="dk2"/>
                </a:solidFill>
              </a:rPr>
              <a:t>unauthorized access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 </a:t>
            </a:r>
            <a:r>
              <a:rPr b="1" lang="en-US" sz="2800"/>
              <a:t>threat</a:t>
            </a:r>
            <a:r>
              <a:rPr lang="en-US" sz="2800"/>
              <a:t> is any </a:t>
            </a:r>
            <a:r>
              <a:rPr lang="en-US" sz="2800">
                <a:solidFill>
                  <a:schemeClr val="dk2"/>
                </a:solidFill>
              </a:rPr>
              <a:t>potential danger </a:t>
            </a:r>
            <a:r>
              <a:rPr lang="en-US" sz="2800"/>
              <a:t>to information life cycle</a:t>
            </a:r>
            <a:endParaRPr sz="2800">
              <a:solidFill>
                <a:schemeClr val="dk2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 </a:t>
            </a:r>
            <a:r>
              <a:rPr b="1" lang="en-US" sz="2800"/>
              <a:t>risk</a:t>
            </a:r>
            <a:r>
              <a:rPr lang="en-US" sz="2800"/>
              <a:t> is a </a:t>
            </a:r>
            <a:r>
              <a:rPr lang="en-US" sz="2800">
                <a:solidFill>
                  <a:schemeClr val="dk2"/>
                </a:solidFill>
              </a:rPr>
              <a:t>loss</a:t>
            </a:r>
            <a:r>
              <a:rPr lang="en-US" sz="2800"/>
              <a:t> due to an adversary gaining unauthorized access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 </a:t>
            </a:r>
            <a:r>
              <a:rPr b="1" lang="en-US" sz="2800"/>
              <a:t>vulnerability</a:t>
            </a:r>
            <a:r>
              <a:rPr lang="en-US" sz="2800"/>
              <a:t> is a </a:t>
            </a:r>
            <a:r>
              <a:rPr lang="en-US" sz="2800">
                <a:solidFill>
                  <a:schemeClr val="dk2"/>
                </a:solidFill>
              </a:rPr>
              <a:t>flaw (bug)</a:t>
            </a:r>
            <a:r>
              <a:rPr lang="en-US" sz="2800"/>
              <a:t>, which enables a threat to allow the adversary for unauthorized access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Information Security Challenges</a:t>
            </a:r>
            <a:endParaRPr sz="3600"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Defense is almost </a:t>
            </a:r>
            <a:r>
              <a:rPr lang="en-US" sz="2800">
                <a:solidFill>
                  <a:schemeClr val="dk2"/>
                </a:solidFill>
              </a:rPr>
              <a:t>always harder than attack.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Information security is </a:t>
            </a:r>
            <a:r>
              <a:rPr lang="en-US" sz="2800">
                <a:solidFill>
                  <a:schemeClr val="dk2"/>
                </a:solidFill>
              </a:rPr>
              <a:t>more difficult than physical security?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Adversaries can come from </a:t>
            </a:r>
            <a:r>
              <a:rPr lang="en-US" sz="2400">
                <a:solidFill>
                  <a:schemeClr val="dk2"/>
                </a:solidFill>
              </a:rPr>
              <a:t>anywhere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Computers enable large-scale </a:t>
            </a:r>
            <a:r>
              <a:rPr lang="en-US" sz="2400">
                <a:solidFill>
                  <a:schemeClr val="dk2"/>
                </a:solidFill>
              </a:rPr>
              <a:t>automation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Adversaries can be </a:t>
            </a:r>
            <a:r>
              <a:rPr lang="en-US" sz="2400">
                <a:solidFill>
                  <a:schemeClr val="dk2"/>
                </a:solidFill>
              </a:rPr>
              <a:t>difficult to identify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Adversaries can be </a:t>
            </a:r>
            <a:r>
              <a:rPr lang="en-US" sz="2400">
                <a:solidFill>
                  <a:schemeClr val="dk2"/>
                </a:solidFill>
              </a:rPr>
              <a:t>difficult to punish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Possible payoff can be much higher</a:t>
            </a:r>
            <a:endParaRPr/>
          </a:p>
          <a:p>
            <a:pPr indent="0" lvl="1" marL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34154" y="152400"/>
            <a:ext cx="885744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FIPS-200 Security Functional Requirements </a:t>
            </a:r>
            <a:br>
              <a:rPr lang="en-US" sz="3600"/>
            </a:br>
            <a:r>
              <a:rPr lang="en-US" sz="3600"/>
              <a:t>(Federal Information Processing Standards) </a:t>
            </a:r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Technical Measures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Access control; identification &amp; authentication; system &amp; communication protection; system &amp; information integrity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Management Controls and Procedures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Awareness &amp; training; audit &amp; accountability; certification, accreditation &amp; security assessments; incidental planning; maintenance; physical &amp; environmental protection; planning; personnel security; risk assessment; systems &amp; services acquisition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Extending Technical and Management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Configuration </a:t>
            </a:r>
            <a:r>
              <a:rPr lang="en-US"/>
              <a:t>management;</a:t>
            </a:r>
            <a:r>
              <a:rPr lang="en-US"/>
              <a:t> incident response; media protection, contingency planning</a:t>
            </a:r>
            <a:endParaRPr/>
          </a:p>
          <a:p>
            <a:pPr indent="0" lvl="1" marL="0" rtl="0" algn="l">
              <a:spcBef>
                <a:spcPts val="444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Layers in a Defense-in-Depth Strategy</a:t>
            </a:r>
            <a:endParaRPr/>
          </a:p>
        </p:txBody>
      </p:sp>
      <p:pic>
        <p:nvPicPr>
          <p:cNvPr id="174" name="Google Shape;174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600200"/>
            <a:ext cx="70104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Layers in a Defense-in-Depth Strategy</a:t>
            </a:r>
            <a:endParaRPr/>
          </a:p>
        </p:txBody>
      </p:sp>
      <p:pic>
        <p:nvPicPr>
          <p:cNvPr id="181" name="Google Shape;18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155" y="1824990"/>
            <a:ext cx="8400245" cy="4410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